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35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Finding the global minimum</a:t>
            </a:r>
          </a:p>
          <a:p>
            <a:r>
              <a:t>Target: 30 seconds</a:t>
            </a:r>
          </a:p>
          <a:p>
            <a:endParaRPr/>
          </a:p>
          <a:p>
            <a:r>
              <a:t>Good morning, sir. Our project finds the lowest point of the two-dimensional Ackley function using the Artificial Bee Colony algorithm. It is the same problem we solved earlier with a Genetic Algorithm, so at the end we can compare the two fairly. We will explain the problem, show how the three kinds of bee work, and present our results.</a:t>
            </a:r>
          </a:p>
          <a:p>
            <a:endParaRPr/>
          </a:p>
          <a:p>
            <a:r>
              <a:t>VISUAL / DELIVERY</a:t>
            </a:r>
          </a:p>
          <a:p>
            <a:r>
              <a:t>Title slide: honeycomb corners, flying bees and the beehive from the template.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Find the lowest point</a:t>
            </a:r>
          </a:p>
          <a:p>
            <a:r>
              <a:t>Target: 45 seconds</a:t>
            </a:r>
          </a:p>
          <a:p>
            <a:endParaRPr/>
          </a:p>
          <a:p>
            <a:r>
              <a:t>We need two numbers, x-one and x-two, that give the smallest function value. Each number must stay between minus five and plus five. The known answer is zero, zero, where the function value is zero. We use that point only afterwards, to measure how close we got. We never put it into the colony and we never point the search towards it. The bees only choose points and taste how much nectar is there.</a:t>
            </a:r>
          </a:p>
          <a:p>
            <a:endParaRPr/>
          </a:p>
          <a:p>
            <a:r>
              <a:t>VISUAL / DELIVERY</a:t>
            </a:r>
          </a:p>
          <a:p>
            <a:r>
              <a:t>Native coordinate diagram: the allowed square and the known optimum.</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The Ackley function in 2-D</a:t>
            </a:r>
          </a:p>
          <a:p>
            <a:r>
              <a:t>Target: 55 seconds</a:t>
            </a:r>
          </a:p>
          <a:p>
            <a:endParaRPr/>
          </a:p>
          <a:p>
            <a:r>
              <a:t>The top formula works for any number of variables. Our problem has two variables, so we set n equal to two. We use the standard constants: a is twenty, b is zero point two, and c is two pi. Each sum now has just two terms, which gives the lower formula used in our code. To check it, put zero into both variables. The first part becomes minus twenty and the second becomes minus e. The remaining terms cancel them, so the value is exactly zero.</a:t>
            </a:r>
          </a:p>
          <a:p>
            <a:endParaRPr/>
          </a:p>
          <a:p>
            <a:r>
              <a:t>VISUAL / DELIVERY</a:t>
            </a:r>
          </a:p>
          <a:p>
            <a:r>
              <a:t>Typeset equations with a three-step substitution guide.</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One deep minimum. Many small traps.</a:t>
            </a:r>
          </a:p>
          <a:p>
            <a:r>
              <a:t>Target: 55 seconds</a:t>
            </a:r>
          </a:p>
          <a:p>
            <a:endParaRPr/>
          </a:p>
          <a:p>
            <a:r>
              <a:t>These pictures show why Ackley is difficult. The whole surface slopes towards the centre, but it is also covered in small dips. We call those local minima. They are lower than everything nearby, but they are not the lowest point of the whole surface. A method that simply walks downhill can get stuck in one of them. Checking every point is far too expensive: a grid with one-millionth spacing across this square holds about ten to the fourteen points. So we need a search that can look in several places at once.</a:t>
            </a:r>
          </a:p>
          <a:p>
            <a:endParaRPr/>
          </a:p>
          <a:p>
            <a:r>
              <a:t>VISUAL / DELIVERY</a:t>
            </a:r>
          </a:p>
          <a:p>
            <a:r>
              <a:t>01_ackley_landscape.png and 02_ackley_slice.png.</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A colony instead of a population</a:t>
            </a:r>
          </a:p>
          <a:p>
            <a:r>
              <a:t>Target: 50 seconds</a:t>
            </a:r>
          </a:p>
          <a:p>
            <a:endParaRPr/>
          </a:p>
          <a:p>
            <a:r>
              <a:t>The Artificial Bee Colony copies how real honey bees collect food. It was published by Dervis Karaboga in two thousand five. A food source is one possible answer, stored as the pair x-one and x-two. The nectar amount of a source is its fitness: the better the answer, the more nectar. Three kinds of bee then do three different jobs, and the picture shows our twenty-five sources scattered at the very start.</a:t>
            </a:r>
          </a:p>
          <a:p>
            <a:endParaRPr/>
          </a:p>
          <a:p>
            <a:r>
              <a:t>VISUAL / DELIVERY</a:t>
            </a:r>
          </a:p>
          <a:p>
            <a:r>
              <a:t>03_initial_sources.png next to the biology-to-program table.</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Three bees, three jobs</a:t>
            </a:r>
          </a:p>
          <a:p>
            <a:r>
              <a:t>Target: 60 seconds</a:t>
            </a:r>
          </a:p>
          <a:p>
            <a:endParaRPr/>
          </a:p>
          <a:p>
            <a:r>
              <a:t>Here are the three jobs. An employed bee sits on one food source and keeps testing points right next to it, keeping whichever is better. That is careful local improvement, which we call exploitation. An onlooker bee does not own a source. It waits in the hive, watches the waggle dances, and chooses which source to visit, with the richer sources more likely to be chosen. That is guided search. A scout bee handles failure: if one source has refused to improve fifty times in a row, the colony gives up on it and starts again somewhere random. That is exploration.</a:t>
            </a:r>
          </a:p>
          <a:p>
            <a:endParaRPr/>
          </a:p>
          <a:p>
            <a:r>
              <a:t>VISUAL / DELIVERY</a:t>
            </a:r>
          </a:p>
          <a:p>
            <a:r>
              <a:t>Native three-panel bee-role diagram with hexagon badges. Reveal one panel per click.</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The settings we used</a:t>
            </a:r>
          </a:p>
          <a:p>
            <a:r>
              <a:t>Target: 50 seconds</a:t>
            </a:r>
          </a:p>
          <a:p>
            <a:endParaRPr/>
          </a:p>
          <a:p>
            <a:r>
              <a:t>The left panel holds the six control parameters listed on slide twenty. The colony has fifty bees, matching the fifty chromosomes of our Genetic Algorithm. Slide twenty says employed bees are half the swarm and onlookers the other half, so we get twenty-five food sources and twenty-five onlookers. The limit is fifty, which is the usual choice of sources times dimension. The right panel maps the Genetic Algorithm settings onto this one. Notice the empty rows: ABC has no crossover rate and no mutation rate at all. There is far less to tune.</a:t>
            </a:r>
          </a:p>
          <a:p>
            <a:endParaRPr/>
          </a:p>
          <a:p>
            <a:r>
              <a:t>VISUAL / DELIVERY</a:t>
            </a:r>
          </a:p>
          <a:p>
            <a:r>
              <a:t>Two settings panels: the six control parameters, and the GA-to-ABC mapping.</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The ABC cycle</a:t>
            </a:r>
          </a:p>
          <a:p>
            <a:r>
              <a:t>Target: 65 seconds</a:t>
            </a:r>
          </a:p>
          <a:p>
            <a:endParaRPr/>
          </a:p>
          <a:p>
            <a:r>
              <a:t>This is the whole algorithm, exactly as slide eighteen gives it. Step one, set the control parameters. Step two, create twenty-five random food sources and taste all of them. Step three repeats until we stop: send the employed bees, then the onlookers, then memorise the best solution, then send the scouts. Step four, stop and report. One detail matters a lot. We memorise the best solution before the scouts run. If we did it the other way around, a scout could delete the best answer we had found. Memorising first is this algorithm’s version of elitism.</a:t>
            </a:r>
          </a:p>
          <a:p>
            <a:endParaRPr/>
          </a:p>
          <a:p>
            <a:r>
              <a:t>VISUAL / DELIVERY</a:t>
            </a:r>
          </a:p>
          <a:p>
            <a:r>
              <a:t>Native PowerPoint flowchart. Reveal the three phase blocks on click.</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Every solution is two real numbers</a:t>
            </a:r>
          </a:p>
          <a:p>
            <a:r>
              <a:t>Target: 45 seconds</a:t>
            </a:r>
          </a:p>
          <a:p>
            <a:endParaRPr/>
          </a:p>
          <a:p>
            <a:r>
              <a:t>Our representation is the simplest possible. A food source stores the two coordinate values directly, which is the same value encoding the Genetic Algorithm used. Slide twenty-one gives the initialisation equation: take the lower bound, and add a random fraction of the full width. Here that means minus five plus a random number times ten. The nice part is that the scout phase uses exactly the same equation, so we only write it once. Throughout the run both coordinates stay inside the allowed range.</a:t>
            </a:r>
          </a:p>
          <a:p>
            <a:endParaRPr/>
          </a:p>
          <a:p>
            <a:r>
              <a:t>VISUAL / DELIVERY</a:t>
            </a:r>
          </a:p>
          <a:p>
            <a:r>
              <a:t>Editable two-coordinate food-source diagram plus the initialisation equation.</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How a bee searches nearby</a:t>
            </a:r>
          </a:p>
          <a:p>
            <a:r>
              <a:t>Target: 70 seconds</a:t>
            </a:r>
          </a:p>
          <a:p>
            <a:endParaRPr/>
          </a:p>
          <a:p>
            <a:r>
              <a:t>This single equation is the heart of the algorithm. To search near its own source, a bee picks another bee at random, picks one of the two coordinates, and moves that coordinate by a random fraction of the gap between the two bees. Phi is a random number between minus one and plus one, so the bee may step towards the other source or away from it. The left picture shows exactly where the new point can land. Now look at the right picture, because this is the clever part. The step size is the gap between two bees. As the colony gathers near the answer, that gap shrinks, so the steps shrink too. Nobody has to design a shrinking schedule. In our Genetic Algorithm we had to invent one by hand.</a:t>
            </a:r>
          </a:p>
          <a:p>
            <a:endParaRPr/>
          </a:p>
          <a:p>
            <a:r>
              <a:t>VISUAL / DELIVERY</a:t>
            </a:r>
          </a:p>
          <a:p>
            <a:r>
              <a:t>07_neighbour_step.png: where the trial point can land, and the self-shrinking step.</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Keep the better one</a:t>
            </a:r>
          </a:p>
          <a:p>
            <a:r>
              <a:t>Target: 45 seconds</a:t>
            </a:r>
          </a:p>
          <a:p>
            <a:endParaRPr/>
          </a:p>
          <a:p>
            <a:r>
              <a:t>After a bee makes a trial point, it tastes it and compares. If the new point is better, it replaces the old source and the trial counter for that source goes back to zero. If the new point is worse, the old source stays and the trial counter goes up by one. This is called greedy selection, and it means no food source can ever get worse. The trial counter is a simple record of how long a source has been stuck, and it is the number the scouts watch.</a:t>
            </a:r>
          </a:p>
          <a:p>
            <a:endParaRPr/>
          </a:p>
          <a:p>
            <a:r>
              <a:t>VISUAL / DELIVERY</a:t>
            </a:r>
          </a:p>
          <a:p>
            <a:r>
              <a:t>Native before-and-after diagram with the trial counter.</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Better sources get larger slices</a:t>
            </a:r>
          </a:p>
          <a:p>
            <a:r>
              <a:t>Target: 65 seconds</a:t>
            </a:r>
          </a:p>
          <a:p>
            <a:endParaRPr/>
          </a:p>
          <a:p>
            <a:r>
              <a:t>Roulette selection gives more chances to a bigger number, but for us a smaller Ackley value is better. So we flip it: the nectar amount is one divided by one plus the function value. Ackley is never negative, so this is always between zero and one, and a lower function value always gives more nectar. Slide twenty-five then divides each nectar amount by the total, which gives the probability of each source. The pie chart shows all twenty-five slices at cycle zero. The richest source owns about nine and a half percent of the wheel and the poorest about three percent, so even the worst source keeps a real chance.</a:t>
            </a:r>
          </a:p>
          <a:p>
            <a:endParaRPr/>
          </a:p>
          <a:p>
            <a:r>
              <a:t>VISUAL / DELIVERY</a:t>
            </a:r>
          </a:p>
          <a:p>
            <a:r>
              <a:t>04_roulette_pie_cycle0.png with the cycle-0 table.</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Something the slides do not mention</a:t>
            </a:r>
          </a:p>
          <a:p>
            <a:r>
              <a:t>Target: 65 seconds</a:t>
            </a:r>
          </a:p>
          <a:p>
            <a:endParaRPr/>
          </a:p>
          <a:p>
            <a:r>
              <a:t>Here is something we noticed that the slides do not mention. The nectar formula is squeezed between zero and one. Once every source has a function value below about one thousandth, every nectar value rounds to one, so every slice of the wheel becomes exactly one twenty-fifth. From cycle sixty-two onwards our onlookers are choosing completely at random. That sounds like a serious bug, so we tested it instead of guessing. We also tried two published alternatives that keep the wheel sharp. The next slide shows the measurement, and the answer is not what we expected.</a:t>
            </a:r>
          </a:p>
          <a:p>
            <a:endParaRPr/>
          </a:p>
          <a:p>
            <a:r>
              <a:t>VISUAL / DELIVERY</a:t>
            </a:r>
          </a:p>
          <a:p>
            <a:r>
              <a:t>05_roulette_early_vs_late.png and 06_wheel_pressure.png.</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Which part of ABC actually matters?</a:t>
            </a:r>
          </a:p>
          <a:p>
            <a:r>
              <a:t>Target: 75 seconds</a:t>
            </a:r>
          </a:p>
          <a:p>
            <a:endParaRPr/>
          </a:p>
          <a:p>
            <a:r>
              <a:t>This table is the most useful thing we did. Each row changes one thing and runs the same forty seeds. Three results stand out. First, the onlooker phase is what makes the answer precise. Taking it away makes the median result five hundred thousand times worse, and four runs miss the target. Second, and this surprised us, the scout phase never fires at all on this problem. Turning it off changes nothing, because the bees always find some improvement before any counter reaches fifty. Third, the limit is the dangerous knob. Set it to five and the colony panics, sends over two thousand scouts, throws away good sources faster than it can refine them, and not a single run reaches the target. The probability rule hardly matters, which also answers the previous slide: by the time the wheel goes flat, every source is already in the right valley.</a:t>
            </a:r>
          </a:p>
          <a:p>
            <a:endParaRPr/>
          </a:p>
          <a:p>
            <a:r>
              <a:t>VISUAL / DELIVERY</a:t>
            </a:r>
          </a:p>
          <a:p>
            <a:r>
              <a:t>Measured ablation table, 40 seeds per row.</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Our result is very close to (0, 0)</a:t>
            </a:r>
          </a:p>
          <a:p>
            <a:r>
              <a:t>Target: 55 seconds</a:t>
            </a:r>
          </a:p>
          <a:p>
            <a:endParaRPr/>
          </a:p>
          <a:p>
            <a:r>
              <a:t>Here is our main run, with seed seven so anyone can repeat it exactly. The best point sits about two times ten to the minus thirteen away from the true answer, and the function value there is six point five times ten to the minus thirteen. The left picture shows the path of the best answer across the whole square, and the right picture zooms in near the centre. You can see the bees exploring widely at first, then making smaller and smaller corrections. The whole run used five thousand and twenty-five evaluations, and needed no scouts at all.</a:t>
            </a:r>
          </a:p>
          <a:p>
            <a:endParaRPr/>
          </a:p>
          <a:p>
            <a:r>
              <a:t>VISUAL / DELIVERY</a:t>
            </a:r>
          </a:p>
          <a:p>
            <a:r>
              <a:t>09_best_solution_path.png with the headline numbers.</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The colony closing in</a:t>
            </a:r>
          </a:p>
          <a:p>
            <a:r>
              <a:t>Target: 55 seconds</a:t>
            </a:r>
          </a:p>
          <a:p>
            <a:endParaRPr/>
          </a:p>
          <a:p>
            <a:r>
              <a:t>The left graph tracks the best, the average and the worst source. The best line only ever goes down, because we memorise it every cycle. The middle graph shows that both bee phases keep finding improvements all the way to cycle one hundred: the search never actually finishes. The dark brown line is the largest trial counter. It peaked at twenty-three, nowhere near the limit of fifty, which is why no scout was ever sent. In the snapshots, please read the axis numbers. Each panel is zoomed in much further than the one before. By cycle one hundred the whole picture is only about two times ten to the minus ten wide.</a:t>
            </a:r>
          </a:p>
          <a:p>
            <a:endParaRPr/>
          </a:p>
          <a:p>
            <a:r>
              <a:t>VISUAL / DELIVERY</a:t>
            </a:r>
          </a:p>
          <a:p>
            <a:r>
              <a:t>08_convergence_and_work.png and 10_source_snapshots.png.</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All 40 runs met the target</a:t>
            </a:r>
          </a:p>
          <a:p>
            <a:r>
              <a:t>Target: 55 seconds</a:t>
            </a:r>
          </a:p>
          <a:p>
            <a:endParaRPr/>
          </a:p>
          <a:p>
            <a:r>
              <a:t>One good run proves very little, so we ran forty, changing only the random seed. Every single one finished below our target of ten to the minus six. The median was five point five times ten to the minus thirteen and even the worst run reached ten to the minus eleven. The right panel is zoomed to a width of about seven times ten to the minus twelve, which is the only way to see the forty points separately. For comparison, pure random search with exactly the same number of evaluations only reached zero point seven seven. This is good evidence of reliability, but it is forty runs on one problem, not a guarantee.</a:t>
            </a:r>
          </a:p>
          <a:p>
            <a:endParaRPr/>
          </a:p>
          <a:p>
            <a:r>
              <a:t>VISUAL / DELIVERY</a:t>
            </a:r>
          </a:p>
          <a:p>
            <a:r>
              <a:t>11_reliability_40_runs.png.</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Bees next to genes</a:t>
            </a:r>
          </a:p>
          <a:p>
            <a:r>
              <a:t>Target: 60 seconds</a:t>
            </a:r>
          </a:p>
          <a:p>
            <a:endParaRPr/>
          </a:p>
          <a:p>
            <a:r>
              <a:t>Because we solved the same problem twice, we can compare honestly. Both methods are reliable: forty out of forty runs for each. The bee colony landed about three times closer to zero, using one and a half percent more evaluations. But the clearer difference is on the last row. For the Genetic Algorithm we had to choose a crossover rate, a mutation rate, a mutation step rule, elitism, and a duplicate cap. For the bee colony we chose one number, the limit, and the step size took care of itself. That is what slide thirty-one means by "few control parameters". We should be careful though: this is one function, in two dimensions, with one budget.</a:t>
            </a:r>
          </a:p>
          <a:p>
            <a:endParaRPr/>
          </a:p>
          <a:p>
            <a:r>
              <a:t>VISUAL / DELIVERY</a:t>
            </a:r>
          </a:p>
          <a:p>
            <a:r>
              <a:t>Side-by-side comparison table and 13_budget_comparison.png.</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 What we learned</a:t>
            </a:r>
          </a:p>
          <a:p>
            <a:r>
              <a:t>Target: 50 seconds</a:t>
            </a:r>
          </a:p>
          <a:p>
            <a:endParaRPr/>
          </a:p>
          <a:p>
            <a:r>
              <a:t>To finish, four things we learned. First, three very simple bee roles, repeated one hundred times, are enough to find the answer to thirteen decimal places. Second, the step size comes free from the distance between bees, which removes the hardest thing we had to tune in the Genetic Algorithm. Third, and most important for us as students, we should test an algorithm rather than trust its diagram. The scout phase looks essential on every flowchart, and on this problem it never ran once. And fourth, we should state our limits honestly: this is one function, in two dimensions, measured over forty seeds. Thank you, sir. We are happy to take questions.</a:t>
            </a:r>
          </a:p>
          <a:p>
            <a:endParaRPr/>
          </a:p>
          <a:p>
            <a:r>
              <a:t>VISUAL / DELIVERY</a:t>
            </a:r>
          </a:p>
          <a:p>
            <a:r>
              <a:t>Closing panels with the hive illustration.</a:t>
            </a:r>
          </a:p>
          <a:p>
            <a:endParaRPr/>
          </a:p>
          <a:p>
            <a:r>
              <a:t>Source: Ackley_ABC_Solution.ipynb; every number reproduced by review/experiments.py.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3" name="Template artwork - honeycomb"/>
          <p:cNvSpPr/>
          <p:nvPr/>
        </p:nvSpPr>
        <p:spPr>
          <a:xfrm>
            <a:off x="-832104" y="-1399032"/>
            <a:ext cx="6995160" cy="4864608"/>
          </a:xfrm>
          <a:custGeom>
            <a:avLst/>
            <a:gdLst/>
            <a:ahLst/>
            <a:cxnLst/>
            <a:rect l="l" t="t" r="r" b="b"/>
            <a:pathLst>
              <a:path w="7975531" h="5546173">
                <a:moveTo>
                  <a:pt x="0" y="0"/>
                </a:moveTo>
                <a:lnTo>
                  <a:pt x="7975531" y="0"/>
                </a:lnTo>
                <a:lnTo>
                  <a:pt x="7975531" y="5546173"/>
                </a:lnTo>
                <a:lnTo>
                  <a:pt x="0" y="55461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mplate artwork - honeycomb"/>
          <p:cNvSpPr/>
          <p:nvPr/>
        </p:nvSpPr>
        <p:spPr>
          <a:xfrm>
            <a:off x="11393424" y="7050024"/>
            <a:ext cx="7973568" cy="5550408"/>
          </a:xfrm>
          <a:custGeom>
            <a:avLst/>
            <a:gdLst/>
            <a:ahLst/>
            <a:cxnLst/>
            <a:rect l="l" t="t" r="r" b="b"/>
            <a:pathLst>
              <a:path w="7975531" h="5546173">
                <a:moveTo>
                  <a:pt x="0" y="0"/>
                </a:moveTo>
                <a:lnTo>
                  <a:pt x="7975531" y="0"/>
                </a:lnTo>
                <a:lnTo>
                  <a:pt x="7975531" y="5546173"/>
                </a:lnTo>
                <a:lnTo>
                  <a:pt x="0" y="55461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mplate artwork - hive_bees"/>
          <p:cNvSpPr/>
          <p:nvPr/>
        </p:nvSpPr>
        <p:spPr>
          <a:xfrm>
            <a:off x="14164056" y="4114800"/>
            <a:ext cx="6711696" cy="5449824"/>
          </a:xfrm>
          <a:custGeom>
            <a:avLst/>
            <a:gdLst/>
            <a:ahLst/>
            <a:cxnLst/>
            <a:rect l="l" t="t" r="r" b="b"/>
            <a:pathLst>
              <a:path w="6709437" h="5452943">
                <a:moveTo>
                  <a:pt x="0" y="0"/>
                </a:moveTo>
                <a:lnTo>
                  <a:pt x="6709437" y="0"/>
                </a:lnTo>
                <a:lnTo>
                  <a:pt x="6709437" y="5452942"/>
                </a:lnTo>
                <a:lnTo>
                  <a:pt x="0" y="5452942"/>
                </a:lnTo>
                <a:lnTo>
                  <a:pt x="0" y="0"/>
                </a:lnTo>
                <a:close/>
              </a:path>
            </a:pathLst>
          </a:custGeom>
          <a:blipFill>
            <a:blip r:embed="rId4"/>
            <a:stretch>
              <a:fillRect/>
            </a:stretch>
          </a:blipFill>
        </p:spPr>
      </p:sp>
      <p:sp>
        <p:nvSpPr>
          <p:cNvPr id="6" name="Template artwork - bee"/>
          <p:cNvSpPr/>
          <p:nvPr/>
        </p:nvSpPr>
        <p:spPr>
          <a:xfrm rot="-771037">
            <a:off x="16203167" y="1024128"/>
            <a:ext cx="1060704" cy="94183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Template artwork - bee"/>
          <p:cNvSpPr/>
          <p:nvPr/>
        </p:nvSpPr>
        <p:spPr>
          <a:xfrm rot="-771037">
            <a:off x="722376" y="8522208"/>
            <a:ext cx="1060704" cy="94183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mplate artwork - bee"/>
          <p:cNvSpPr/>
          <p:nvPr/>
        </p:nvSpPr>
        <p:spPr>
          <a:xfrm rot="-771037">
            <a:off x="11484864" y="-475488"/>
            <a:ext cx="1060704" cy="94183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mplate artwork - bee"/>
          <p:cNvSpPr/>
          <p:nvPr/>
        </p:nvSpPr>
        <p:spPr>
          <a:xfrm rot="-771037">
            <a:off x="-118872" y="5788152"/>
            <a:ext cx="1060704" cy="94183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Template artwork - bee"/>
          <p:cNvSpPr/>
          <p:nvPr/>
        </p:nvSpPr>
        <p:spPr>
          <a:xfrm rot="-771037">
            <a:off x="17465040" y="-475488"/>
            <a:ext cx="1060704" cy="94183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TextBox 10"/>
          <p:cNvSpPr txBox="1"/>
          <p:nvPr/>
        </p:nvSpPr>
        <p:spPr>
          <a:xfrm>
            <a:off x="1024128" y="1783080"/>
            <a:ext cx="12801600" cy="347472"/>
          </a:xfrm>
          <a:prstGeom prst="rect">
            <a:avLst/>
          </a:prstGeom>
          <a:noFill/>
        </p:spPr>
        <p:txBody>
          <a:bodyPr wrap="square" lIns="0" tIns="0" rIns="0" bIns="0">
            <a:spAutoFit/>
          </a:bodyPr>
          <a:lstStyle/>
          <a:p>
            <a:pPr>
              <a:lnSpc>
                <a:spcPct val="100000"/>
              </a:lnSpc>
              <a:spcBef>
                <a:spcPts val="0"/>
              </a:spcBef>
              <a:spcAft>
                <a:spcPts val="462"/>
              </a:spcAft>
              <a:defRPr sz="2100" b="1">
                <a:solidFill>
                  <a:srgbClr val="E37E03"/>
                </a:solidFill>
                <a:latin typeface="DM Sans Bold"/>
              </a:defRPr>
            </a:pPr>
            <a:r>
              <a:t>CSE 4111 - MACHINE LEARNING   -   GROUP PRESENTATION</a:t>
            </a:r>
          </a:p>
        </p:txBody>
      </p:sp>
      <p:sp>
        <p:nvSpPr>
          <p:cNvPr id="12" name="TextBox 11"/>
          <p:cNvSpPr txBox="1"/>
          <p:nvPr/>
        </p:nvSpPr>
        <p:spPr>
          <a:xfrm>
            <a:off x="1024128" y="2286000"/>
            <a:ext cx="13258800" cy="3749039"/>
          </a:xfrm>
          <a:prstGeom prst="rect">
            <a:avLst/>
          </a:prstGeom>
          <a:noFill/>
        </p:spPr>
        <p:txBody>
          <a:bodyPr wrap="square" lIns="0" tIns="0" rIns="0" bIns="0">
            <a:spAutoFit/>
          </a:bodyPr>
          <a:lstStyle/>
          <a:p>
            <a:pPr>
              <a:lnSpc>
                <a:spcPct val="100000"/>
              </a:lnSpc>
              <a:spcBef>
                <a:spcPts val="0"/>
              </a:spcBef>
              <a:spcAft>
                <a:spcPts val="2156"/>
              </a:spcAft>
              <a:defRPr sz="9800" b="0">
                <a:solidFill>
                  <a:srgbClr val="6F251B"/>
                </a:solidFill>
                <a:latin typeface="More Sugar"/>
              </a:defRPr>
            </a:pPr>
            <a:r>
              <a:t>Artificial</a:t>
            </a:r>
          </a:p>
          <a:p>
            <a:pPr>
              <a:lnSpc>
                <a:spcPct val="100000"/>
              </a:lnSpc>
              <a:spcBef>
                <a:spcPts val="0"/>
              </a:spcBef>
              <a:spcAft>
                <a:spcPts val="2156"/>
              </a:spcAft>
              <a:defRPr sz="9800" b="0">
                <a:solidFill>
                  <a:srgbClr val="6F251B"/>
                </a:solidFill>
                <a:latin typeface="More Sugar"/>
              </a:defRPr>
            </a:pPr>
            <a:r>
              <a:t>Bee Colony</a:t>
            </a:r>
          </a:p>
        </p:txBody>
      </p:sp>
      <p:sp>
        <p:nvSpPr>
          <p:cNvPr id="13" name="TextBox 12"/>
          <p:cNvSpPr txBox="1"/>
          <p:nvPr/>
        </p:nvSpPr>
        <p:spPr>
          <a:xfrm>
            <a:off x="1024128" y="5760720"/>
            <a:ext cx="12435840" cy="640080"/>
          </a:xfrm>
          <a:prstGeom prst="rect">
            <a:avLst/>
          </a:prstGeom>
          <a:noFill/>
        </p:spPr>
        <p:txBody>
          <a:bodyPr wrap="square" lIns="0" tIns="0" rIns="0" bIns="0">
            <a:spAutoFit/>
          </a:bodyPr>
          <a:lstStyle/>
          <a:p>
            <a:pPr>
              <a:lnSpc>
                <a:spcPct val="100000"/>
              </a:lnSpc>
              <a:spcBef>
                <a:spcPts val="0"/>
              </a:spcBef>
              <a:spcAft>
                <a:spcPts val="726"/>
              </a:spcAft>
              <a:defRPr sz="3300" b="0">
                <a:solidFill>
                  <a:srgbClr val="CB6C29"/>
                </a:solidFill>
                <a:latin typeface="DM Sans"/>
              </a:defRPr>
            </a:pPr>
            <a:r>
              <a:t>Finding the global minimum of the 2-D Ackley function</a:t>
            </a:r>
          </a:p>
        </p:txBody>
      </p:sp>
      <p:cxnSp>
        <p:nvCxnSpPr>
          <p:cNvPr id="14" name="Connector 13"/>
          <p:cNvCxnSpPr/>
          <p:nvPr/>
        </p:nvCxnSpPr>
        <p:spPr>
          <a:xfrm>
            <a:off x="1024128" y="6629400"/>
            <a:ext cx="11960352" cy="0"/>
          </a:xfrm>
          <a:prstGeom prst="line">
            <a:avLst/>
          </a:prstGeom>
          <a:ln w="25400">
            <a:solidFill>
              <a:srgbClr val="E3D6C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24128" y="6912864"/>
            <a:ext cx="73152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SUBMITTED TO</a:t>
            </a:r>
          </a:p>
        </p:txBody>
      </p:sp>
      <p:sp>
        <p:nvSpPr>
          <p:cNvPr id="16" name="TextBox 15"/>
          <p:cNvSpPr txBox="1"/>
          <p:nvPr/>
        </p:nvSpPr>
        <p:spPr>
          <a:xfrm>
            <a:off x="1024128" y="7296912"/>
            <a:ext cx="8229600" cy="566928"/>
          </a:xfrm>
          <a:prstGeom prst="rect">
            <a:avLst/>
          </a:prstGeom>
          <a:noFill/>
        </p:spPr>
        <p:txBody>
          <a:bodyPr wrap="square" lIns="0" tIns="0" rIns="0" bIns="0">
            <a:spAutoFit/>
          </a:bodyPr>
          <a:lstStyle/>
          <a:p>
            <a:pPr>
              <a:lnSpc>
                <a:spcPct val="100000"/>
              </a:lnSpc>
              <a:spcBef>
                <a:spcPts val="0"/>
              </a:spcBef>
              <a:spcAft>
                <a:spcPts val="792"/>
              </a:spcAft>
              <a:defRPr sz="3600" b="1">
                <a:solidFill>
                  <a:srgbClr val="6F251B"/>
                </a:solidFill>
                <a:latin typeface="DM Sans Bold"/>
              </a:defRPr>
            </a:pPr>
            <a:r>
              <a:t>Dr. Al-Mahmud</a:t>
            </a:r>
          </a:p>
        </p:txBody>
      </p:sp>
      <p:sp>
        <p:nvSpPr>
          <p:cNvPr id="17" name="TextBox 16"/>
          <p:cNvSpPr txBox="1"/>
          <p:nvPr/>
        </p:nvSpPr>
        <p:spPr>
          <a:xfrm>
            <a:off x="1024128" y="7882127"/>
            <a:ext cx="9144000" cy="411480"/>
          </a:xfrm>
          <a:prstGeom prst="rect">
            <a:avLst/>
          </a:prstGeom>
          <a:noFill/>
        </p:spPr>
        <p:txBody>
          <a:bodyPr wrap="square" lIns="0" tIns="0" rIns="0" bIns="0">
            <a:spAutoFit/>
          </a:bodyPr>
          <a:lstStyle/>
          <a:p>
            <a:pPr>
              <a:lnSpc>
                <a:spcPct val="100000"/>
              </a:lnSpc>
              <a:spcBef>
                <a:spcPts val="0"/>
              </a:spcBef>
              <a:spcAft>
                <a:spcPts val="550"/>
              </a:spcAft>
              <a:defRPr sz="2500" b="0">
                <a:solidFill>
                  <a:srgbClr val="CB6C29"/>
                </a:solidFill>
                <a:latin typeface="DM Sans"/>
              </a:defRPr>
            </a:pPr>
            <a:r>
              <a:t>Professor, Department of CSE, KUET</a:t>
            </a:r>
          </a:p>
        </p:txBody>
      </p:sp>
      <p:sp>
        <p:nvSpPr>
          <p:cNvPr id="18" name="TextBox 17"/>
          <p:cNvSpPr txBox="1"/>
          <p:nvPr/>
        </p:nvSpPr>
        <p:spPr>
          <a:xfrm>
            <a:off x="1024128" y="8467344"/>
            <a:ext cx="82296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SUBMITTED BY   -   STUDENT IDs</a:t>
            </a:r>
          </a:p>
        </p:txBody>
      </p:sp>
      <p:sp>
        <p:nvSpPr>
          <p:cNvPr id="19" name="TextBox 18"/>
          <p:cNvSpPr txBox="1"/>
          <p:nvPr/>
        </p:nvSpPr>
        <p:spPr>
          <a:xfrm>
            <a:off x="1024128" y="8833104"/>
            <a:ext cx="10058400" cy="960120"/>
          </a:xfrm>
          <a:prstGeom prst="rect">
            <a:avLst/>
          </a:prstGeom>
          <a:noFill/>
        </p:spPr>
        <p:txBody>
          <a:bodyPr wrap="square" lIns="0" tIns="0" rIns="0" bIns="0">
            <a:spAutoFit/>
          </a:bodyPr>
          <a:lstStyle/>
          <a:p>
            <a:pPr>
              <a:lnSpc>
                <a:spcPct val="100000"/>
              </a:lnSpc>
              <a:spcBef>
                <a:spcPts val="0"/>
              </a:spcBef>
              <a:spcAft>
                <a:spcPts val="572"/>
              </a:spcAft>
              <a:defRPr sz="2600" b="0">
                <a:solidFill>
                  <a:srgbClr val="6F251B"/>
                </a:solidFill>
                <a:latin typeface="DM Sans"/>
              </a:defRPr>
            </a:pPr>
            <a:r>
              <a:t>2107001   2107004   2107009</a:t>
            </a:r>
          </a:p>
          <a:p>
            <a:pPr>
              <a:lnSpc>
                <a:spcPct val="100000"/>
              </a:lnSpc>
              <a:spcBef>
                <a:spcPts val="0"/>
              </a:spcBef>
              <a:spcAft>
                <a:spcPts val="572"/>
              </a:spcAft>
              <a:defRPr sz="2600" b="0">
                <a:solidFill>
                  <a:srgbClr val="6F251B"/>
                </a:solidFill>
                <a:latin typeface="DM Sans"/>
              </a:defRPr>
            </a:pPr>
            <a:r>
              <a:t>2107015   2107024   2107047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01 - THE PROBLEM</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Find the lowest point</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02</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honeycomb"/>
          <p:cNvSpPr/>
          <p:nvPr/>
        </p:nvSpPr>
        <p:spPr>
          <a:xfrm>
            <a:off x="-1554480" y="6903720"/>
            <a:ext cx="6035040" cy="4206240"/>
          </a:xfrm>
          <a:custGeom>
            <a:avLst/>
            <a:gdLst/>
            <a:ahLst/>
            <a:cxnLst/>
            <a:rect l="l" t="t" r="r" b="b"/>
            <a:pathLst>
              <a:path w="7975531" h="5546173">
                <a:moveTo>
                  <a:pt x="0" y="0"/>
                </a:moveTo>
                <a:lnTo>
                  <a:pt x="7975531" y="0"/>
                </a:lnTo>
                <a:lnTo>
                  <a:pt x="7975531" y="5546173"/>
                </a:lnTo>
                <a:lnTo>
                  <a:pt x="0" y="55461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mplate artwork - bee"/>
          <p:cNvSpPr/>
          <p:nvPr/>
        </p:nvSpPr>
        <p:spPr>
          <a:xfrm rot="-771037">
            <a:off x="15819120" y="384048"/>
            <a:ext cx="1005840" cy="89611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Hexagon 8"/>
          <p:cNvSpPr/>
          <p:nvPr/>
        </p:nvSpPr>
        <p:spPr>
          <a:xfrm>
            <a:off x="1024128" y="2862072"/>
            <a:ext cx="1115568" cy="959388"/>
          </a:xfrm>
          <a:prstGeom prst="hexagon">
            <a:avLst/>
          </a:prstGeom>
          <a:solidFill>
            <a:srgbClr val="6F251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01</a:t>
            </a:r>
          </a:p>
        </p:txBody>
      </p:sp>
      <p:sp>
        <p:nvSpPr>
          <p:cNvPr id="10" name="TextBox 9"/>
          <p:cNvSpPr txBox="1"/>
          <p:nvPr/>
        </p:nvSpPr>
        <p:spPr>
          <a:xfrm>
            <a:off x="2505456" y="2816352"/>
            <a:ext cx="6949440" cy="502920"/>
          </a:xfrm>
          <a:prstGeom prst="rect">
            <a:avLst/>
          </a:prstGeom>
          <a:noFill/>
        </p:spPr>
        <p:txBody>
          <a:bodyPr wrap="square" lIns="0" tIns="0" rIns="0" bIns="0">
            <a:spAutoFit/>
          </a:bodyPr>
          <a:lstStyle/>
          <a:p>
            <a:pPr algn="l">
              <a:lnSpc>
                <a:spcPct val="100000"/>
              </a:lnSpc>
              <a:spcBef>
                <a:spcPts val="0"/>
              </a:spcBef>
              <a:spcAft>
                <a:spcPts val="682"/>
              </a:spcAft>
              <a:defRPr sz="3100" b="1">
                <a:solidFill>
                  <a:srgbClr val="6F251B"/>
                </a:solidFill>
                <a:latin typeface="DM Sans Bold"/>
              </a:defRPr>
            </a:pPr>
            <a:r>
              <a:t>Choose two numbers</a:t>
            </a:r>
          </a:p>
        </p:txBody>
      </p:sp>
      <p:sp>
        <p:nvSpPr>
          <p:cNvPr id="11" name="TextBox 10"/>
          <p:cNvSpPr txBox="1"/>
          <p:nvPr/>
        </p:nvSpPr>
        <p:spPr>
          <a:xfrm>
            <a:off x="2505456" y="3383280"/>
            <a:ext cx="6949440" cy="822960"/>
          </a:xfrm>
          <a:prstGeom prst="rect">
            <a:avLst/>
          </a:prstGeom>
          <a:noFill/>
        </p:spPr>
        <p:txBody>
          <a:bodyPr wrap="square" lIns="0" tIns="0" rIns="0" bIns="0">
            <a:spAutoFit/>
          </a:bodyPr>
          <a:lstStyle/>
          <a:p>
            <a:pPr algn="l">
              <a:lnSpc>
                <a:spcPct val="100000"/>
              </a:lnSpc>
              <a:spcBef>
                <a:spcPts val="0"/>
              </a:spcBef>
              <a:spcAft>
                <a:spcPts val="528"/>
              </a:spcAft>
              <a:defRPr sz="2400" b="0">
                <a:solidFill>
                  <a:srgbClr val="6F251B"/>
                </a:solidFill>
                <a:latin typeface="DM Sans"/>
              </a:defRPr>
            </a:pPr>
            <a:r>
              <a:t>Pick x₁ and x₂ so that f is as small as possible.</a:t>
            </a:r>
          </a:p>
        </p:txBody>
      </p:sp>
      <p:sp>
        <p:nvSpPr>
          <p:cNvPr id="12" name="Hexagon 11"/>
          <p:cNvSpPr/>
          <p:nvPr/>
        </p:nvSpPr>
        <p:spPr>
          <a:xfrm>
            <a:off x="1024128" y="4507992"/>
            <a:ext cx="1115568" cy="959388"/>
          </a:xfrm>
          <a:prstGeom prst="hexagon">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02</a:t>
            </a:r>
          </a:p>
        </p:txBody>
      </p:sp>
      <p:sp>
        <p:nvSpPr>
          <p:cNvPr id="13" name="TextBox 12"/>
          <p:cNvSpPr txBox="1"/>
          <p:nvPr/>
        </p:nvSpPr>
        <p:spPr>
          <a:xfrm>
            <a:off x="2505456" y="4462272"/>
            <a:ext cx="6949440" cy="502920"/>
          </a:xfrm>
          <a:prstGeom prst="rect">
            <a:avLst/>
          </a:prstGeom>
          <a:noFill/>
        </p:spPr>
        <p:txBody>
          <a:bodyPr wrap="square" lIns="0" tIns="0" rIns="0" bIns="0">
            <a:spAutoFit/>
          </a:bodyPr>
          <a:lstStyle/>
          <a:p>
            <a:pPr algn="l">
              <a:lnSpc>
                <a:spcPct val="100000"/>
              </a:lnSpc>
              <a:spcBef>
                <a:spcPts val="0"/>
              </a:spcBef>
              <a:spcAft>
                <a:spcPts val="682"/>
              </a:spcAft>
              <a:defRPr sz="3100" b="1">
                <a:solidFill>
                  <a:srgbClr val="6F251B"/>
                </a:solidFill>
                <a:latin typeface="DM Sans Bold"/>
              </a:defRPr>
            </a:pPr>
            <a:r>
              <a:t>Stay inside the square</a:t>
            </a:r>
          </a:p>
        </p:txBody>
      </p:sp>
      <p:sp>
        <p:nvSpPr>
          <p:cNvPr id="14" name="TextBox 13"/>
          <p:cNvSpPr txBox="1"/>
          <p:nvPr/>
        </p:nvSpPr>
        <p:spPr>
          <a:xfrm>
            <a:off x="2505456" y="5029200"/>
            <a:ext cx="6949440" cy="822960"/>
          </a:xfrm>
          <a:prstGeom prst="rect">
            <a:avLst/>
          </a:prstGeom>
          <a:noFill/>
        </p:spPr>
        <p:txBody>
          <a:bodyPr wrap="square" lIns="0" tIns="0" rIns="0" bIns="0">
            <a:spAutoFit/>
          </a:bodyPr>
          <a:lstStyle/>
          <a:p>
            <a:pPr algn="l">
              <a:lnSpc>
                <a:spcPct val="100000"/>
              </a:lnSpc>
              <a:spcBef>
                <a:spcPts val="0"/>
              </a:spcBef>
              <a:spcAft>
                <a:spcPts val="528"/>
              </a:spcAft>
              <a:defRPr sz="2400" b="0">
                <a:solidFill>
                  <a:srgbClr val="6F251B"/>
                </a:solidFill>
                <a:latin typeface="DM Sans"/>
              </a:defRPr>
            </a:pPr>
            <a:r>
              <a:t>Both coordinates must satisfy  −5 ≤ x ≤ +5.</a:t>
            </a:r>
          </a:p>
        </p:txBody>
      </p:sp>
      <p:sp>
        <p:nvSpPr>
          <p:cNvPr id="15" name="Hexagon 14"/>
          <p:cNvSpPr/>
          <p:nvPr/>
        </p:nvSpPr>
        <p:spPr>
          <a:xfrm>
            <a:off x="1024128" y="6153912"/>
            <a:ext cx="1115568" cy="959388"/>
          </a:xfrm>
          <a:prstGeom prst="hexagon">
            <a:avLst/>
          </a:prstGeom>
          <a:solidFill>
            <a:srgbClr val="CB6C2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03</a:t>
            </a:r>
          </a:p>
        </p:txBody>
      </p:sp>
      <p:sp>
        <p:nvSpPr>
          <p:cNvPr id="16" name="TextBox 15"/>
          <p:cNvSpPr txBox="1"/>
          <p:nvPr/>
        </p:nvSpPr>
        <p:spPr>
          <a:xfrm>
            <a:off x="2505456" y="6108192"/>
            <a:ext cx="6949440" cy="502920"/>
          </a:xfrm>
          <a:prstGeom prst="rect">
            <a:avLst/>
          </a:prstGeom>
          <a:noFill/>
        </p:spPr>
        <p:txBody>
          <a:bodyPr wrap="square" lIns="0" tIns="0" rIns="0" bIns="0">
            <a:spAutoFit/>
          </a:bodyPr>
          <a:lstStyle/>
          <a:p>
            <a:pPr algn="l">
              <a:lnSpc>
                <a:spcPct val="100000"/>
              </a:lnSpc>
              <a:spcBef>
                <a:spcPts val="0"/>
              </a:spcBef>
              <a:spcAft>
                <a:spcPts val="682"/>
              </a:spcAft>
              <a:defRPr sz="3100" b="1">
                <a:solidFill>
                  <a:srgbClr val="6F251B"/>
                </a:solidFill>
                <a:latin typeface="DM Sans Bold"/>
              </a:defRPr>
            </a:pPr>
            <a:r>
              <a:t>The answer we are aiming at</a:t>
            </a:r>
          </a:p>
        </p:txBody>
      </p:sp>
      <p:sp>
        <p:nvSpPr>
          <p:cNvPr id="17" name="TextBox 16"/>
          <p:cNvSpPr txBox="1"/>
          <p:nvPr/>
        </p:nvSpPr>
        <p:spPr>
          <a:xfrm>
            <a:off x="2505456" y="6675120"/>
            <a:ext cx="6949440" cy="822960"/>
          </a:xfrm>
          <a:prstGeom prst="rect">
            <a:avLst/>
          </a:prstGeom>
          <a:noFill/>
        </p:spPr>
        <p:txBody>
          <a:bodyPr wrap="square" lIns="0" tIns="0" rIns="0" bIns="0">
            <a:spAutoFit/>
          </a:bodyPr>
          <a:lstStyle/>
          <a:p>
            <a:pPr algn="l">
              <a:lnSpc>
                <a:spcPct val="100000"/>
              </a:lnSpc>
              <a:spcBef>
                <a:spcPts val="0"/>
              </a:spcBef>
              <a:spcAft>
                <a:spcPts val="528"/>
              </a:spcAft>
              <a:defRPr sz="2400" b="0">
                <a:solidFill>
                  <a:srgbClr val="6F251B"/>
                </a:solidFill>
                <a:latin typeface="DM Sans"/>
              </a:defRPr>
            </a:pPr>
            <a:r>
              <a:t>x* = (0, 0)  and  f(x*) = 0.</a:t>
            </a:r>
          </a:p>
        </p:txBody>
      </p:sp>
      <p:sp>
        <p:nvSpPr>
          <p:cNvPr id="18" name="Rounded Rectangle 17"/>
          <p:cNvSpPr/>
          <p:nvPr/>
        </p:nvSpPr>
        <p:spPr>
          <a:xfrm>
            <a:off x="10332720" y="2633472"/>
            <a:ext cx="6931152" cy="598932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11155680" y="3200400"/>
            <a:ext cx="0" cy="457200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155680" y="3200400"/>
            <a:ext cx="4572000" cy="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2070080" y="3200400"/>
            <a:ext cx="0" cy="457200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155680" y="4114800"/>
            <a:ext cx="4572000" cy="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84480" y="3200400"/>
            <a:ext cx="0" cy="457200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155680" y="5029200"/>
            <a:ext cx="4572000" cy="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898880" y="3200400"/>
            <a:ext cx="0" cy="457200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155680" y="5943600"/>
            <a:ext cx="4572000" cy="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813280" y="3200400"/>
            <a:ext cx="0" cy="457200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155680" y="6858000"/>
            <a:ext cx="4572000" cy="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5727680" y="3200400"/>
            <a:ext cx="0" cy="457200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155680" y="7772400"/>
            <a:ext cx="4572000" cy="0"/>
          </a:xfrm>
          <a:prstGeom prst="line">
            <a:avLst/>
          </a:prstGeom>
          <a:ln w="11430">
            <a:solidFill>
              <a:srgbClr val="EFE6E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744200" y="5486400"/>
            <a:ext cx="5532120" cy="0"/>
          </a:xfrm>
          <a:prstGeom prst="line">
            <a:avLst/>
          </a:prstGeom>
          <a:ln w="27940">
            <a:solidFill>
              <a:srgbClr val="CB6C2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441680" y="2788920"/>
            <a:ext cx="0" cy="5486400"/>
          </a:xfrm>
          <a:prstGeom prst="line">
            <a:avLst/>
          </a:prstGeom>
          <a:ln w="27940">
            <a:solidFill>
              <a:srgbClr val="CB6C29"/>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3304519" y="5349240"/>
            <a:ext cx="274320" cy="274320"/>
          </a:xfrm>
          <a:prstGeom prst="ellipse">
            <a:avLst/>
          </a:prstGeom>
          <a:solidFill>
            <a:srgbClr val="6F2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679424" y="5577840"/>
            <a:ext cx="2011680" cy="457200"/>
          </a:xfrm>
          <a:prstGeom prst="rect">
            <a:avLst/>
          </a:prstGeom>
          <a:noFill/>
        </p:spPr>
        <p:txBody>
          <a:bodyPr wrap="square" lIns="0" tIns="0" rIns="0" bIns="0">
            <a:spAutoFit/>
          </a:bodyPr>
          <a:lstStyle/>
          <a:p>
            <a:pPr>
              <a:lnSpc>
                <a:spcPct val="100000"/>
              </a:lnSpc>
              <a:spcBef>
                <a:spcPts val="0"/>
              </a:spcBef>
              <a:spcAft>
                <a:spcPts val="594"/>
              </a:spcAft>
              <a:defRPr sz="2700" b="1">
                <a:solidFill>
                  <a:srgbClr val="6F251B"/>
                </a:solidFill>
                <a:latin typeface="DM Sans Bold"/>
              </a:defRPr>
            </a:pPr>
            <a:r>
              <a:t>(0, 0)</a:t>
            </a:r>
          </a:p>
        </p:txBody>
      </p:sp>
      <p:sp>
        <p:nvSpPr>
          <p:cNvPr id="35" name="TextBox 34"/>
          <p:cNvSpPr txBox="1"/>
          <p:nvPr/>
        </p:nvSpPr>
        <p:spPr>
          <a:xfrm>
            <a:off x="10881359" y="7882127"/>
            <a:ext cx="822960" cy="365760"/>
          </a:xfrm>
          <a:prstGeom prst="rect">
            <a:avLst/>
          </a:prstGeom>
          <a:noFill/>
        </p:spPr>
        <p:txBody>
          <a:bodyPr wrap="square" lIns="0" tIns="0" rIns="0" bIns="0">
            <a:spAutoFit/>
          </a:bodyPr>
          <a:lstStyle/>
          <a:p>
            <a:pPr>
              <a:lnSpc>
                <a:spcPct val="100000"/>
              </a:lnSpc>
              <a:spcBef>
                <a:spcPts val="0"/>
              </a:spcBef>
              <a:spcAft>
                <a:spcPts val="462"/>
              </a:spcAft>
              <a:defRPr sz="2100" b="0">
                <a:solidFill>
                  <a:srgbClr val="CB6C29"/>
                </a:solidFill>
                <a:latin typeface="DM Sans"/>
              </a:defRPr>
            </a:pPr>
            <a:r>
              <a:t>−5</a:t>
            </a:r>
          </a:p>
        </p:txBody>
      </p:sp>
      <p:sp>
        <p:nvSpPr>
          <p:cNvPr id="36" name="TextBox 35"/>
          <p:cNvSpPr txBox="1"/>
          <p:nvPr/>
        </p:nvSpPr>
        <p:spPr>
          <a:xfrm>
            <a:off x="15316200" y="7882127"/>
            <a:ext cx="822960" cy="365760"/>
          </a:xfrm>
          <a:prstGeom prst="rect">
            <a:avLst/>
          </a:prstGeom>
          <a:noFill/>
        </p:spPr>
        <p:txBody>
          <a:bodyPr wrap="square" lIns="0" tIns="0" rIns="0" bIns="0">
            <a:spAutoFit/>
          </a:bodyPr>
          <a:lstStyle/>
          <a:p>
            <a:pPr>
              <a:lnSpc>
                <a:spcPct val="100000"/>
              </a:lnSpc>
              <a:spcBef>
                <a:spcPts val="0"/>
              </a:spcBef>
              <a:spcAft>
                <a:spcPts val="462"/>
              </a:spcAft>
              <a:defRPr sz="2100" b="0">
                <a:solidFill>
                  <a:srgbClr val="CB6C29"/>
                </a:solidFill>
                <a:latin typeface="DM Sans"/>
              </a:defRPr>
            </a:pPr>
            <a:r>
              <a:t>+5</a:t>
            </a:r>
          </a:p>
        </p:txBody>
      </p:sp>
      <p:sp>
        <p:nvSpPr>
          <p:cNvPr id="37" name="TextBox 36"/>
          <p:cNvSpPr txBox="1"/>
          <p:nvPr/>
        </p:nvSpPr>
        <p:spPr>
          <a:xfrm>
            <a:off x="16386047" y="5285232"/>
            <a:ext cx="731520" cy="457200"/>
          </a:xfrm>
          <a:prstGeom prst="rect">
            <a:avLst/>
          </a:prstGeom>
          <a:noFill/>
        </p:spPr>
        <p:txBody>
          <a:bodyPr wrap="square" lIns="0" tIns="0" rIns="0" bIns="0">
            <a:spAutoFit/>
          </a:bodyPr>
          <a:lstStyle/>
          <a:p>
            <a:pPr>
              <a:lnSpc>
                <a:spcPct val="100000"/>
              </a:lnSpc>
              <a:spcBef>
                <a:spcPts val="0"/>
              </a:spcBef>
              <a:spcAft>
                <a:spcPts val="572"/>
              </a:spcAft>
              <a:defRPr sz="2600" b="1">
                <a:solidFill>
                  <a:srgbClr val="CB6C29"/>
                </a:solidFill>
                <a:latin typeface="DM Sans Bold"/>
              </a:defRPr>
            </a:pPr>
            <a:r>
              <a:t>x₁</a:t>
            </a:r>
          </a:p>
        </p:txBody>
      </p:sp>
      <p:sp>
        <p:nvSpPr>
          <p:cNvPr id="38" name="TextBox 37"/>
          <p:cNvSpPr txBox="1"/>
          <p:nvPr/>
        </p:nvSpPr>
        <p:spPr>
          <a:xfrm>
            <a:off x="12801600" y="2542032"/>
            <a:ext cx="822960" cy="457200"/>
          </a:xfrm>
          <a:prstGeom prst="rect">
            <a:avLst/>
          </a:prstGeom>
          <a:noFill/>
        </p:spPr>
        <p:txBody>
          <a:bodyPr wrap="square" lIns="0" tIns="0" rIns="0" bIns="0">
            <a:spAutoFit/>
          </a:bodyPr>
          <a:lstStyle/>
          <a:p>
            <a:pPr>
              <a:lnSpc>
                <a:spcPct val="100000"/>
              </a:lnSpc>
              <a:spcBef>
                <a:spcPts val="0"/>
              </a:spcBef>
              <a:spcAft>
                <a:spcPts val="572"/>
              </a:spcAft>
              <a:defRPr sz="2600" b="1">
                <a:solidFill>
                  <a:srgbClr val="CB6C29"/>
                </a:solidFill>
                <a:latin typeface="DM Sans Bold"/>
              </a:defRPr>
            </a:pPr>
            <a:r>
              <a:t>x₂</a:t>
            </a:r>
          </a:p>
        </p:txBody>
      </p:sp>
      <p:sp>
        <p:nvSpPr>
          <p:cNvPr id="39" name="TextBox 38"/>
          <p:cNvSpPr txBox="1"/>
          <p:nvPr/>
        </p:nvSpPr>
        <p:spPr>
          <a:xfrm>
            <a:off x="10561320" y="8156448"/>
            <a:ext cx="6492240" cy="365760"/>
          </a:xfrm>
          <a:prstGeom prst="rect">
            <a:avLst/>
          </a:prstGeom>
          <a:noFill/>
        </p:spPr>
        <p:txBody>
          <a:bodyPr wrap="square" lIns="0" tIns="0" rIns="0" bIns="0">
            <a:spAutoFit/>
          </a:bodyPr>
          <a:lstStyle/>
          <a:p>
            <a:pPr algn="ctr">
              <a:lnSpc>
                <a:spcPct val="100000"/>
              </a:lnSpc>
              <a:spcBef>
                <a:spcPts val="0"/>
              </a:spcBef>
              <a:spcAft>
                <a:spcPts val="462"/>
              </a:spcAft>
              <a:defRPr sz="2100" b="0">
                <a:solidFill>
                  <a:srgbClr val="CB6C29"/>
                </a:solidFill>
                <a:latin typeface="DM Sans"/>
              </a:defRPr>
            </a:pPr>
            <a:r>
              <a:t>every point in the square is allowed</a:t>
            </a:r>
          </a:p>
        </p:txBody>
      </p:sp>
      <p:sp>
        <p:nvSpPr>
          <p:cNvPr id="40" name="Rounded Rectangle 39"/>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The bees only taste the points they choose. Nobody tells them where (0, 0) 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01 - THE PROBLEM</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The Ackley function in 2-D</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03</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honey_drip"/>
          <p:cNvSpPr/>
          <p:nvPr/>
        </p:nvSpPr>
        <p:spPr>
          <a:xfrm>
            <a:off x="15453359" y="-960120"/>
            <a:ext cx="3291840" cy="2542032"/>
          </a:xfrm>
          <a:custGeom>
            <a:avLst/>
            <a:gdLst/>
            <a:ahLst/>
            <a:cxnLst/>
            <a:rect l="l" t="t" r="r" b="b"/>
            <a:pathLst>
              <a:path w="3777860" h="2913775">
                <a:moveTo>
                  <a:pt x="0" y="0"/>
                </a:moveTo>
                <a:lnTo>
                  <a:pt x="3777860" y="0"/>
                </a:lnTo>
                <a:lnTo>
                  <a:pt x="3777860" y="2913775"/>
                </a:lnTo>
                <a:lnTo>
                  <a:pt x="0" y="291377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7"/>
          <p:cNvSpPr txBox="1"/>
          <p:nvPr/>
        </p:nvSpPr>
        <p:spPr>
          <a:xfrm>
            <a:off x="1024128" y="2788920"/>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START WITH n VARIABLES</a:t>
            </a:r>
          </a:p>
        </p:txBody>
      </p:sp>
      <p:sp>
        <p:nvSpPr>
          <p:cNvPr id="9" name="Rounded Rectangle 8"/>
          <p:cNvSpPr/>
          <p:nvPr/>
        </p:nvSpPr>
        <p:spPr>
          <a:xfrm>
            <a:off x="1024128" y="3218688"/>
            <a:ext cx="16239744" cy="1645920"/>
          </a:xfrm>
          <a:prstGeom prst="roundRect">
            <a:avLst>
              <a:gd name="adj" fmla="val 704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general_ackley" descr="f(\mathbf{x})=-a\exp\!\left(-b\sqrt{\frac{1}{n}\sum_{i=1}^{n}x_i^2}\right)-\exp\!\left(\frac{1}{n}\sum_{i=1}^{n}\cos(cx_i)\right)+a+e"/>
          <p:cNvPicPr>
            <a:picLocks noChangeAspect="1"/>
          </p:cNvPicPr>
          <p:nvPr/>
        </p:nvPicPr>
        <p:blipFill>
          <a:blip r:embed="rId4"/>
          <a:stretch>
            <a:fillRect/>
          </a:stretch>
        </p:blipFill>
        <p:spPr>
          <a:xfrm>
            <a:off x="3937195" y="3401568"/>
            <a:ext cx="10413609" cy="1280160"/>
          </a:xfrm>
          <a:prstGeom prst="rect">
            <a:avLst/>
          </a:prstGeom>
        </p:spPr>
      </p:pic>
      <p:sp>
        <p:nvSpPr>
          <p:cNvPr id="11" name="TextBox 10"/>
          <p:cNvSpPr txBox="1"/>
          <p:nvPr/>
        </p:nvSpPr>
        <p:spPr>
          <a:xfrm>
            <a:off x="1371600" y="5138928"/>
            <a:ext cx="4389120" cy="548640"/>
          </a:xfrm>
          <a:prstGeom prst="rect">
            <a:avLst/>
          </a:prstGeom>
          <a:noFill/>
        </p:spPr>
        <p:txBody>
          <a:bodyPr wrap="square" lIns="0" tIns="0" rIns="0" bIns="0">
            <a:spAutoFit/>
          </a:bodyPr>
          <a:lstStyle/>
          <a:p>
            <a:pPr algn="ctr">
              <a:lnSpc>
                <a:spcPct val="100000"/>
              </a:lnSpc>
              <a:spcBef>
                <a:spcPts val="0"/>
              </a:spcBef>
              <a:spcAft>
                <a:spcPts val="572"/>
              </a:spcAft>
              <a:defRPr sz="2600" b="1">
                <a:solidFill>
                  <a:srgbClr val="E37E03"/>
                </a:solidFill>
                <a:latin typeface="DM Sans Bold"/>
              </a:defRPr>
            </a:pPr>
            <a:r>
              <a:t>Set n = 2</a:t>
            </a:r>
          </a:p>
        </p:txBody>
      </p:sp>
      <p:sp>
        <p:nvSpPr>
          <p:cNvPr id="12" name="TextBox 11"/>
          <p:cNvSpPr txBox="1"/>
          <p:nvPr/>
        </p:nvSpPr>
        <p:spPr>
          <a:xfrm>
            <a:off x="6675120" y="5138928"/>
            <a:ext cx="4389120" cy="548640"/>
          </a:xfrm>
          <a:prstGeom prst="rect">
            <a:avLst/>
          </a:prstGeom>
          <a:noFill/>
        </p:spPr>
        <p:txBody>
          <a:bodyPr wrap="square" lIns="0" tIns="0" rIns="0" bIns="0">
            <a:spAutoFit/>
          </a:bodyPr>
          <a:lstStyle/>
          <a:p>
            <a:pPr algn="ctr">
              <a:lnSpc>
                <a:spcPct val="100000"/>
              </a:lnSpc>
              <a:spcBef>
                <a:spcPts val="0"/>
              </a:spcBef>
              <a:spcAft>
                <a:spcPts val="572"/>
              </a:spcAft>
              <a:defRPr sz="2600" b="1">
                <a:solidFill>
                  <a:srgbClr val="E37E03"/>
                </a:solidFill>
                <a:latin typeface="DM Sans Bold"/>
              </a:defRPr>
            </a:pPr>
            <a:r>
              <a:t>Expand the two sums</a:t>
            </a:r>
          </a:p>
        </p:txBody>
      </p:sp>
      <p:sp>
        <p:nvSpPr>
          <p:cNvPr id="13" name="TextBox 12"/>
          <p:cNvSpPr txBox="1"/>
          <p:nvPr/>
        </p:nvSpPr>
        <p:spPr>
          <a:xfrm>
            <a:off x="11978640" y="5138928"/>
            <a:ext cx="4389120" cy="548640"/>
          </a:xfrm>
          <a:prstGeom prst="rect">
            <a:avLst/>
          </a:prstGeom>
          <a:noFill/>
        </p:spPr>
        <p:txBody>
          <a:bodyPr wrap="square" lIns="0" tIns="0" rIns="0" bIns="0">
            <a:spAutoFit/>
          </a:bodyPr>
          <a:lstStyle/>
          <a:p>
            <a:pPr algn="ctr">
              <a:lnSpc>
                <a:spcPct val="100000"/>
              </a:lnSpc>
              <a:spcBef>
                <a:spcPts val="0"/>
              </a:spcBef>
              <a:spcAft>
                <a:spcPts val="572"/>
              </a:spcAft>
              <a:defRPr sz="2600" b="1">
                <a:solidFill>
                  <a:srgbClr val="E37E03"/>
                </a:solidFill>
                <a:latin typeface="DM Sans Bold"/>
              </a:defRPr>
            </a:pPr>
            <a:r>
              <a:t>Use a = 20, b = 0.2, c = 2π</a:t>
            </a:r>
          </a:p>
        </p:txBody>
      </p:sp>
      <p:sp>
        <p:nvSpPr>
          <p:cNvPr id="14" name="Right Arrow 13"/>
          <p:cNvSpPr/>
          <p:nvPr/>
        </p:nvSpPr>
        <p:spPr>
          <a:xfrm>
            <a:off x="5897880" y="5230368"/>
            <a:ext cx="640080" cy="365760"/>
          </a:xfrm>
          <a:prstGeom prst="rightArrow">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11201400" y="5230368"/>
            <a:ext cx="640080" cy="365760"/>
          </a:xfrm>
          <a:prstGeom prst="rightArrow">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24128" y="5989320"/>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THE FUNCTION IN OUR CODE</a:t>
            </a:r>
          </a:p>
        </p:txBody>
      </p:sp>
      <p:sp>
        <p:nvSpPr>
          <p:cNvPr id="17" name="Rounded Rectangle 16"/>
          <p:cNvSpPr/>
          <p:nvPr/>
        </p:nvSpPr>
        <p:spPr>
          <a:xfrm>
            <a:off x="1024128" y="6419088"/>
            <a:ext cx="16239744" cy="1828800"/>
          </a:xfrm>
          <a:prstGeom prst="roundRect">
            <a:avLst>
              <a:gd name="adj" fmla="val 7378"/>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two_dimensional_ackley" descr="f(x_1,x_2)=-20\exp\!\left(-0.2\sqrt{\frac{x_1^2+x_2^2}{2}}\right)-\exp\!\left(\frac{\cos(2\pi x_1)+\cos(2\pi x_2)}{2}\right)+20+e"/>
          <p:cNvPicPr>
            <a:picLocks noChangeAspect="1"/>
          </p:cNvPicPr>
          <p:nvPr/>
        </p:nvPicPr>
        <p:blipFill>
          <a:blip r:embed="rId5"/>
          <a:stretch>
            <a:fillRect/>
          </a:stretch>
        </p:blipFill>
        <p:spPr>
          <a:xfrm>
            <a:off x="1325880" y="6730254"/>
            <a:ext cx="15636240" cy="1206467"/>
          </a:xfrm>
          <a:prstGeom prst="rect">
            <a:avLst/>
          </a:prstGeom>
        </p:spPr>
      </p:pic>
      <p:sp>
        <p:nvSpPr>
          <p:cNvPr id="19" name="Rounded Rectangle 18"/>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Check it at the origin:    −20 − e + 20 + e  =  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01 - THE PROBLEM</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386"/>
              </a:spcAft>
              <a:defRPr sz="6300" b="0">
                <a:solidFill>
                  <a:srgbClr val="6F251B"/>
                </a:solidFill>
                <a:latin typeface="More Sugar"/>
              </a:defRPr>
            </a:pPr>
            <a:r>
              <a:t>One deep minimum. Many small traps.</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04</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bee"/>
          <p:cNvSpPr/>
          <p:nvPr/>
        </p:nvSpPr>
        <p:spPr>
          <a:xfrm rot="-771037">
            <a:off x="15910559" y="365760"/>
            <a:ext cx="1005840" cy="89611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Rounded Rectangle 7"/>
          <p:cNvSpPr/>
          <p:nvPr/>
        </p:nvSpPr>
        <p:spPr>
          <a:xfrm>
            <a:off x="1024128" y="2633472"/>
            <a:ext cx="11064240" cy="452628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01_ackley_landscape.png" descr="01_ackley_landscape.png"/>
          <p:cNvPicPr>
            <a:picLocks noChangeAspect="1"/>
          </p:cNvPicPr>
          <p:nvPr/>
        </p:nvPicPr>
        <p:blipFill>
          <a:blip r:embed="rId4"/>
          <a:stretch>
            <a:fillRect/>
          </a:stretch>
        </p:blipFill>
        <p:spPr>
          <a:xfrm>
            <a:off x="1680596" y="2724912"/>
            <a:ext cx="9751303" cy="4343400"/>
          </a:xfrm>
          <a:prstGeom prst="rect">
            <a:avLst/>
          </a:prstGeom>
        </p:spPr>
      </p:pic>
      <p:sp>
        <p:nvSpPr>
          <p:cNvPr id="10" name="Rounded Rectangle 9"/>
          <p:cNvSpPr/>
          <p:nvPr/>
        </p:nvSpPr>
        <p:spPr>
          <a:xfrm>
            <a:off x="1024128" y="7296912"/>
            <a:ext cx="11064240" cy="212140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02_ackley_slice.png" descr="02_ackley_slice.png"/>
          <p:cNvPicPr>
            <a:picLocks noChangeAspect="1"/>
          </p:cNvPicPr>
          <p:nvPr/>
        </p:nvPicPr>
        <p:blipFill>
          <a:blip r:embed="rId5"/>
          <a:stretch>
            <a:fillRect/>
          </a:stretch>
        </p:blipFill>
        <p:spPr>
          <a:xfrm>
            <a:off x="3660133" y="7388352"/>
            <a:ext cx="5792228" cy="1938528"/>
          </a:xfrm>
          <a:prstGeom prst="rect">
            <a:avLst/>
          </a:prstGeom>
        </p:spPr>
      </p:pic>
      <p:sp>
        <p:nvSpPr>
          <p:cNvPr id="12" name="Hexagon 11"/>
          <p:cNvSpPr/>
          <p:nvPr/>
        </p:nvSpPr>
        <p:spPr>
          <a:xfrm>
            <a:off x="12417552" y="2724912"/>
            <a:ext cx="1115568" cy="959388"/>
          </a:xfrm>
          <a:prstGeom prst="hexagon">
            <a:avLst/>
          </a:prstGeom>
          <a:solidFill>
            <a:srgbClr val="6F251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01</a:t>
            </a:r>
          </a:p>
        </p:txBody>
      </p:sp>
      <p:sp>
        <p:nvSpPr>
          <p:cNvPr id="13" name="TextBox 12"/>
          <p:cNvSpPr txBox="1"/>
          <p:nvPr/>
        </p:nvSpPr>
        <p:spPr>
          <a:xfrm>
            <a:off x="13898880" y="2679192"/>
            <a:ext cx="3291839" cy="502920"/>
          </a:xfrm>
          <a:prstGeom prst="rect">
            <a:avLst/>
          </a:prstGeom>
          <a:noFill/>
        </p:spPr>
        <p:txBody>
          <a:bodyPr wrap="square" lIns="0" tIns="0" rIns="0" bIns="0">
            <a:spAutoFit/>
          </a:bodyPr>
          <a:lstStyle/>
          <a:p>
            <a:pPr algn="l">
              <a:lnSpc>
                <a:spcPct val="100000"/>
              </a:lnSpc>
              <a:spcBef>
                <a:spcPts val="0"/>
              </a:spcBef>
              <a:spcAft>
                <a:spcPts val="594"/>
              </a:spcAft>
              <a:defRPr sz="2700" b="1">
                <a:solidFill>
                  <a:srgbClr val="6F251B"/>
                </a:solidFill>
                <a:latin typeface="DM Sans Bold"/>
              </a:defRPr>
            </a:pPr>
            <a:r>
              <a:t>One wide funnel</a:t>
            </a:r>
          </a:p>
        </p:txBody>
      </p:sp>
      <p:sp>
        <p:nvSpPr>
          <p:cNvPr id="14" name="TextBox 13"/>
          <p:cNvSpPr txBox="1"/>
          <p:nvPr/>
        </p:nvSpPr>
        <p:spPr>
          <a:xfrm>
            <a:off x="13898880" y="3246120"/>
            <a:ext cx="3291839" cy="822960"/>
          </a:xfrm>
          <a:prstGeom prst="rect">
            <a:avLst/>
          </a:prstGeom>
          <a:noFill/>
        </p:spPr>
        <p:txBody>
          <a:bodyPr wrap="square" lIns="0" tIns="0" rIns="0" bIns="0">
            <a:spAutoFit/>
          </a:bodyPr>
          <a:lstStyle/>
          <a:p>
            <a:pPr algn="l">
              <a:lnSpc>
                <a:spcPct val="100000"/>
              </a:lnSpc>
              <a:spcBef>
                <a:spcPts val="0"/>
              </a:spcBef>
              <a:spcAft>
                <a:spcPts val="462"/>
              </a:spcAft>
              <a:defRPr sz="2100" b="0">
                <a:solidFill>
                  <a:srgbClr val="6F251B"/>
                </a:solidFill>
                <a:latin typeface="DM Sans"/>
              </a:defRPr>
            </a:pPr>
            <a:r>
              <a:t>The smooth part slopes towards the centre.</a:t>
            </a:r>
          </a:p>
        </p:txBody>
      </p:sp>
      <p:sp>
        <p:nvSpPr>
          <p:cNvPr id="15" name="Hexagon 14"/>
          <p:cNvSpPr/>
          <p:nvPr/>
        </p:nvSpPr>
        <p:spPr>
          <a:xfrm>
            <a:off x="12417552" y="4370832"/>
            <a:ext cx="1115568" cy="959388"/>
          </a:xfrm>
          <a:prstGeom prst="hexagon">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02</a:t>
            </a:r>
          </a:p>
        </p:txBody>
      </p:sp>
      <p:sp>
        <p:nvSpPr>
          <p:cNvPr id="16" name="TextBox 15"/>
          <p:cNvSpPr txBox="1"/>
          <p:nvPr/>
        </p:nvSpPr>
        <p:spPr>
          <a:xfrm>
            <a:off x="13898880" y="4325112"/>
            <a:ext cx="3291839" cy="502920"/>
          </a:xfrm>
          <a:prstGeom prst="rect">
            <a:avLst/>
          </a:prstGeom>
          <a:noFill/>
        </p:spPr>
        <p:txBody>
          <a:bodyPr wrap="square" lIns="0" tIns="0" rIns="0" bIns="0">
            <a:spAutoFit/>
          </a:bodyPr>
          <a:lstStyle/>
          <a:p>
            <a:pPr algn="l">
              <a:lnSpc>
                <a:spcPct val="100000"/>
              </a:lnSpc>
              <a:spcBef>
                <a:spcPts val="0"/>
              </a:spcBef>
              <a:spcAft>
                <a:spcPts val="594"/>
              </a:spcAft>
              <a:defRPr sz="2700" b="1">
                <a:solidFill>
                  <a:srgbClr val="6F251B"/>
                </a:solidFill>
                <a:latin typeface="DM Sans Bold"/>
              </a:defRPr>
            </a:pPr>
            <a:r>
              <a:t>Many small traps</a:t>
            </a:r>
          </a:p>
        </p:txBody>
      </p:sp>
      <p:sp>
        <p:nvSpPr>
          <p:cNvPr id="17" name="TextBox 16"/>
          <p:cNvSpPr txBox="1"/>
          <p:nvPr/>
        </p:nvSpPr>
        <p:spPr>
          <a:xfrm>
            <a:off x="13898880" y="4892040"/>
            <a:ext cx="3291839" cy="822960"/>
          </a:xfrm>
          <a:prstGeom prst="rect">
            <a:avLst/>
          </a:prstGeom>
          <a:noFill/>
        </p:spPr>
        <p:txBody>
          <a:bodyPr wrap="square" lIns="0" tIns="0" rIns="0" bIns="0">
            <a:spAutoFit/>
          </a:bodyPr>
          <a:lstStyle/>
          <a:p>
            <a:pPr algn="l">
              <a:lnSpc>
                <a:spcPct val="100000"/>
              </a:lnSpc>
              <a:spcBef>
                <a:spcPts val="0"/>
              </a:spcBef>
              <a:spcAft>
                <a:spcPts val="462"/>
              </a:spcAft>
              <a:defRPr sz="2100" b="0">
                <a:solidFill>
                  <a:srgbClr val="6F251B"/>
                </a:solidFill>
                <a:latin typeface="DM Sans"/>
              </a:defRPr>
            </a:pPr>
            <a:r>
              <a:t>The cosine part adds dips everywhere.</a:t>
            </a:r>
          </a:p>
        </p:txBody>
      </p:sp>
      <p:sp>
        <p:nvSpPr>
          <p:cNvPr id="18" name="Hexagon 17"/>
          <p:cNvSpPr/>
          <p:nvPr/>
        </p:nvSpPr>
        <p:spPr>
          <a:xfrm>
            <a:off x="12417552" y="6016752"/>
            <a:ext cx="1115568" cy="959388"/>
          </a:xfrm>
          <a:prstGeom prst="hexagon">
            <a:avLst/>
          </a:prstGeom>
          <a:solidFill>
            <a:srgbClr val="CB6C2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03</a:t>
            </a:r>
          </a:p>
        </p:txBody>
      </p:sp>
      <p:sp>
        <p:nvSpPr>
          <p:cNvPr id="19" name="TextBox 18"/>
          <p:cNvSpPr txBox="1"/>
          <p:nvPr/>
        </p:nvSpPr>
        <p:spPr>
          <a:xfrm>
            <a:off x="13898880" y="5971032"/>
            <a:ext cx="3291839" cy="502920"/>
          </a:xfrm>
          <a:prstGeom prst="rect">
            <a:avLst/>
          </a:prstGeom>
          <a:noFill/>
        </p:spPr>
        <p:txBody>
          <a:bodyPr wrap="square" lIns="0" tIns="0" rIns="0" bIns="0">
            <a:spAutoFit/>
          </a:bodyPr>
          <a:lstStyle/>
          <a:p>
            <a:pPr algn="l">
              <a:lnSpc>
                <a:spcPct val="100000"/>
              </a:lnSpc>
              <a:spcBef>
                <a:spcPts val="0"/>
              </a:spcBef>
              <a:spcAft>
                <a:spcPts val="594"/>
              </a:spcAft>
              <a:defRPr sz="2700" b="1">
                <a:solidFill>
                  <a:srgbClr val="6F251B"/>
                </a:solidFill>
                <a:latin typeface="DM Sans Bold"/>
              </a:defRPr>
            </a:pPr>
            <a:r>
              <a:t>Too big to scan</a:t>
            </a:r>
          </a:p>
        </p:txBody>
      </p:sp>
      <p:sp>
        <p:nvSpPr>
          <p:cNvPr id="20" name="TextBox 19"/>
          <p:cNvSpPr txBox="1"/>
          <p:nvPr/>
        </p:nvSpPr>
        <p:spPr>
          <a:xfrm>
            <a:off x="13898880" y="6537959"/>
            <a:ext cx="3291839" cy="822960"/>
          </a:xfrm>
          <a:prstGeom prst="rect">
            <a:avLst/>
          </a:prstGeom>
          <a:noFill/>
        </p:spPr>
        <p:txBody>
          <a:bodyPr wrap="square" lIns="0" tIns="0" rIns="0" bIns="0">
            <a:spAutoFit/>
          </a:bodyPr>
          <a:lstStyle/>
          <a:p>
            <a:pPr algn="l">
              <a:lnSpc>
                <a:spcPct val="100000"/>
              </a:lnSpc>
              <a:spcBef>
                <a:spcPts val="0"/>
              </a:spcBef>
              <a:spcAft>
                <a:spcPts val="462"/>
              </a:spcAft>
              <a:defRPr sz="2100" b="0">
                <a:solidFill>
                  <a:srgbClr val="6F251B"/>
                </a:solidFill>
                <a:latin typeface="DM Sans"/>
              </a:defRPr>
            </a:pPr>
            <a:r>
              <a:t>A 10⁻⁶ grid would need ~10¹⁴ points.</a:t>
            </a:r>
          </a:p>
        </p:txBody>
      </p:sp>
      <p:sp>
        <p:nvSpPr>
          <p:cNvPr id="21" name="Rounded Rectangle 20"/>
          <p:cNvSpPr/>
          <p:nvPr/>
        </p:nvSpPr>
        <p:spPr>
          <a:xfrm>
            <a:off x="12417552" y="7680960"/>
            <a:ext cx="4846320" cy="1737360"/>
          </a:xfrm>
          <a:prstGeom prst="roundRect">
            <a:avLst>
              <a:gd name="adj" fmla="val 9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710160" y="8028431"/>
            <a:ext cx="4297680" cy="1188720"/>
          </a:xfrm>
          <a:prstGeom prst="rect">
            <a:avLst/>
          </a:prstGeom>
          <a:noFill/>
        </p:spPr>
        <p:txBody>
          <a:bodyPr wrap="square" lIns="0" tIns="0" rIns="0" bIns="0">
            <a:spAutoFit/>
          </a:bodyPr>
          <a:lstStyle/>
          <a:p>
            <a:pPr>
              <a:lnSpc>
                <a:spcPct val="100000"/>
              </a:lnSpc>
              <a:spcBef>
                <a:spcPts val="0"/>
              </a:spcBef>
              <a:spcAft>
                <a:spcPts val="550"/>
              </a:spcAft>
              <a:defRPr sz="2500" b="1">
                <a:solidFill>
                  <a:srgbClr val="6F251B"/>
                </a:solidFill>
                <a:latin typeface="DM Sans Bold"/>
              </a:defRPr>
            </a:pPr>
            <a:r>
              <a:t>A plain downhill search</a:t>
            </a:r>
          </a:p>
          <a:p>
            <a:pPr>
              <a:lnSpc>
                <a:spcPct val="100000"/>
              </a:lnSpc>
              <a:spcBef>
                <a:spcPts val="0"/>
              </a:spcBef>
              <a:spcAft>
                <a:spcPts val="550"/>
              </a:spcAft>
              <a:defRPr sz="2500" b="1">
                <a:solidFill>
                  <a:srgbClr val="6F251B"/>
                </a:solidFill>
                <a:latin typeface="DM Sans Bold"/>
              </a:defRPr>
            </a:pPr>
            <a:r>
              <a:t>can stop in any of the dips.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02 - THE BEE COLONY</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605"/>
              </a:spcAft>
              <a:defRPr sz="7300" b="0">
                <a:solidFill>
                  <a:srgbClr val="6F251B"/>
                </a:solidFill>
                <a:latin typeface="More Sugar"/>
              </a:defRPr>
            </a:pPr>
            <a:r>
              <a:t>A colony instead of a population</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05</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honeycomb"/>
          <p:cNvSpPr/>
          <p:nvPr/>
        </p:nvSpPr>
        <p:spPr>
          <a:xfrm>
            <a:off x="-2011680" y="7818120"/>
            <a:ext cx="6035040" cy="4206240"/>
          </a:xfrm>
          <a:custGeom>
            <a:avLst/>
            <a:gdLst/>
            <a:ahLst/>
            <a:cxnLst/>
            <a:rect l="l" t="t" r="r" b="b"/>
            <a:pathLst>
              <a:path w="7975531" h="5546173">
                <a:moveTo>
                  <a:pt x="0" y="0"/>
                </a:moveTo>
                <a:lnTo>
                  <a:pt x="7975531" y="0"/>
                </a:lnTo>
                <a:lnTo>
                  <a:pt x="7975531" y="5546173"/>
                </a:lnTo>
                <a:lnTo>
                  <a:pt x="0" y="55461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7"/>
          <p:cNvSpPr txBox="1"/>
          <p:nvPr/>
        </p:nvSpPr>
        <p:spPr>
          <a:xfrm>
            <a:off x="1024128" y="2651760"/>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BEE LANGUAGE → OUR PROGRAM</a:t>
            </a:r>
          </a:p>
        </p:txBody>
      </p:sp>
      <p:graphicFrame>
        <p:nvGraphicFramePr>
          <p:cNvPr id="9" name="Table 8"/>
          <p:cNvGraphicFramePr>
            <a:graphicFrameLocks noGrp="1"/>
          </p:cNvGraphicFramePr>
          <p:nvPr/>
        </p:nvGraphicFramePr>
        <p:xfrm>
          <a:off x="1024128" y="3072384"/>
          <a:ext cx="8001000" cy="438912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tblGrid>
              <a:tr h="731520">
                <a:tc>
                  <a:txBody>
                    <a:bodyPr/>
                    <a:lstStyle/>
                    <a:p>
                      <a:pPr>
                        <a:defRPr sz="2400" b="1">
                          <a:solidFill>
                            <a:srgbClr val="FFFFFF"/>
                          </a:solidFill>
                          <a:latin typeface="DM Sans Bold"/>
                        </a:defRPr>
                      </a:pPr>
                      <a:r>
                        <a:t>In the hive</a:t>
                      </a:r>
                    </a:p>
                  </a:txBody>
                  <a:tcPr marL="182880" marR="128016" marT="54864" marB="36576" anchor="ctr">
                    <a:solidFill>
                      <a:srgbClr val="6F251B"/>
                    </a:solidFill>
                  </a:tcPr>
                </a:tc>
                <a:tc>
                  <a:txBody>
                    <a:bodyPr/>
                    <a:lstStyle/>
                    <a:p>
                      <a:pPr>
                        <a:defRPr sz="2400" b="1">
                          <a:solidFill>
                            <a:srgbClr val="FFFFFF"/>
                          </a:solidFill>
                          <a:latin typeface="DM Sans Bold"/>
                        </a:defRPr>
                      </a:pPr>
                      <a:r>
                        <a:t>In the program</a:t>
                      </a:r>
                    </a:p>
                  </a:txBody>
                  <a:tcPr marL="182880" marR="128016" marT="54864" marB="36576" anchor="ctr">
                    <a:solidFill>
                      <a:srgbClr val="6F251B"/>
                    </a:solidFill>
                  </a:tcPr>
                </a:tc>
                <a:extLst>
                  <a:ext uri="{0D108BD9-81ED-4DB2-BD59-A6C34878D82A}">
                    <a16:rowId xmlns:a16="http://schemas.microsoft.com/office/drawing/2014/main" val="10000"/>
                  </a:ext>
                </a:extLst>
              </a:tr>
              <a:tr h="731520">
                <a:tc>
                  <a:txBody>
                    <a:bodyPr/>
                    <a:lstStyle/>
                    <a:p>
                      <a:pPr>
                        <a:defRPr sz="2400" b="0">
                          <a:solidFill>
                            <a:srgbClr val="6F251B"/>
                          </a:solidFill>
                          <a:latin typeface="DM Sans"/>
                        </a:defRPr>
                      </a:pPr>
                      <a:r>
                        <a:t>Food source</a:t>
                      </a:r>
                    </a:p>
                  </a:txBody>
                  <a:tcPr marL="182880" marR="128016" marT="54864" marB="36576" anchor="ctr">
                    <a:solidFill>
                      <a:srgbClr val="FFFFFF"/>
                    </a:solidFill>
                  </a:tcPr>
                </a:tc>
                <a:tc>
                  <a:txBody>
                    <a:bodyPr/>
                    <a:lstStyle/>
                    <a:p>
                      <a:pPr>
                        <a:defRPr sz="2400" b="0">
                          <a:solidFill>
                            <a:srgbClr val="6F251B"/>
                          </a:solidFill>
                          <a:latin typeface="DM Sans"/>
                        </a:defRPr>
                      </a:pPr>
                      <a:r>
                        <a:t>one answer [x₁, x₂]</a:t>
                      </a:r>
                    </a:p>
                  </a:txBody>
                  <a:tcPr marL="182880" marR="128016" marT="54864" marB="36576" anchor="ctr">
                    <a:solidFill>
                      <a:srgbClr val="FFFFFF"/>
                    </a:solidFill>
                  </a:tcPr>
                </a:tc>
                <a:extLst>
                  <a:ext uri="{0D108BD9-81ED-4DB2-BD59-A6C34878D82A}">
                    <a16:rowId xmlns:a16="http://schemas.microsoft.com/office/drawing/2014/main" val="10001"/>
                  </a:ext>
                </a:extLst>
              </a:tr>
              <a:tr h="731520">
                <a:tc>
                  <a:txBody>
                    <a:bodyPr/>
                    <a:lstStyle/>
                    <a:p>
                      <a:pPr>
                        <a:defRPr sz="2400" b="0">
                          <a:solidFill>
                            <a:srgbClr val="6F251B"/>
                          </a:solidFill>
                          <a:latin typeface="DM Sans"/>
                        </a:defRPr>
                      </a:pPr>
                      <a:r>
                        <a:t>Nectar amount</a:t>
                      </a:r>
                    </a:p>
                  </a:txBody>
                  <a:tcPr marL="182880" marR="128016" marT="54864" marB="36576" anchor="ctr">
                    <a:solidFill>
                      <a:srgbClr val="F3E7D2"/>
                    </a:solidFill>
                  </a:tcPr>
                </a:tc>
                <a:tc>
                  <a:txBody>
                    <a:bodyPr/>
                    <a:lstStyle/>
                    <a:p>
                      <a:pPr>
                        <a:defRPr sz="2400" b="0">
                          <a:solidFill>
                            <a:srgbClr val="6F251B"/>
                          </a:solidFill>
                          <a:latin typeface="DM Sans"/>
                        </a:defRPr>
                      </a:pPr>
                      <a:r>
                        <a:t>fitness, bigger is better</a:t>
                      </a:r>
                    </a:p>
                  </a:txBody>
                  <a:tcPr marL="182880" marR="128016" marT="54864" marB="36576" anchor="ctr">
                    <a:solidFill>
                      <a:srgbClr val="F3E7D2"/>
                    </a:solidFill>
                  </a:tcPr>
                </a:tc>
                <a:extLst>
                  <a:ext uri="{0D108BD9-81ED-4DB2-BD59-A6C34878D82A}">
                    <a16:rowId xmlns:a16="http://schemas.microsoft.com/office/drawing/2014/main" val="10002"/>
                  </a:ext>
                </a:extLst>
              </a:tr>
              <a:tr h="731520">
                <a:tc>
                  <a:txBody>
                    <a:bodyPr/>
                    <a:lstStyle/>
                    <a:p>
                      <a:pPr>
                        <a:defRPr sz="2400" b="0">
                          <a:solidFill>
                            <a:srgbClr val="6F251B"/>
                          </a:solidFill>
                          <a:latin typeface="DM Sans"/>
                        </a:defRPr>
                      </a:pPr>
                      <a:r>
                        <a:t>Employed bee</a:t>
                      </a:r>
                    </a:p>
                  </a:txBody>
                  <a:tcPr marL="182880" marR="128016" marT="54864" marB="36576" anchor="ctr">
                    <a:solidFill>
                      <a:srgbClr val="FFFFFF"/>
                    </a:solidFill>
                  </a:tcPr>
                </a:tc>
                <a:tc>
                  <a:txBody>
                    <a:bodyPr/>
                    <a:lstStyle/>
                    <a:p>
                      <a:pPr>
                        <a:defRPr sz="2400" b="0">
                          <a:solidFill>
                            <a:srgbClr val="6F251B"/>
                          </a:solidFill>
                          <a:latin typeface="DM Sans"/>
                        </a:defRPr>
                      </a:pPr>
                      <a:r>
                        <a:t>improves its own source</a:t>
                      </a:r>
                    </a:p>
                  </a:txBody>
                  <a:tcPr marL="182880" marR="128016" marT="54864" marB="36576" anchor="ctr">
                    <a:solidFill>
                      <a:srgbClr val="FFFFFF"/>
                    </a:solidFill>
                  </a:tcPr>
                </a:tc>
                <a:extLst>
                  <a:ext uri="{0D108BD9-81ED-4DB2-BD59-A6C34878D82A}">
                    <a16:rowId xmlns:a16="http://schemas.microsoft.com/office/drawing/2014/main" val="10003"/>
                  </a:ext>
                </a:extLst>
              </a:tr>
              <a:tr h="731520">
                <a:tc>
                  <a:txBody>
                    <a:bodyPr/>
                    <a:lstStyle/>
                    <a:p>
                      <a:pPr>
                        <a:defRPr sz="2400" b="0">
                          <a:solidFill>
                            <a:srgbClr val="6F251B"/>
                          </a:solidFill>
                          <a:latin typeface="DM Sans"/>
                        </a:defRPr>
                      </a:pPr>
                      <a:r>
                        <a:t>Onlooker bee</a:t>
                      </a:r>
                    </a:p>
                  </a:txBody>
                  <a:tcPr marL="182880" marR="128016" marT="54864" marB="36576" anchor="ctr">
                    <a:solidFill>
                      <a:srgbClr val="F3E7D2"/>
                    </a:solidFill>
                  </a:tcPr>
                </a:tc>
                <a:tc>
                  <a:txBody>
                    <a:bodyPr/>
                    <a:lstStyle/>
                    <a:p>
                      <a:pPr>
                        <a:defRPr sz="2400" b="0">
                          <a:solidFill>
                            <a:srgbClr val="6F251B"/>
                          </a:solidFill>
                          <a:latin typeface="DM Sans"/>
                        </a:defRPr>
                      </a:pPr>
                      <a:r>
                        <a:t>helps the richest sources</a:t>
                      </a:r>
                    </a:p>
                  </a:txBody>
                  <a:tcPr marL="182880" marR="128016" marT="54864" marB="36576" anchor="ctr">
                    <a:solidFill>
                      <a:srgbClr val="F3E7D2"/>
                    </a:solidFill>
                  </a:tcPr>
                </a:tc>
                <a:extLst>
                  <a:ext uri="{0D108BD9-81ED-4DB2-BD59-A6C34878D82A}">
                    <a16:rowId xmlns:a16="http://schemas.microsoft.com/office/drawing/2014/main" val="10004"/>
                  </a:ext>
                </a:extLst>
              </a:tr>
              <a:tr h="731520">
                <a:tc>
                  <a:txBody>
                    <a:bodyPr/>
                    <a:lstStyle/>
                    <a:p>
                      <a:pPr>
                        <a:defRPr sz="2400" b="0">
                          <a:solidFill>
                            <a:srgbClr val="6F251B"/>
                          </a:solidFill>
                          <a:latin typeface="DM Sans"/>
                        </a:defRPr>
                      </a:pPr>
                      <a:r>
                        <a:t>Scout bee</a:t>
                      </a:r>
                    </a:p>
                  </a:txBody>
                  <a:tcPr marL="182880" marR="128016" marT="54864" marB="36576" anchor="ctr">
                    <a:solidFill>
                      <a:srgbClr val="FFFFFF"/>
                    </a:solidFill>
                  </a:tcPr>
                </a:tc>
                <a:tc>
                  <a:txBody>
                    <a:bodyPr/>
                    <a:lstStyle/>
                    <a:p>
                      <a:pPr>
                        <a:defRPr sz="2400" b="0">
                          <a:solidFill>
                            <a:srgbClr val="6F251B"/>
                          </a:solidFill>
                          <a:latin typeface="DM Sans"/>
                        </a:defRPr>
                      </a:pPr>
                      <a:r>
                        <a:t>restarts a stuck source</a:t>
                      </a:r>
                    </a:p>
                  </a:txBody>
                  <a:tcPr marL="182880" marR="128016" marT="54864" marB="36576" anchor="ctr">
                    <a:solidFill>
                      <a:srgbClr val="FFFFFF"/>
                    </a:solidFill>
                  </a:tcPr>
                </a:tc>
                <a:extLst>
                  <a:ext uri="{0D108BD9-81ED-4DB2-BD59-A6C34878D82A}">
                    <a16:rowId xmlns:a16="http://schemas.microsoft.com/office/drawing/2014/main" val="10005"/>
                  </a:ext>
                </a:extLst>
              </a:tr>
            </a:tbl>
          </a:graphicData>
        </a:graphic>
      </p:graphicFrame>
      <p:sp>
        <p:nvSpPr>
          <p:cNvPr id="10" name="Rounded Rectangle 9"/>
          <p:cNvSpPr/>
          <p:nvPr/>
        </p:nvSpPr>
        <p:spPr>
          <a:xfrm>
            <a:off x="1024128" y="7607808"/>
            <a:ext cx="7936992" cy="1024128"/>
          </a:xfrm>
          <a:prstGeom prst="roundRect">
            <a:avLst>
              <a:gd name="adj" fmla="val 787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25880" y="7790688"/>
            <a:ext cx="7406640" cy="914400"/>
          </a:xfrm>
          <a:prstGeom prst="rect">
            <a:avLst/>
          </a:prstGeom>
          <a:noFill/>
        </p:spPr>
        <p:txBody>
          <a:bodyPr wrap="square" lIns="0" tIns="0" rIns="0" bIns="0">
            <a:spAutoFit/>
          </a:bodyPr>
          <a:lstStyle/>
          <a:p>
            <a:pPr>
              <a:lnSpc>
                <a:spcPct val="100000"/>
              </a:lnSpc>
              <a:spcBef>
                <a:spcPts val="0"/>
              </a:spcBef>
              <a:spcAft>
                <a:spcPts val="505"/>
              </a:spcAft>
              <a:defRPr sz="2300" b="0">
                <a:solidFill>
                  <a:srgbClr val="6F251B"/>
                </a:solidFill>
                <a:latin typeface="DM Sans"/>
              </a:defRPr>
            </a:pPr>
            <a:r>
              <a:t>Published by Dervis Karaboga in 2005,</a:t>
            </a:r>
          </a:p>
          <a:p>
            <a:pPr>
              <a:lnSpc>
                <a:spcPct val="100000"/>
              </a:lnSpc>
              <a:spcBef>
                <a:spcPts val="0"/>
              </a:spcBef>
              <a:spcAft>
                <a:spcPts val="505"/>
              </a:spcAft>
              <a:defRPr sz="2300" b="0">
                <a:solidFill>
                  <a:srgbClr val="6F251B"/>
                </a:solidFill>
                <a:latin typeface="DM Sans"/>
              </a:defRPr>
            </a:pPr>
            <a:r>
              <a:t>after the foraging behaviour of honey bees.</a:t>
            </a:r>
          </a:p>
        </p:txBody>
      </p:sp>
      <p:sp>
        <p:nvSpPr>
          <p:cNvPr id="12" name="Rounded Rectangle 11"/>
          <p:cNvSpPr/>
          <p:nvPr/>
        </p:nvSpPr>
        <p:spPr>
          <a:xfrm>
            <a:off x="9326880" y="2633472"/>
            <a:ext cx="7936992" cy="598932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03_initial_sources.png" descr="03_initial_sources.png"/>
          <p:cNvPicPr>
            <a:picLocks noChangeAspect="1"/>
          </p:cNvPicPr>
          <p:nvPr/>
        </p:nvPicPr>
        <p:blipFill>
          <a:blip r:embed="rId4"/>
          <a:stretch>
            <a:fillRect/>
          </a:stretch>
        </p:blipFill>
        <p:spPr>
          <a:xfrm>
            <a:off x="10458775" y="2724912"/>
            <a:ext cx="5673200" cy="5806440"/>
          </a:xfrm>
          <a:prstGeom prst="rect">
            <a:avLst/>
          </a:prstGeom>
        </p:spPr>
      </p:pic>
      <p:sp>
        <p:nvSpPr>
          <p:cNvPr id="14" name="Rounded Rectangle 13"/>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25 food sources explore at once. Better sources attract more of the colony's effort.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02 - THE BEE COLONY</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Three bees, three jobs</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06</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hive_branch"/>
          <p:cNvSpPr/>
          <p:nvPr/>
        </p:nvSpPr>
        <p:spPr>
          <a:xfrm flipH="1">
            <a:off x="12893040" y="-2103120"/>
            <a:ext cx="5760720" cy="3931920"/>
          </a:xfrm>
          <a:custGeom>
            <a:avLst/>
            <a:gdLst/>
            <a:ahLst/>
            <a:cxnLst/>
            <a:rect l="l" t="t" r="r" b="b"/>
            <a:pathLst>
              <a:path w="6806640" h="4662894">
                <a:moveTo>
                  <a:pt x="6806639" y="0"/>
                </a:moveTo>
                <a:lnTo>
                  <a:pt x="0" y="0"/>
                </a:lnTo>
                <a:lnTo>
                  <a:pt x="0" y="4662894"/>
                </a:lnTo>
                <a:lnTo>
                  <a:pt x="6806639" y="4662894"/>
                </a:lnTo>
                <a:lnTo>
                  <a:pt x="6806639"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Reveal_1"/>
          <p:cNvSpPr/>
          <p:nvPr/>
        </p:nvSpPr>
        <p:spPr>
          <a:xfrm>
            <a:off x="1024128" y="2670048"/>
            <a:ext cx="5166360" cy="59436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veal_1_head"/>
          <p:cNvSpPr/>
          <p:nvPr/>
        </p:nvSpPr>
        <p:spPr>
          <a:xfrm>
            <a:off x="1024128" y="2670048"/>
            <a:ext cx="5166360" cy="932688"/>
          </a:xfrm>
          <a:prstGeom prst="roundRect">
            <a:avLst>
              <a:gd name="adj" fmla="val 9000"/>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veal_1_title"/>
          <p:cNvSpPr txBox="1"/>
          <p:nvPr/>
        </p:nvSpPr>
        <p:spPr>
          <a:xfrm>
            <a:off x="1335024" y="2889504"/>
            <a:ext cx="4572000" cy="548640"/>
          </a:xfrm>
          <a:prstGeom prst="rect">
            <a:avLst/>
          </a:prstGeom>
          <a:noFill/>
        </p:spPr>
        <p:txBody>
          <a:bodyPr wrap="square" lIns="0" tIns="0" rIns="0" bIns="0">
            <a:spAutoFit/>
          </a:bodyPr>
          <a:lstStyle/>
          <a:p>
            <a:pPr>
              <a:lnSpc>
                <a:spcPct val="100000"/>
              </a:lnSpc>
              <a:spcBef>
                <a:spcPts val="0"/>
              </a:spcBef>
              <a:spcAft>
                <a:spcPts val="572"/>
              </a:spcAft>
              <a:defRPr sz="2600" b="1">
                <a:solidFill>
                  <a:srgbClr val="6F251B"/>
                </a:solidFill>
                <a:latin typeface="DM Sans Bold"/>
              </a:defRPr>
            </a:pPr>
            <a:r>
              <a:t>EMPLOYED BEES</a:t>
            </a:r>
          </a:p>
        </p:txBody>
      </p:sp>
      <p:sp>
        <p:nvSpPr>
          <p:cNvPr id="11" name="Reveal_1_sub"/>
          <p:cNvSpPr txBox="1"/>
          <p:nvPr/>
        </p:nvSpPr>
        <p:spPr>
          <a:xfrm>
            <a:off x="1335024" y="3785615"/>
            <a:ext cx="4572000" cy="45720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25 bees, one per source</a:t>
            </a:r>
          </a:p>
        </p:txBody>
      </p:sp>
      <p:sp>
        <p:nvSpPr>
          <p:cNvPr id="12" name="Reveal_1_body"/>
          <p:cNvSpPr txBox="1"/>
          <p:nvPr/>
        </p:nvSpPr>
        <p:spPr>
          <a:xfrm>
            <a:off x="1335024" y="4370832"/>
            <a:ext cx="4617720" cy="1554480"/>
          </a:xfrm>
          <a:prstGeom prst="rect">
            <a:avLst/>
          </a:prstGeom>
          <a:noFill/>
        </p:spPr>
        <p:txBody>
          <a:bodyPr wrap="square" lIns="0" tIns="0" rIns="0" bIns="0">
            <a:spAutoFit/>
          </a:bodyPr>
          <a:lstStyle/>
          <a:p>
            <a:pPr>
              <a:lnSpc>
                <a:spcPct val="100000"/>
              </a:lnSpc>
              <a:spcBef>
                <a:spcPts val="0"/>
              </a:spcBef>
              <a:spcAft>
                <a:spcPts val="528"/>
              </a:spcAft>
              <a:defRPr sz="2400" b="0">
                <a:solidFill>
                  <a:srgbClr val="6F251B"/>
                </a:solidFill>
                <a:latin typeface="DM Sans"/>
              </a:defRPr>
            </a:pPr>
            <a:r>
              <a:t>Try one point next to your own</a:t>
            </a:r>
          </a:p>
          <a:p>
            <a:pPr>
              <a:lnSpc>
                <a:spcPct val="100000"/>
              </a:lnSpc>
              <a:spcBef>
                <a:spcPts val="0"/>
              </a:spcBef>
              <a:spcAft>
                <a:spcPts val="528"/>
              </a:spcAft>
              <a:defRPr sz="2400" b="0">
                <a:solidFill>
                  <a:srgbClr val="6F251B"/>
                </a:solidFill>
                <a:latin typeface="DM Sans"/>
              </a:defRPr>
            </a:pPr>
            <a:r>
              <a:t>source. Keep the better one.</a:t>
            </a:r>
          </a:p>
        </p:txBody>
      </p:sp>
      <p:sp>
        <p:nvSpPr>
          <p:cNvPr id="13" name="Template artwork - bee"/>
          <p:cNvSpPr/>
          <p:nvPr/>
        </p:nvSpPr>
        <p:spPr>
          <a:xfrm rot="-771037">
            <a:off x="2898648" y="6035040"/>
            <a:ext cx="1417320" cy="126187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Reveal_1_purpose"/>
          <p:cNvSpPr txBox="1"/>
          <p:nvPr/>
        </p:nvSpPr>
        <p:spPr>
          <a:xfrm>
            <a:off x="1335024" y="7699248"/>
            <a:ext cx="4572000" cy="640080"/>
          </a:xfrm>
          <a:prstGeom prst="rect">
            <a:avLst/>
          </a:prstGeom>
          <a:noFill/>
        </p:spPr>
        <p:txBody>
          <a:bodyPr wrap="square" lIns="0" tIns="0" rIns="0" bIns="0">
            <a:spAutoFit/>
          </a:bodyPr>
          <a:lstStyle/>
          <a:p>
            <a:pPr algn="ctr">
              <a:lnSpc>
                <a:spcPct val="100000"/>
              </a:lnSpc>
              <a:spcBef>
                <a:spcPts val="0"/>
              </a:spcBef>
              <a:spcAft>
                <a:spcPts val="660"/>
              </a:spcAft>
              <a:defRPr sz="3000" b="0">
                <a:solidFill>
                  <a:srgbClr val="E37E03"/>
                </a:solidFill>
                <a:latin typeface="More Sugar"/>
              </a:defRPr>
            </a:pPr>
            <a:r>
              <a:t>Exploitation</a:t>
            </a:r>
          </a:p>
        </p:txBody>
      </p:sp>
      <p:sp>
        <p:nvSpPr>
          <p:cNvPr id="15" name="Right Arrow 14"/>
          <p:cNvSpPr/>
          <p:nvPr/>
        </p:nvSpPr>
        <p:spPr>
          <a:xfrm>
            <a:off x="6291072" y="5303520"/>
            <a:ext cx="411480" cy="384048"/>
          </a:xfrm>
          <a:prstGeom prst="rightArrow">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veal_2"/>
          <p:cNvSpPr/>
          <p:nvPr/>
        </p:nvSpPr>
        <p:spPr>
          <a:xfrm>
            <a:off x="6556248" y="2670048"/>
            <a:ext cx="5166360" cy="59436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veal_2_head"/>
          <p:cNvSpPr/>
          <p:nvPr/>
        </p:nvSpPr>
        <p:spPr>
          <a:xfrm>
            <a:off x="6556248" y="2670048"/>
            <a:ext cx="5166360" cy="932688"/>
          </a:xfrm>
          <a:prstGeom prst="roundRect">
            <a:avLst>
              <a:gd name="adj" fmla="val 9000"/>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veal_2_title"/>
          <p:cNvSpPr txBox="1"/>
          <p:nvPr/>
        </p:nvSpPr>
        <p:spPr>
          <a:xfrm>
            <a:off x="6867144" y="2889504"/>
            <a:ext cx="4572000" cy="548640"/>
          </a:xfrm>
          <a:prstGeom prst="rect">
            <a:avLst/>
          </a:prstGeom>
          <a:noFill/>
        </p:spPr>
        <p:txBody>
          <a:bodyPr wrap="square" lIns="0" tIns="0" rIns="0" bIns="0">
            <a:spAutoFit/>
          </a:bodyPr>
          <a:lstStyle/>
          <a:p>
            <a:pPr>
              <a:lnSpc>
                <a:spcPct val="100000"/>
              </a:lnSpc>
              <a:spcBef>
                <a:spcPts val="0"/>
              </a:spcBef>
              <a:spcAft>
                <a:spcPts val="572"/>
              </a:spcAft>
              <a:defRPr sz="2600" b="1">
                <a:solidFill>
                  <a:srgbClr val="FFFFFF"/>
                </a:solidFill>
                <a:latin typeface="DM Sans Bold"/>
              </a:defRPr>
            </a:pPr>
            <a:r>
              <a:t>ONLOOKER BEES</a:t>
            </a:r>
          </a:p>
        </p:txBody>
      </p:sp>
      <p:sp>
        <p:nvSpPr>
          <p:cNvPr id="19" name="Reveal_2_sub"/>
          <p:cNvSpPr txBox="1"/>
          <p:nvPr/>
        </p:nvSpPr>
        <p:spPr>
          <a:xfrm>
            <a:off x="6867144" y="3785615"/>
            <a:ext cx="4572000" cy="45720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25 bees, no source of their own</a:t>
            </a:r>
          </a:p>
        </p:txBody>
      </p:sp>
      <p:sp>
        <p:nvSpPr>
          <p:cNvPr id="20" name="Reveal_2_body"/>
          <p:cNvSpPr txBox="1"/>
          <p:nvPr/>
        </p:nvSpPr>
        <p:spPr>
          <a:xfrm>
            <a:off x="6867144" y="4370832"/>
            <a:ext cx="4617720" cy="1554480"/>
          </a:xfrm>
          <a:prstGeom prst="rect">
            <a:avLst/>
          </a:prstGeom>
          <a:noFill/>
        </p:spPr>
        <p:txBody>
          <a:bodyPr wrap="square" lIns="0" tIns="0" rIns="0" bIns="0">
            <a:spAutoFit/>
          </a:bodyPr>
          <a:lstStyle/>
          <a:p>
            <a:pPr>
              <a:lnSpc>
                <a:spcPct val="100000"/>
              </a:lnSpc>
              <a:spcBef>
                <a:spcPts val="0"/>
              </a:spcBef>
              <a:spcAft>
                <a:spcPts val="528"/>
              </a:spcAft>
              <a:defRPr sz="2400" b="0">
                <a:solidFill>
                  <a:srgbClr val="6F251B"/>
                </a:solidFill>
                <a:latin typeface="DM Sans"/>
              </a:defRPr>
            </a:pPr>
            <a:r>
              <a:t>Watch the dance, pick a source</a:t>
            </a:r>
          </a:p>
          <a:p>
            <a:pPr>
              <a:lnSpc>
                <a:spcPct val="100000"/>
              </a:lnSpc>
              <a:spcBef>
                <a:spcPts val="0"/>
              </a:spcBef>
              <a:spcAft>
                <a:spcPts val="528"/>
              </a:spcAft>
              <a:defRPr sz="2400" b="0">
                <a:solidFill>
                  <a:srgbClr val="6F251B"/>
                </a:solidFill>
                <a:latin typeface="DM Sans"/>
              </a:defRPr>
            </a:pPr>
            <a:r>
              <a:t>by roulette wheel, search near it.</a:t>
            </a:r>
          </a:p>
        </p:txBody>
      </p:sp>
      <p:sp>
        <p:nvSpPr>
          <p:cNvPr id="21" name="Template artwork - bee"/>
          <p:cNvSpPr/>
          <p:nvPr/>
        </p:nvSpPr>
        <p:spPr>
          <a:xfrm rot="-771037">
            <a:off x="8430767" y="6035040"/>
            <a:ext cx="1417320" cy="126187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2" name="Reveal_2_purpose"/>
          <p:cNvSpPr txBox="1"/>
          <p:nvPr/>
        </p:nvSpPr>
        <p:spPr>
          <a:xfrm>
            <a:off x="6867144" y="7699248"/>
            <a:ext cx="4572000" cy="640080"/>
          </a:xfrm>
          <a:prstGeom prst="rect">
            <a:avLst/>
          </a:prstGeom>
          <a:noFill/>
        </p:spPr>
        <p:txBody>
          <a:bodyPr wrap="square" lIns="0" tIns="0" rIns="0" bIns="0">
            <a:spAutoFit/>
          </a:bodyPr>
          <a:lstStyle/>
          <a:p>
            <a:pPr algn="ctr">
              <a:lnSpc>
                <a:spcPct val="100000"/>
              </a:lnSpc>
              <a:spcBef>
                <a:spcPts val="0"/>
              </a:spcBef>
              <a:spcAft>
                <a:spcPts val="660"/>
              </a:spcAft>
              <a:defRPr sz="3000" b="0">
                <a:solidFill>
                  <a:srgbClr val="E37E03"/>
                </a:solidFill>
                <a:latin typeface="More Sugar"/>
              </a:defRPr>
            </a:pPr>
            <a:r>
              <a:t>Guided search</a:t>
            </a:r>
          </a:p>
        </p:txBody>
      </p:sp>
      <p:sp>
        <p:nvSpPr>
          <p:cNvPr id="23" name="Right Arrow 22"/>
          <p:cNvSpPr/>
          <p:nvPr/>
        </p:nvSpPr>
        <p:spPr>
          <a:xfrm>
            <a:off x="11823192" y="5303520"/>
            <a:ext cx="411480" cy="384048"/>
          </a:xfrm>
          <a:prstGeom prst="rightArrow">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veal_3"/>
          <p:cNvSpPr/>
          <p:nvPr/>
        </p:nvSpPr>
        <p:spPr>
          <a:xfrm>
            <a:off x="12088367" y="2670048"/>
            <a:ext cx="5166360" cy="59436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veal_3_head"/>
          <p:cNvSpPr/>
          <p:nvPr/>
        </p:nvSpPr>
        <p:spPr>
          <a:xfrm>
            <a:off x="12088367" y="2670048"/>
            <a:ext cx="5166360" cy="932688"/>
          </a:xfrm>
          <a:prstGeom prst="roundRect">
            <a:avLst>
              <a:gd name="adj" fmla="val 9000"/>
            </a:avLst>
          </a:prstGeom>
          <a:solidFill>
            <a:srgbClr val="CB6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veal_3_title"/>
          <p:cNvSpPr txBox="1"/>
          <p:nvPr/>
        </p:nvSpPr>
        <p:spPr>
          <a:xfrm>
            <a:off x="12399263" y="2889504"/>
            <a:ext cx="4572000" cy="548640"/>
          </a:xfrm>
          <a:prstGeom prst="rect">
            <a:avLst/>
          </a:prstGeom>
          <a:noFill/>
        </p:spPr>
        <p:txBody>
          <a:bodyPr wrap="square" lIns="0" tIns="0" rIns="0" bIns="0">
            <a:spAutoFit/>
          </a:bodyPr>
          <a:lstStyle/>
          <a:p>
            <a:pPr>
              <a:lnSpc>
                <a:spcPct val="100000"/>
              </a:lnSpc>
              <a:spcBef>
                <a:spcPts val="0"/>
              </a:spcBef>
              <a:spcAft>
                <a:spcPts val="572"/>
              </a:spcAft>
              <a:defRPr sz="2600" b="1">
                <a:solidFill>
                  <a:srgbClr val="FFFFFF"/>
                </a:solidFill>
                <a:latin typeface="DM Sans Bold"/>
              </a:defRPr>
            </a:pPr>
            <a:r>
              <a:t>SCOUT BEES</a:t>
            </a:r>
          </a:p>
        </p:txBody>
      </p:sp>
      <p:sp>
        <p:nvSpPr>
          <p:cNvPr id="27" name="Reveal_3_sub"/>
          <p:cNvSpPr txBox="1"/>
          <p:nvPr/>
        </p:nvSpPr>
        <p:spPr>
          <a:xfrm>
            <a:off x="12399263" y="3785615"/>
            <a:ext cx="4572000" cy="45720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only when a source is stuck</a:t>
            </a:r>
          </a:p>
        </p:txBody>
      </p:sp>
      <p:sp>
        <p:nvSpPr>
          <p:cNvPr id="28" name="Reveal_3_body"/>
          <p:cNvSpPr txBox="1"/>
          <p:nvPr/>
        </p:nvSpPr>
        <p:spPr>
          <a:xfrm>
            <a:off x="12399263" y="4370832"/>
            <a:ext cx="4617720" cy="1554480"/>
          </a:xfrm>
          <a:prstGeom prst="rect">
            <a:avLst/>
          </a:prstGeom>
          <a:noFill/>
        </p:spPr>
        <p:txBody>
          <a:bodyPr wrap="square" lIns="0" tIns="0" rIns="0" bIns="0">
            <a:spAutoFit/>
          </a:bodyPr>
          <a:lstStyle/>
          <a:p>
            <a:pPr>
              <a:lnSpc>
                <a:spcPct val="100000"/>
              </a:lnSpc>
              <a:spcBef>
                <a:spcPts val="0"/>
              </a:spcBef>
              <a:spcAft>
                <a:spcPts val="528"/>
              </a:spcAft>
              <a:defRPr sz="2400" b="0">
                <a:solidFill>
                  <a:srgbClr val="6F251B"/>
                </a:solidFill>
                <a:latin typeface="DM Sans"/>
              </a:defRPr>
            </a:pPr>
            <a:r>
              <a:t>After 50 failed tries, abandon it</a:t>
            </a:r>
          </a:p>
          <a:p>
            <a:pPr>
              <a:lnSpc>
                <a:spcPct val="100000"/>
              </a:lnSpc>
              <a:spcBef>
                <a:spcPts val="0"/>
              </a:spcBef>
              <a:spcAft>
                <a:spcPts val="528"/>
              </a:spcAft>
              <a:defRPr sz="2400" b="0">
                <a:solidFill>
                  <a:srgbClr val="6F251B"/>
                </a:solidFill>
                <a:latin typeface="DM Sans"/>
              </a:defRPr>
            </a:pPr>
            <a:r>
              <a:t>and start somewhere random.</a:t>
            </a:r>
          </a:p>
        </p:txBody>
      </p:sp>
      <p:sp>
        <p:nvSpPr>
          <p:cNvPr id="29" name="Template artwork - bee"/>
          <p:cNvSpPr/>
          <p:nvPr/>
        </p:nvSpPr>
        <p:spPr>
          <a:xfrm rot="-771037">
            <a:off x="13962888" y="6035040"/>
            <a:ext cx="1417320" cy="126187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0" name="Reveal_3_purpose"/>
          <p:cNvSpPr txBox="1"/>
          <p:nvPr/>
        </p:nvSpPr>
        <p:spPr>
          <a:xfrm>
            <a:off x="12399263" y="7699248"/>
            <a:ext cx="4572000" cy="640080"/>
          </a:xfrm>
          <a:prstGeom prst="rect">
            <a:avLst/>
          </a:prstGeom>
          <a:noFill/>
        </p:spPr>
        <p:txBody>
          <a:bodyPr wrap="square" lIns="0" tIns="0" rIns="0" bIns="0">
            <a:spAutoFit/>
          </a:bodyPr>
          <a:lstStyle/>
          <a:p>
            <a:pPr algn="ctr">
              <a:lnSpc>
                <a:spcPct val="100000"/>
              </a:lnSpc>
              <a:spcBef>
                <a:spcPts val="0"/>
              </a:spcBef>
              <a:spcAft>
                <a:spcPts val="660"/>
              </a:spcAft>
              <a:defRPr sz="3000" b="0">
                <a:solidFill>
                  <a:srgbClr val="CB6C29"/>
                </a:solidFill>
                <a:latin typeface="More Sugar"/>
              </a:defRPr>
            </a:pPr>
            <a:r>
              <a:t>Exploration</a:t>
            </a:r>
          </a:p>
        </p:txBody>
      </p:sp>
      <p:sp>
        <p:nvSpPr>
          <p:cNvPr id="31" name="Rounded Rectangle 30"/>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Exploitation, guided search and exploration — three jobs, repeated every cycle.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99"/>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199"/>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199"/>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199"/>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199"/>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199"/>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199"/>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199"/>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199"/>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99"/>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199"/>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199"/>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199"/>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199"/>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199"/>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199"/>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199"/>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199"/>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P spid="14" grpId="0"/>
      <p:bldP spid="16" grpId="0" animBg="1"/>
      <p:bldP spid="17" grpId="0" animBg="1"/>
      <p:bldP spid="18" grpId="0"/>
      <p:bldP spid="19" grpId="0"/>
      <p:bldP spid="20" grpId="0"/>
      <p:bldP spid="22" grpId="0"/>
      <p:bldP spid="24" grpId="0" animBg="1"/>
      <p:bldP spid="25" grpId="0" animBg="1"/>
      <p:bldP spid="26" grpId="0"/>
      <p:bldP spid="27" grpId="0"/>
      <p:bldP spid="28"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02 - THE BEE COLONY</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The settings we used</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07</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honey_jar"/>
          <p:cNvSpPr/>
          <p:nvPr/>
        </p:nvSpPr>
        <p:spPr>
          <a:xfrm>
            <a:off x="15636240" y="-411480"/>
            <a:ext cx="2103120" cy="1975104"/>
          </a:xfrm>
          <a:custGeom>
            <a:avLst/>
            <a:gdLst/>
            <a:ahLst/>
            <a:cxnLst/>
            <a:rect l="l" t="t" r="r" b="b"/>
            <a:pathLst>
              <a:path w="4845836" h="4546275">
                <a:moveTo>
                  <a:pt x="0" y="0"/>
                </a:moveTo>
                <a:lnTo>
                  <a:pt x="4845836" y="0"/>
                </a:lnTo>
                <a:lnTo>
                  <a:pt x="4845836" y="4546275"/>
                </a:lnTo>
                <a:lnTo>
                  <a:pt x="0" y="454627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7"/>
          <p:cNvSpPr txBox="1"/>
          <p:nvPr/>
        </p:nvSpPr>
        <p:spPr>
          <a:xfrm>
            <a:off x="1024128" y="2651760"/>
            <a:ext cx="82296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THE SIX CONTROL PARAMETERS (SLIDE 20)</a:t>
            </a:r>
          </a:p>
        </p:txBody>
      </p:sp>
      <p:graphicFrame>
        <p:nvGraphicFramePr>
          <p:cNvPr id="9" name="Table 8"/>
          <p:cNvGraphicFramePr>
            <a:graphicFrameLocks noGrp="1"/>
          </p:cNvGraphicFramePr>
          <p:nvPr/>
        </p:nvGraphicFramePr>
        <p:xfrm>
          <a:off x="1024128" y="3072384"/>
          <a:ext cx="7680960" cy="4992624"/>
        </p:xfrm>
        <a:graphic>
          <a:graphicData uri="http://schemas.openxmlformats.org/drawingml/2006/table">
            <a:tbl>
              <a:tblPr firstRow="1" bandRow="1">
                <a:tableStyleId>{5C22544A-7EE6-4342-B048-85BDC9FD1C3A}</a:tableStyleId>
              </a:tblPr>
              <a:tblGrid>
                <a:gridCol w="48463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713232">
                <a:tc>
                  <a:txBody>
                    <a:bodyPr/>
                    <a:lstStyle/>
                    <a:p>
                      <a:pPr>
                        <a:defRPr sz="2400" b="1">
                          <a:solidFill>
                            <a:srgbClr val="FFFFFF"/>
                          </a:solidFill>
                          <a:latin typeface="DM Sans Bold"/>
                        </a:defRPr>
                      </a:pPr>
                      <a:r>
                        <a:t>Parameter</a:t>
                      </a:r>
                    </a:p>
                  </a:txBody>
                  <a:tcPr marL="182880" marR="128016" marT="54864" marB="36576" anchor="ctr">
                    <a:solidFill>
                      <a:srgbClr val="6F251B"/>
                    </a:solidFill>
                  </a:tcPr>
                </a:tc>
                <a:tc>
                  <a:txBody>
                    <a:bodyPr/>
                    <a:lstStyle/>
                    <a:p>
                      <a:pPr>
                        <a:defRPr sz="2400" b="1">
                          <a:solidFill>
                            <a:srgbClr val="FFFFFF"/>
                          </a:solidFill>
                          <a:latin typeface="DM Sans Bold"/>
                        </a:defRPr>
                      </a:pPr>
                      <a:r>
                        <a:t>Value</a:t>
                      </a:r>
                    </a:p>
                  </a:txBody>
                  <a:tcPr marL="182880" marR="128016" marT="54864" marB="36576" anchor="ctr">
                    <a:solidFill>
                      <a:srgbClr val="6F251B"/>
                    </a:solidFill>
                  </a:tcPr>
                </a:tc>
                <a:extLst>
                  <a:ext uri="{0D108BD9-81ED-4DB2-BD59-A6C34878D82A}">
                    <a16:rowId xmlns:a16="http://schemas.microsoft.com/office/drawing/2014/main" val="10000"/>
                  </a:ext>
                </a:extLst>
              </a:tr>
              <a:tr h="713232">
                <a:tc>
                  <a:txBody>
                    <a:bodyPr/>
                    <a:lstStyle/>
                    <a:p>
                      <a:pPr>
                        <a:defRPr sz="2400" b="0">
                          <a:solidFill>
                            <a:srgbClr val="6F251B"/>
                          </a:solidFill>
                          <a:latin typeface="DM Sans"/>
                        </a:defRPr>
                      </a:pPr>
                      <a:r>
                        <a:t>Colony size</a:t>
                      </a:r>
                    </a:p>
                  </a:txBody>
                  <a:tcPr marL="182880" marR="128016" marT="54864" marB="36576" anchor="ctr">
                    <a:solidFill>
                      <a:srgbClr val="FFFFFF"/>
                    </a:solidFill>
                  </a:tcPr>
                </a:tc>
                <a:tc>
                  <a:txBody>
                    <a:bodyPr/>
                    <a:lstStyle/>
                    <a:p>
                      <a:pPr>
                        <a:defRPr sz="2400" b="0">
                          <a:solidFill>
                            <a:srgbClr val="6F251B"/>
                          </a:solidFill>
                          <a:latin typeface="DM Sans"/>
                        </a:defRPr>
                      </a:pPr>
                      <a:r>
                        <a:t>50 bees</a:t>
                      </a:r>
                    </a:p>
                  </a:txBody>
                  <a:tcPr marL="182880" marR="128016" marT="54864" marB="36576" anchor="ctr">
                    <a:solidFill>
                      <a:srgbClr val="FFFFFF"/>
                    </a:solidFill>
                  </a:tcPr>
                </a:tc>
                <a:extLst>
                  <a:ext uri="{0D108BD9-81ED-4DB2-BD59-A6C34878D82A}">
                    <a16:rowId xmlns:a16="http://schemas.microsoft.com/office/drawing/2014/main" val="10001"/>
                  </a:ext>
                </a:extLst>
              </a:tr>
              <a:tr h="713232">
                <a:tc>
                  <a:txBody>
                    <a:bodyPr/>
                    <a:lstStyle/>
                    <a:p>
                      <a:pPr>
                        <a:defRPr sz="2400" b="0">
                          <a:solidFill>
                            <a:srgbClr val="6F251B"/>
                          </a:solidFill>
                          <a:latin typeface="DM Sans"/>
                        </a:defRPr>
                      </a:pPr>
                      <a:r>
                        <a:t>Employed bees = sources (SN)</a:t>
                      </a:r>
                    </a:p>
                  </a:txBody>
                  <a:tcPr marL="182880" marR="128016" marT="54864" marB="36576" anchor="ctr">
                    <a:solidFill>
                      <a:srgbClr val="F3E7D2"/>
                    </a:solidFill>
                  </a:tcPr>
                </a:tc>
                <a:tc>
                  <a:txBody>
                    <a:bodyPr/>
                    <a:lstStyle/>
                    <a:p>
                      <a:pPr>
                        <a:defRPr sz="2400" b="0">
                          <a:solidFill>
                            <a:srgbClr val="6F251B"/>
                          </a:solidFill>
                          <a:latin typeface="DM Sans"/>
                        </a:defRPr>
                      </a:pPr>
                      <a:r>
                        <a:t>25</a:t>
                      </a:r>
                    </a:p>
                  </a:txBody>
                  <a:tcPr marL="182880" marR="128016" marT="54864" marB="36576" anchor="ctr">
                    <a:solidFill>
                      <a:srgbClr val="F3E7D2"/>
                    </a:solidFill>
                  </a:tcPr>
                </a:tc>
                <a:extLst>
                  <a:ext uri="{0D108BD9-81ED-4DB2-BD59-A6C34878D82A}">
                    <a16:rowId xmlns:a16="http://schemas.microsoft.com/office/drawing/2014/main" val="10002"/>
                  </a:ext>
                </a:extLst>
              </a:tr>
              <a:tr h="713232">
                <a:tc>
                  <a:txBody>
                    <a:bodyPr/>
                    <a:lstStyle/>
                    <a:p>
                      <a:pPr>
                        <a:defRPr sz="2400" b="0">
                          <a:solidFill>
                            <a:srgbClr val="6F251B"/>
                          </a:solidFill>
                          <a:latin typeface="DM Sans"/>
                        </a:defRPr>
                      </a:pPr>
                      <a:r>
                        <a:t>Onlooker bees</a:t>
                      </a:r>
                    </a:p>
                  </a:txBody>
                  <a:tcPr marL="182880" marR="128016" marT="54864" marB="36576" anchor="ctr">
                    <a:solidFill>
                      <a:srgbClr val="FFFFFF"/>
                    </a:solidFill>
                  </a:tcPr>
                </a:tc>
                <a:tc>
                  <a:txBody>
                    <a:bodyPr/>
                    <a:lstStyle/>
                    <a:p>
                      <a:pPr>
                        <a:defRPr sz="2400" b="0">
                          <a:solidFill>
                            <a:srgbClr val="6F251B"/>
                          </a:solidFill>
                          <a:latin typeface="DM Sans"/>
                        </a:defRPr>
                      </a:pPr>
                      <a:r>
                        <a:t>25</a:t>
                      </a:r>
                    </a:p>
                  </a:txBody>
                  <a:tcPr marL="182880" marR="128016" marT="54864" marB="36576" anchor="ctr">
                    <a:solidFill>
                      <a:srgbClr val="FFFFFF"/>
                    </a:solidFill>
                  </a:tcPr>
                </a:tc>
                <a:extLst>
                  <a:ext uri="{0D108BD9-81ED-4DB2-BD59-A6C34878D82A}">
                    <a16:rowId xmlns:a16="http://schemas.microsoft.com/office/drawing/2014/main" val="10003"/>
                  </a:ext>
                </a:extLst>
              </a:tr>
              <a:tr h="713232">
                <a:tc>
                  <a:txBody>
                    <a:bodyPr/>
                    <a:lstStyle/>
                    <a:p>
                      <a:pPr>
                        <a:defRPr sz="2400" b="0">
                          <a:solidFill>
                            <a:srgbClr val="6F251B"/>
                          </a:solidFill>
                          <a:latin typeface="DM Sans"/>
                        </a:defRPr>
                      </a:pPr>
                      <a:r>
                        <a:t>Dimension (D)</a:t>
                      </a:r>
                    </a:p>
                  </a:txBody>
                  <a:tcPr marL="182880" marR="128016" marT="54864" marB="36576" anchor="ctr">
                    <a:solidFill>
                      <a:srgbClr val="F3E7D2"/>
                    </a:solidFill>
                  </a:tcPr>
                </a:tc>
                <a:tc>
                  <a:txBody>
                    <a:bodyPr/>
                    <a:lstStyle/>
                    <a:p>
                      <a:pPr>
                        <a:defRPr sz="2400" b="0">
                          <a:solidFill>
                            <a:srgbClr val="6F251B"/>
                          </a:solidFill>
                          <a:latin typeface="DM Sans"/>
                        </a:defRPr>
                      </a:pPr>
                      <a:r>
                        <a:t>2</a:t>
                      </a:r>
                    </a:p>
                  </a:txBody>
                  <a:tcPr marL="182880" marR="128016" marT="54864" marB="36576" anchor="ctr">
                    <a:solidFill>
                      <a:srgbClr val="F3E7D2"/>
                    </a:solidFill>
                  </a:tcPr>
                </a:tc>
                <a:extLst>
                  <a:ext uri="{0D108BD9-81ED-4DB2-BD59-A6C34878D82A}">
                    <a16:rowId xmlns:a16="http://schemas.microsoft.com/office/drawing/2014/main" val="10004"/>
                  </a:ext>
                </a:extLst>
              </a:tr>
              <a:tr h="713232">
                <a:tc>
                  <a:txBody>
                    <a:bodyPr/>
                    <a:lstStyle/>
                    <a:p>
                      <a:pPr>
                        <a:defRPr sz="2400" b="0">
                          <a:solidFill>
                            <a:srgbClr val="6F251B"/>
                          </a:solidFill>
                          <a:latin typeface="DM Sans"/>
                        </a:defRPr>
                      </a:pPr>
                      <a:r>
                        <a:t>limit</a:t>
                      </a:r>
                    </a:p>
                  </a:txBody>
                  <a:tcPr marL="182880" marR="128016" marT="54864" marB="36576" anchor="ctr">
                    <a:solidFill>
                      <a:srgbClr val="FFFFFF"/>
                    </a:solidFill>
                  </a:tcPr>
                </a:tc>
                <a:tc>
                  <a:txBody>
                    <a:bodyPr/>
                    <a:lstStyle/>
                    <a:p>
                      <a:pPr>
                        <a:defRPr sz="2400" b="0">
                          <a:solidFill>
                            <a:srgbClr val="6F251B"/>
                          </a:solidFill>
                          <a:latin typeface="DM Sans"/>
                        </a:defRPr>
                      </a:pPr>
                      <a:r>
                        <a:t>50</a:t>
                      </a:r>
                    </a:p>
                  </a:txBody>
                  <a:tcPr marL="182880" marR="128016" marT="54864" marB="36576" anchor="ctr">
                    <a:solidFill>
                      <a:srgbClr val="FFFFFF"/>
                    </a:solidFill>
                  </a:tcPr>
                </a:tc>
                <a:extLst>
                  <a:ext uri="{0D108BD9-81ED-4DB2-BD59-A6C34878D82A}">
                    <a16:rowId xmlns:a16="http://schemas.microsoft.com/office/drawing/2014/main" val="10005"/>
                  </a:ext>
                </a:extLst>
              </a:tr>
              <a:tr h="713232">
                <a:tc>
                  <a:txBody>
                    <a:bodyPr/>
                    <a:lstStyle/>
                    <a:p>
                      <a:pPr>
                        <a:defRPr sz="2400" b="0">
                          <a:solidFill>
                            <a:srgbClr val="6F251B"/>
                          </a:solidFill>
                          <a:latin typeface="DM Sans"/>
                        </a:defRPr>
                      </a:pPr>
                      <a:r>
                        <a:t>Scouts per cycle</a:t>
                      </a:r>
                    </a:p>
                  </a:txBody>
                  <a:tcPr marL="182880" marR="128016" marT="54864" marB="36576" anchor="ctr">
                    <a:solidFill>
                      <a:srgbClr val="F3E7D2"/>
                    </a:solidFill>
                  </a:tcPr>
                </a:tc>
                <a:tc>
                  <a:txBody>
                    <a:bodyPr/>
                    <a:lstStyle/>
                    <a:p>
                      <a:pPr>
                        <a:defRPr sz="2400" b="0">
                          <a:solidFill>
                            <a:srgbClr val="6F251B"/>
                          </a:solidFill>
                          <a:latin typeface="DM Sans"/>
                        </a:defRPr>
                      </a:pPr>
                      <a:r>
                        <a:t>1 at most</a:t>
                      </a:r>
                    </a:p>
                  </a:txBody>
                  <a:tcPr marL="182880" marR="128016" marT="54864" marB="36576" anchor="ctr">
                    <a:solidFill>
                      <a:srgbClr val="F3E7D2"/>
                    </a:solidFill>
                  </a:tcPr>
                </a:tc>
                <a:extLst>
                  <a:ext uri="{0D108BD9-81ED-4DB2-BD59-A6C34878D82A}">
                    <a16:rowId xmlns:a16="http://schemas.microsoft.com/office/drawing/2014/main" val="10006"/>
                  </a:ext>
                </a:extLst>
              </a:tr>
            </a:tbl>
          </a:graphicData>
        </a:graphic>
      </p:graphicFrame>
      <p:sp>
        <p:nvSpPr>
          <p:cNvPr id="10" name="Rounded Rectangle 9"/>
          <p:cNvSpPr/>
          <p:nvPr/>
        </p:nvSpPr>
        <p:spPr>
          <a:xfrm>
            <a:off x="1024128" y="7443216"/>
            <a:ext cx="7680960" cy="1481328"/>
          </a:xfrm>
          <a:prstGeom prst="roundRect">
            <a:avLst>
              <a:gd name="adj" fmla="val 9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25880" y="7735824"/>
            <a:ext cx="7132320" cy="1005840"/>
          </a:xfrm>
          <a:prstGeom prst="rect">
            <a:avLst/>
          </a:prstGeom>
          <a:noFill/>
        </p:spPr>
        <p:txBody>
          <a:bodyPr wrap="square" lIns="0" tIns="0" rIns="0" bIns="0">
            <a:spAutoFit/>
          </a:bodyPr>
          <a:lstStyle/>
          <a:p>
            <a:pPr>
              <a:lnSpc>
                <a:spcPct val="100000"/>
              </a:lnSpc>
              <a:spcBef>
                <a:spcPts val="0"/>
              </a:spcBef>
              <a:spcAft>
                <a:spcPts val="528"/>
              </a:spcAft>
              <a:defRPr sz="2400" b="1">
                <a:solidFill>
                  <a:srgbClr val="6F251B"/>
                </a:solidFill>
                <a:latin typeface="DM Sans Bold"/>
              </a:defRPr>
            </a:pPr>
            <a:r>
              <a:t>limit = SN × D = 25 × 2 = 50</a:t>
            </a:r>
          </a:p>
          <a:p>
            <a:pPr>
              <a:lnSpc>
                <a:spcPct val="100000"/>
              </a:lnSpc>
              <a:spcBef>
                <a:spcPts val="0"/>
              </a:spcBef>
              <a:spcAft>
                <a:spcPts val="528"/>
              </a:spcAft>
              <a:defRPr sz="2400" b="1">
                <a:solidFill>
                  <a:srgbClr val="6F251B"/>
                </a:solidFill>
                <a:latin typeface="DM Sans Bold"/>
              </a:defRPr>
            </a:pPr>
            <a:r>
              <a:t>Seed 7, so the run repeats exactly.</a:t>
            </a:r>
          </a:p>
        </p:txBody>
      </p:sp>
      <p:sp>
        <p:nvSpPr>
          <p:cNvPr id="12" name="TextBox 11"/>
          <p:cNvSpPr txBox="1"/>
          <p:nvPr/>
        </p:nvSpPr>
        <p:spPr>
          <a:xfrm>
            <a:off x="9582912" y="2651760"/>
            <a:ext cx="82296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E37E03"/>
                </a:solidFill>
                <a:latin typeface="DM Sans Bold"/>
              </a:defRPr>
            </a:pPr>
            <a:r>
              <a:t>THE SAME BUDGET, DIFFERENT MACHINERY</a:t>
            </a:r>
          </a:p>
        </p:txBody>
      </p:sp>
      <p:graphicFrame>
        <p:nvGraphicFramePr>
          <p:cNvPr id="13" name="Table 12"/>
          <p:cNvGraphicFramePr>
            <a:graphicFrameLocks noGrp="1"/>
          </p:cNvGraphicFramePr>
          <p:nvPr/>
        </p:nvGraphicFramePr>
        <p:xfrm>
          <a:off x="9582912" y="3072384"/>
          <a:ext cx="7680960" cy="4974336"/>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621792">
                <a:tc>
                  <a:txBody>
                    <a:bodyPr/>
                    <a:lstStyle/>
                    <a:p>
                      <a:pPr>
                        <a:defRPr sz="2300" b="1">
                          <a:solidFill>
                            <a:srgbClr val="FFFFFF"/>
                          </a:solidFill>
                          <a:latin typeface="DM Sans Bold"/>
                        </a:defRPr>
                      </a:pPr>
                      <a:r>
                        <a:t>Genetic Algorithm</a:t>
                      </a:r>
                    </a:p>
                  </a:txBody>
                  <a:tcPr marL="182880" marR="128016" marT="54864" marB="36576" anchor="ctr">
                    <a:solidFill>
                      <a:srgbClr val="6F251B"/>
                    </a:solidFill>
                  </a:tcPr>
                </a:tc>
                <a:tc>
                  <a:txBody>
                    <a:bodyPr/>
                    <a:lstStyle/>
                    <a:p>
                      <a:pPr>
                        <a:defRPr sz="2300" b="1">
                          <a:solidFill>
                            <a:srgbClr val="FFFFFF"/>
                          </a:solidFill>
                          <a:latin typeface="DM Sans Bold"/>
                        </a:defRPr>
                      </a:pPr>
                      <a:r>
                        <a:t>Artificial Bee Colony</a:t>
                      </a:r>
                    </a:p>
                  </a:txBody>
                  <a:tcPr marL="182880" marR="128016" marT="54864" marB="36576" anchor="ctr">
                    <a:solidFill>
                      <a:srgbClr val="6F251B"/>
                    </a:solidFill>
                  </a:tcPr>
                </a:tc>
                <a:extLst>
                  <a:ext uri="{0D108BD9-81ED-4DB2-BD59-A6C34878D82A}">
                    <a16:rowId xmlns:a16="http://schemas.microsoft.com/office/drawing/2014/main" val="10000"/>
                  </a:ext>
                </a:extLst>
              </a:tr>
              <a:tr h="621792">
                <a:tc>
                  <a:txBody>
                    <a:bodyPr/>
                    <a:lstStyle/>
                    <a:p>
                      <a:pPr>
                        <a:defRPr sz="2300" b="0">
                          <a:solidFill>
                            <a:srgbClr val="6F251B"/>
                          </a:solidFill>
                          <a:latin typeface="DM Sans"/>
                        </a:defRPr>
                      </a:pPr>
                      <a:r>
                        <a:t>Population 50</a:t>
                      </a:r>
                    </a:p>
                  </a:txBody>
                  <a:tcPr marL="182880" marR="128016" marT="54864" marB="36576" anchor="ctr">
                    <a:solidFill>
                      <a:srgbClr val="FFFFFF"/>
                    </a:solidFill>
                  </a:tcPr>
                </a:tc>
                <a:tc>
                  <a:txBody>
                    <a:bodyPr/>
                    <a:lstStyle/>
                    <a:p>
                      <a:pPr>
                        <a:defRPr sz="2300" b="0">
                          <a:solidFill>
                            <a:srgbClr val="6F251B"/>
                          </a:solidFill>
                          <a:latin typeface="DM Sans"/>
                        </a:defRPr>
                      </a:pPr>
                      <a:r>
                        <a:t>Colony 50 bees</a:t>
                      </a:r>
                    </a:p>
                  </a:txBody>
                  <a:tcPr marL="182880" marR="128016" marT="54864" marB="36576" anchor="ctr">
                    <a:solidFill>
                      <a:srgbClr val="FFFFFF"/>
                    </a:solidFill>
                  </a:tcPr>
                </a:tc>
                <a:extLst>
                  <a:ext uri="{0D108BD9-81ED-4DB2-BD59-A6C34878D82A}">
                    <a16:rowId xmlns:a16="http://schemas.microsoft.com/office/drawing/2014/main" val="10001"/>
                  </a:ext>
                </a:extLst>
              </a:tr>
              <a:tr h="621792">
                <a:tc>
                  <a:txBody>
                    <a:bodyPr/>
                    <a:lstStyle/>
                    <a:p>
                      <a:pPr>
                        <a:defRPr sz="2300" b="0">
                          <a:solidFill>
                            <a:srgbClr val="6F251B"/>
                          </a:solidFill>
                          <a:latin typeface="DM Sans"/>
                        </a:defRPr>
                      </a:pPr>
                      <a:r>
                        <a:t>100 generations</a:t>
                      </a:r>
                    </a:p>
                  </a:txBody>
                  <a:tcPr marL="182880" marR="128016" marT="54864" marB="36576" anchor="ctr">
                    <a:solidFill>
                      <a:srgbClr val="F3E7D2"/>
                    </a:solidFill>
                  </a:tcPr>
                </a:tc>
                <a:tc>
                  <a:txBody>
                    <a:bodyPr/>
                    <a:lstStyle/>
                    <a:p>
                      <a:pPr>
                        <a:defRPr sz="2300" b="0">
                          <a:solidFill>
                            <a:srgbClr val="6F251B"/>
                          </a:solidFill>
                          <a:latin typeface="DM Sans"/>
                        </a:defRPr>
                      </a:pPr>
                      <a:r>
                        <a:t>100 cycles</a:t>
                      </a:r>
                    </a:p>
                  </a:txBody>
                  <a:tcPr marL="182880" marR="128016" marT="54864" marB="36576" anchor="ctr">
                    <a:solidFill>
                      <a:srgbClr val="F3E7D2"/>
                    </a:solidFill>
                  </a:tcPr>
                </a:tc>
                <a:extLst>
                  <a:ext uri="{0D108BD9-81ED-4DB2-BD59-A6C34878D82A}">
                    <a16:rowId xmlns:a16="http://schemas.microsoft.com/office/drawing/2014/main" val="10002"/>
                  </a:ext>
                </a:extLst>
              </a:tr>
              <a:tr h="621792">
                <a:tc>
                  <a:txBody>
                    <a:bodyPr/>
                    <a:lstStyle/>
                    <a:p>
                      <a:pPr>
                        <a:defRPr sz="2300" b="0">
                          <a:solidFill>
                            <a:srgbClr val="6F251B"/>
                          </a:solidFill>
                          <a:latin typeface="DM Sans"/>
                        </a:defRPr>
                      </a:pPr>
                      <a:r>
                        <a:t>Crossover Pc = 80 %</a:t>
                      </a:r>
                    </a:p>
                  </a:txBody>
                  <a:tcPr marL="182880" marR="128016" marT="54864" marB="36576" anchor="ctr">
                    <a:solidFill>
                      <a:srgbClr val="FFFFFF"/>
                    </a:solidFill>
                  </a:tcPr>
                </a:tc>
                <a:tc>
                  <a:txBody>
                    <a:bodyPr/>
                    <a:lstStyle/>
                    <a:p>
                      <a:pPr>
                        <a:defRPr sz="2300" b="0">
                          <a:solidFill>
                            <a:srgbClr val="6F251B"/>
                          </a:solidFill>
                          <a:latin typeface="DM Sans"/>
                        </a:defRPr>
                      </a:pPr>
                      <a:r>
                        <a:t>not used</a:t>
                      </a:r>
                    </a:p>
                  </a:txBody>
                  <a:tcPr marL="182880" marR="128016" marT="54864" marB="36576" anchor="ctr">
                    <a:solidFill>
                      <a:srgbClr val="FFFFFF"/>
                    </a:solidFill>
                  </a:tcPr>
                </a:tc>
                <a:extLst>
                  <a:ext uri="{0D108BD9-81ED-4DB2-BD59-A6C34878D82A}">
                    <a16:rowId xmlns:a16="http://schemas.microsoft.com/office/drawing/2014/main" val="10003"/>
                  </a:ext>
                </a:extLst>
              </a:tr>
              <a:tr h="621792">
                <a:tc>
                  <a:txBody>
                    <a:bodyPr/>
                    <a:lstStyle/>
                    <a:p>
                      <a:pPr>
                        <a:defRPr sz="2300" b="0">
                          <a:solidFill>
                            <a:srgbClr val="6F251B"/>
                          </a:solidFill>
                          <a:latin typeface="DM Sans"/>
                        </a:defRPr>
                      </a:pPr>
                      <a:r>
                        <a:t>Mutation Pm = 5 %</a:t>
                      </a:r>
                    </a:p>
                  </a:txBody>
                  <a:tcPr marL="182880" marR="128016" marT="54864" marB="36576" anchor="ctr">
                    <a:solidFill>
                      <a:srgbClr val="F3E7D2"/>
                    </a:solidFill>
                  </a:tcPr>
                </a:tc>
                <a:tc>
                  <a:txBody>
                    <a:bodyPr/>
                    <a:lstStyle/>
                    <a:p>
                      <a:pPr>
                        <a:defRPr sz="2300" b="0">
                          <a:solidFill>
                            <a:srgbClr val="6F251B"/>
                          </a:solidFill>
                          <a:latin typeface="DM Sans"/>
                        </a:defRPr>
                      </a:pPr>
                      <a:r>
                        <a:t>not used</a:t>
                      </a:r>
                    </a:p>
                  </a:txBody>
                  <a:tcPr marL="182880" marR="128016" marT="54864" marB="36576" anchor="ctr">
                    <a:solidFill>
                      <a:srgbClr val="F3E7D2"/>
                    </a:solidFill>
                  </a:tcPr>
                </a:tc>
                <a:extLst>
                  <a:ext uri="{0D108BD9-81ED-4DB2-BD59-A6C34878D82A}">
                    <a16:rowId xmlns:a16="http://schemas.microsoft.com/office/drawing/2014/main" val="10004"/>
                  </a:ext>
                </a:extLst>
              </a:tr>
              <a:tr h="621792">
                <a:tc>
                  <a:txBody>
                    <a:bodyPr/>
                    <a:lstStyle/>
                    <a:p>
                      <a:pPr>
                        <a:defRPr sz="2300" b="0">
                          <a:solidFill>
                            <a:srgbClr val="6F251B"/>
                          </a:solidFill>
                          <a:latin typeface="DM Sans"/>
                        </a:defRPr>
                      </a:pPr>
                      <a:r>
                        <a:t>Mutation step sigma</a:t>
                      </a:r>
                    </a:p>
                  </a:txBody>
                  <a:tcPr marL="182880" marR="128016" marT="54864" marB="36576" anchor="ctr">
                    <a:solidFill>
                      <a:srgbClr val="FFFFFF"/>
                    </a:solidFill>
                  </a:tcPr>
                </a:tc>
                <a:tc>
                  <a:txBody>
                    <a:bodyPr/>
                    <a:lstStyle/>
                    <a:p>
                      <a:pPr>
                        <a:defRPr sz="2300" b="0">
                          <a:solidFill>
                            <a:srgbClr val="6F251B"/>
                          </a:solidFill>
                          <a:latin typeface="DM Sans"/>
                        </a:defRPr>
                      </a:pPr>
                      <a:r>
                        <a:t>free: |x_i - x_k|</a:t>
                      </a:r>
                    </a:p>
                  </a:txBody>
                  <a:tcPr marL="182880" marR="128016" marT="54864" marB="36576" anchor="ctr">
                    <a:solidFill>
                      <a:srgbClr val="FFFFFF"/>
                    </a:solidFill>
                  </a:tcPr>
                </a:tc>
                <a:extLst>
                  <a:ext uri="{0D108BD9-81ED-4DB2-BD59-A6C34878D82A}">
                    <a16:rowId xmlns:a16="http://schemas.microsoft.com/office/drawing/2014/main" val="10005"/>
                  </a:ext>
                </a:extLst>
              </a:tr>
              <a:tr h="621792">
                <a:tc>
                  <a:txBody>
                    <a:bodyPr/>
                    <a:lstStyle/>
                    <a:p>
                      <a:pPr>
                        <a:defRPr sz="2300" b="0">
                          <a:solidFill>
                            <a:srgbClr val="6F251B"/>
                          </a:solidFill>
                          <a:latin typeface="DM Sans"/>
                        </a:defRPr>
                      </a:pPr>
                      <a:r>
                        <a:t>Elitism = 1</a:t>
                      </a:r>
                    </a:p>
                  </a:txBody>
                  <a:tcPr marL="182880" marR="128016" marT="54864" marB="36576" anchor="ctr">
                    <a:solidFill>
                      <a:srgbClr val="F3E7D2"/>
                    </a:solidFill>
                  </a:tcPr>
                </a:tc>
                <a:tc>
                  <a:txBody>
                    <a:bodyPr/>
                    <a:lstStyle/>
                    <a:p>
                      <a:pPr>
                        <a:defRPr sz="2300" b="0">
                          <a:solidFill>
                            <a:srgbClr val="6F251B"/>
                          </a:solidFill>
                          <a:latin typeface="DM Sans"/>
                        </a:defRPr>
                      </a:pPr>
                      <a:r>
                        <a:t>memorise the best</a:t>
                      </a:r>
                    </a:p>
                  </a:txBody>
                  <a:tcPr marL="182880" marR="128016" marT="54864" marB="36576" anchor="ctr">
                    <a:solidFill>
                      <a:srgbClr val="F3E7D2"/>
                    </a:solidFill>
                  </a:tcPr>
                </a:tc>
                <a:extLst>
                  <a:ext uri="{0D108BD9-81ED-4DB2-BD59-A6C34878D82A}">
                    <a16:rowId xmlns:a16="http://schemas.microsoft.com/office/drawing/2014/main" val="10006"/>
                  </a:ext>
                </a:extLst>
              </a:tr>
              <a:tr h="621792">
                <a:tc>
                  <a:txBody>
                    <a:bodyPr/>
                    <a:lstStyle/>
                    <a:p>
                      <a:pPr>
                        <a:defRPr sz="2300" b="0">
                          <a:solidFill>
                            <a:srgbClr val="6F251B"/>
                          </a:solidFill>
                          <a:latin typeface="DM Sans"/>
                        </a:defRPr>
                      </a:pPr>
                      <a:r>
                        <a:t>Roulette wheel</a:t>
                      </a:r>
                    </a:p>
                  </a:txBody>
                  <a:tcPr marL="182880" marR="128016" marT="54864" marB="36576" anchor="ctr">
                    <a:solidFill>
                      <a:srgbClr val="FFFFFF"/>
                    </a:solidFill>
                  </a:tcPr>
                </a:tc>
                <a:tc>
                  <a:txBody>
                    <a:bodyPr/>
                    <a:lstStyle/>
                    <a:p>
                      <a:pPr>
                        <a:defRPr sz="2300" b="0">
                          <a:solidFill>
                            <a:srgbClr val="6F251B"/>
                          </a:solidFill>
                          <a:latin typeface="DM Sans"/>
                        </a:defRPr>
                      </a:pPr>
                      <a:r>
                        <a:t>onlooker phase</a:t>
                      </a:r>
                    </a:p>
                  </a:txBody>
                  <a:tcPr marL="182880" marR="128016" marT="54864" marB="36576" anchor="ctr">
                    <a:solidFill>
                      <a:srgbClr val="FFFFFF"/>
                    </a:solidFill>
                  </a:tcPr>
                </a:tc>
                <a:extLst>
                  <a:ext uri="{0D108BD9-81ED-4DB2-BD59-A6C34878D82A}">
                    <a16:rowId xmlns:a16="http://schemas.microsoft.com/office/drawing/2014/main" val="10007"/>
                  </a:ext>
                </a:extLst>
              </a:tr>
            </a:tbl>
          </a:graphicData>
        </a:graphic>
      </p:graphicFrame>
      <p:sp>
        <p:nvSpPr>
          <p:cNvPr id="14" name="Rounded Rectangle 13"/>
          <p:cNvSpPr/>
          <p:nvPr/>
        </p:nvSpPr>
        <p:spPr>
          <a:xfrm>
            <a:off x="9582912" y="7443216"/>
            <a:ext cx="7680960" cy="1481328"/>
          </a:xfrm>
          <a:prstGeom prst="roundRect">
            <a:avLst>
              <a:gd name="adj" fmla="val 9000"/>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875520" y="7735824"/>
            <a:ext cx="7132320" cy="1005840"/>
          </a:xfrm>
          <a:prstGeom prst="rect">
            <a:avLst/>
          </a:prstGeom>
          <a:noFill/>
        </p:spPr>
        <p:txBody>
          <a:bodyPr wrap="square" lIns="0" tIns="0" rIns="0" bIns="0">
            <a:spAutoFit/>
          </a:bodyPr>
          <a:lstStyle/>
          <a:p>
            <a:pPr>
              <a:lnSpc>
                <a:spcPct val="100000"/>
              </a:lnSpc>
              <a:spcBef>
                <a:spcPts val="0"/>
              </a:spcBef>
              <a:spcAft>
                <a:spcPts val="528"/>
              </a:spcAft>
              <a:defRPr sz="2400" b="1">
                <a:solidFill>
                  <a:srgbClr val="6F251B"/>
                </a:solidFill>
                <a:latin typeface="DM Sans Bold"/>
              </a:defRPr>
            </a:pPr>
            <a:r>
              <a:t>Two blank rows: ABC has no crossover</a:t>
            </a:r>
          </a:p>
          <a:p>
            <a:pPr>
              <a:lnSpc>
                <a:spcPct val="100000"/>
              </a:lnSpc>
              <a:spcBef>
                <a:spcPts val="0"/>
              </a:spcBef>
              <a:spcAft>
                <a:spcPts val="528"/>
              </a:spcAft>
              <a:defRPr sz="2400" b="1">
                <a:solidFill>
                  <a:srgbClr val="6F251B"/>
                </a:solidFill>
                <a:latin typeface="DM Sans Bold"/>
              </a:defRPr>
            </a:pPr>
            <a:r>
              <a:t>rate and no mutation rate to choose.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02 - THE BEE COLONY</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The ABC cycle</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08</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bee"/>
          <p:cNvSpPr/>
          <p:nvPr/>
        </p:nvSpPr>
        <p:spPr>
          <a:xfrm rot="-771037">
            <a:off x="15910559" y="365760"/>
            <a:ext cx="1005840" cy="89611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mplate artwork - honeycomb"/>
          <p:cNvSpPr/>
          <p:nvPr/>
        </p:nvSpPr>
        <p:spPr>
          <a:xfrm>
            <a:off x="13624560" y="-3611880"/>
            <a:ext cx="6583680" cy="4572000"/>
          </a:xfrm>
          <a:custGeom>
            <a:avLst/>
            <a:gdLst/>
            <a:ahLst/>
            <a:cxnLst/>
            <a:rect l="l" t="t" r="r" b="b"/>
            <a:pathLst>
              <a:path w="7975531" h="5546173">
                <a:moveTo>
                  <a:pt x="0" y="0"/>
                </a:moveTo>
                <a:lnTo>
                  <a:pt x="7975531" y="0"/>
                </a:lnTo>
                <a:lnTo>
                  <a:pt x="7975531" y="5546173"/>
                </a:lnTo>
                <a:lnTo>
                  <a:pt x="0" y="554617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Rounded Rectangle 8"/>
          <p:cNvSpPr/>
          <p:nvPr/>
        </p:nvSpPr>
        <p:spPr>
          <a:xfrm>
            <a:off x="1024128" y="2743200"/>
            <a:ext cx="6492240" cy="1389888"/>
          </a:xfrm>
          <a:prstGeom prst="roundRect">
            <a:avLst>
              <a:gd name="adj" fmla="val 9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24128" y="2743200"/>
            <a:ext cx="146304" cy="1389888"/>
          </a:xfrm>
          <a:prstGeom prst="rect">
            <a:avLst/>
          </a:prstGeom>
          <a:solidFill>
            <a:srgbClr val="6F2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08176" y="2907792"/>
            <a:ext cx="5806440" cy="475488"/>
          </a:xfrm>
          <a:prstGeom prst="rect">
            <a:avLst/>
          </a:prstGeom>
          <a:noFill/>
        </p:spPr>
        <p:txBody>
          <a:bodyPr wrap="square" lIns="0" tIns="0" rIns="0" bIns="0">
            <a:spAutoFit/>
          </a:bodyPr>
          <a:lstStyle/>
          <a:p>
            <a:pPr>
              <a:lnSpc>
                <a:spcPct val="100000"/>
              </a:lnSpc>
              <a:spcBef>
                <a:spcPts val="0"/>
              </a:spcBef>
              <a:spcAft>
                <a:spcPts val="594"/>
              </a:spcAft>
              <a:defRPr sz="2700" b="1">
                <a:solidFill>
                  <a:srgbClr val="6F251B"/>
                </a:solidFill>
                <a:latin typeface="DM Sans Bold"/>
              </a:defRPr>
            </a:pPr>
            <a:r>
              <a:t>1   Assign the parameters</a:t>
            </a:r>
          </a:p>
        </p:txBody>
      </p:sp>
      <p:sp>
        <p:nvSpPr>
          <p:cNvPr id="12" name="TextBox 11"/>
          <p:cNvSpPr txBox="1"/>
          <p:nvPr/>
        </p:nvSpPr>
        <p:spPr>
          <a:xfrm>
            <a:off x="1408176" y="3456432"/>
            <a:ext cx="5806440" cy="548640"/>
          </a:xfrm>
          <a:prstGeom prst="rect">
            <a:avLst/>
          </a:prstGeom>
          <a:noFill/>
        </p:spPr>
        <p:txBody>
          <a:bodyPr wrap="square" lIns="0" tIns="0" rIns="0" bIns="0">
            <a:spAutoFit/>
          </a:bodyPr>
          <a:lstStyle/>
          <a:p>
            <a:pPr>
              <a:lnSpc>
                <a:spcPct val="100000"/>
              </a:lnSpc>
              <a:spcBef>
                <a:spcPts val="0"/>
              </a:spcBef>
              <a:spcAft>
                <a:spcPts val="462"/>
              </a:spcAft>
              <a:defRPr sz="2100" b="0">
                <a:solidFill>
                  <a:srgbClr val="CB6C29"/>
                </a:solidFill>
                <a:latin typeface="DM Sans"/>
              </a:defRPr>
            </a:pPr>
            <a:r>
              <a:t>colony 50, SN 25, limit 50, 100 cycles</a:t>
            </a:r>
          </a:p>
        </p:txBody>
      </p:sp>
      <p:sp>
        <p:nvSpPr>
          <p:cNvPr id="13" name="Rounded Rectangle 12"/>
          <p:cNvSpPr/>
          <p:nvPr/>
        </p:nvSpPr>
        <p:spPr>
          <a:xfrm>
            <a:off x="1024128" y="4407408"/>
            <a:ext cx="6492240" cy="1389888"/>
          </a:xfrm>
          <a:prstGeom prst="roundRect">
            <a:avLst>
              <a:gd name="adj" fmla="val 9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24128" y="4407408"/>
            <a:ext cx="146304" cy="1389888"/>
          </a:xfrm>
          <a:prstGeom prst="rect">
            <a:avLst/>
          </a:prstGeom>
          <a:solidFill>
            <a:srgbClr val="6F2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08176" y="4572000"/>
            <a:ext cx="5806440" cy="475488"/>
          </a:xfrm>
          <a:prstGeom prst="rect">
            <a:avLst/>
          </a:prstGeom>
          <a:noFill/>
        </p:spPr>
        <p:txBody>
          <a:bodyPr wrap="square" lIns="0" tIns="0" rIns="0" bIns="0">
            <a:spAutoFit/>
          </a:bodyPr>
          <a:lstStyle/>
          <a:p>
            <a:pPr>
              <a:lnSpc>
                <a:spcPct val="100000"/>
              </a:lnSpc>
              <a:spcBef>
                <a:spcPts val="0"/>
              </a:spcBef>
              <a:spcAft>
                <a:spcPts val="594"/>
              </a:spcAft>
              <a:defRPr sz="2700" b="1">
                <a:solidFill>
                  <a:srgbClr val="6F251B"/>
                </a:solidFill>
                <a:latin typeface="DM Sans Bold"/>
              </a:defRPr>
            </a:pPr>
            <a:r>
              <a:t>2   Initialise 25 sources</a:t>
            </a:r>
          </a:p>
        </p:txBody>
      </p:sp>
      <p:sp>
        <p:nvSpPr>
          <p:cNvPr id="16" name="TextBox 15"/>
          <p:cNvSpPr txBox="1"/>
          <p:nvPr/>
        </p:nvSpPr>
        <p:spPr>
          <a:xfrm>
            <a:off x="1408176" y="5120640"/>
            <a:ext cx="5806440" cy="548640"/>
          </a:xfrm>
          <a:prstGeom prst="rect">
            <a:avLst/>
          </a:prstGeom>
          <a:noFill/>
        </p:spPr>
        <p:txBody>
          <a:bodyPr wrap="square" lIns="0" tIns="0" rIns="0" bIns="0">
            <a:spAutoFit/>
          </a:bodyPr>
          <a:lstStyle/>
          <a:p>
            <a:pPr>
              <a:lnSpc>
                <a:spcPct val="100000"/>
              </a:lnSpc>
              <a:spcBef>
                <a:spcPts val="0"/>
              </a:spcBef>
              <a:spcAft>
                <a:spcPts val="462"/>
              </a:spcAft>
              <a:defRPr sz="2100" b="0">
                <a:solidFill>
                  <a:srgbClr val="CB6C29"/>
                </a:solidFill>
                <a:latin typeface="DM Sans"/>
              </a:defRPr>
            </a:pPr>
            <a:r>
              <a:t>random points, evaluate, remember the best</a:t>
            </a:r>
          </a:p>
        </p:txBody>
      </p:sp>
      <p:cxnSp>
        <p:nvCxnSpPr>
          <p:cNvPr id="17" name="Connector 16"/>
          <p:cNvCxnSpPr/>
          <p:nvPr/>
        </p:nvCxnSpPr>
        <p:spPr>
          <a:xfrm>
            <a:off x="4270248" y="4133087"/>
            <a:ext cx="0" cy="274321"/>
          </a:xfrm>
          <a:prstGeom prst="line">
            <a:avLst/>
          </a:prstGeom>
          <a:ln w="30480">
            <a:solidFill>
              <a:srgbClr val="E37E03"/>
            </a:solidFill>
          </a:ln>
        </p:spPr>
        <p:style>
          <a:lnRef idx="2">
            <a:schemeClr val="accent1"/>
          </a:lnRef>
          <a:fillRef idx="0">
            <a:schemeClr val="accent1"/>
          </a:fillRef>
          <a:effectRef idx="1">
            <a:schemeClr val="accent1"/>
          </a:effectRef>
          <a:fontRef idx="minor">
            <a:schemeClr val="tx1"/>
          </a:fontRef>
        </p:style>
      </p:cxnSp>
      <p:sp>
        <p:nvSpPr>
          <p:cNvPr id="18" name="Right Arrow 17"/>
          <p:cNvSpPr/>
          <p:nvPr/>
        </p:nvSpPr>
        <p:spPr>
          <a:xfrm>
            <a:off x="7607808" y="4773168"/>
            <a:ext cx="658368" cy="384048"/>
          </a:xfrm>
          <a:prstGeom prst="rightArrow">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485632" y="2615184"/>
            <a:ext cx="8778240" cy="58704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96528" y="2761488"/>
            <a:ext cx="8138160" cy="502920"/>
          </a:xfrm>
          <a:prstGeom prst="rect">
            <a:avLst/>
          </a:prstGeom>
          <a:noFill/>
        </p:spPr>
        <p:txBody>
          <a:bodyPr wrap="square" lIns="0" tIns="0" rIns="0" bIns="0">
            <a:spAutoFit/>
          </a:bodyPr>
          <a:lstStyle/>
          <a:p>
            <a:pPr>
              <a:lnSpc>
                <a:spcPct val="100000"/>
              </a:lnSpc>
              <a:spcBef>
                <a:spcPts val="0"/>
              </a:spcBef>
              <a:spcAft>
                <a:spcPts val="616"/>
              </a:spcAft>
              <a:defRPr sz="2800" b="0">
                <a:solidFill>
                  <a:srgbClr val="E37E03"/>
                </a:solidFill>
                <a:latin typeface="More Sugar"/>
              </a:defRPr>
            </a:pPr>
            <a:r>
              <a:t>Step 3  —  repeat every cycle</a:t>
            </a:r>
          </a:p>
        </p:txBody>
      </p:sp>
      <p:sp>
        <p:nvSpPr>
          <p:cNvPr id="21" name="Reveal_1"/>
          <p:cNvSpPr/>
          <p:nvPr/>
        </p:nvSpPr>
        <p:spPr>
          <a:xfrm>
            <a:off x="8796528" y="3401568"/>
            <a:ext cx="8156448" cy="1152144"/>
          </a:xfrm>
          <a:prstGeom prst="roundRect">
            <a:avLst>
              <a:gd name="adj" fmla="val 8237"/>
            </a:avLst>
          </a:prstGeom>
          <a:solidFill>
            <a:srgbClr val="F3E7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796528" y="3401568"/>
            <a:ext cx="146304" cy="1152144"/>
          </a:xfrm>
          <a:prstGeom prst="rect">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veal_1_title"/>
          <p:cNvSpPr txBox="1"/>
          <p:nvPr/>
        </p:nvSpPr>
        <p:spPr>
          <a:xfrm>
            <a:off x="9180576" y="3566160"/>
            <a:ext cx="7470648" cy="475488"/>
          </a:xfrm>
          <a:prstGeom prst="rect">
            <a:avLst/>
          </a:prstGeom>
          <a:noFill/>
        </p:spPr>
        <p:txBody>
          <a:bodyPr wrap="square" lIns="0" tIns="0" rIns="0" bIns="0">
            <a:spAutoFit/>
          </a:bodyPr>
          <a:lstStyle/>
          <a:p>
            <a:pPr>
              <a:lnSpc>
                <a:spcPct val="100000"/>
              </a:lnSpc>
              <a:spcBef>
                <a:spcPts val="0"/>
              </a:spcBef>
              <a:spcAft>
                <a:spcPts val="550"/>
              </a:spcAft>
              <a:defRPr sz="2500" b="1">
                <a:solidFill>
                  <a:srgbClr val="6F251B"/>
                </a:solidFill>
                <a:latin typeface="DM Sans Bold"/>
              </a:defRPr>
            </a:pPr>
            <a:r>
              <a:t>Employed bee phase</a:t>
            </a:r>
          </a:p>
        </p:txBody>
      </p:sp>
      <p:sp>
        <p:nvSpPr>
          <p:cNvPr id="24" name="Reveal_1_body"/>
          <p:cNvSpPr txBox="1"/>
          <p:nvPr/>
        </p:nvSpPr>
        <p:spPr>
          <a:xfrm>
            <a:off x="9180576" y="4114800"/>
            <a:ext cx="7470648" cy="54864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25 bees search next to their own source</a:t>
            </a:r>
          </a:p>
        </p:txBody>
      </p:sp>
      <p:sp>
        <p:nvSpPr>
          <p:cNvPr id="25" name="Reveal_2"/>
          <p:cNvSpPr/>
          <p:nvPr/>
        </p:nvSpPr>
        <p:spPr>
          <a:xfrm>
            <a:off x="8796528" y="4681728"/>
            <a:ext cx="8156448" cy="1152144"/>
          </a:xfrm>
          <a:prstGeom prst="roundRect">
            <a:avLst>
              <a:gd name="adj" fmla="val 8237"/>
            </a:avLst>
          </a:prstGeom>
          <a:solidFill>
            <a:srgbClr val="F3E7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796528" y="4681728"/>
            <a:ext cx="146304" cy="1152144"/>
          </a:xfrm>
          <a:prstGeom prst="rect">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veal_2_title"/>
          <p:cNvSpPr txBox="1"/>
          <p:nvPr/>
        </p:nvSpPr>
        <p:spPr>
          <a:xfrm>
            <a:off x="9180576" y="4846320"/>
            <a:ext cx="7470648" cy="475488"/>
          </a:xfrm>
          <a:prstGeom prst="rect">
            <a:avLst/>
          </a:prstGeom>
          <a:noFill/>
        </p:spPr>
        <p:txBody>
          <a:bodyPr wrap="square" lIns="0" tIns="0" rIns="0" bIns="0">
            <a:spAutoFit/>
          </a:bodyPr>
          <a:lstStyle/>
          <a:p>
            <a:pPr>
              <a:lnSpc>
                <a:spcPct val="100000"/>
              </a:lnSpc>
              <a:spcBef>
                <a:spcPts val="0"/>
              </a:spcBef>
              <a:spcAft>
                <a:spcPts val="550"/>
              </a:spcAft>
              <a:defRPr sz="2500" b="1">
                <a:solidFill>
                  <a:srgbClr val="6F251B"/>
                </a:solidFill>
                <a:latin typeface="DM Sans Bold"/>
              </a:defRPr>
            </a:pPr>
            <a:r>
              <a:t>Onlooker bee phase</a:t>
            </a:r>
          </a:p>
        </p:txBody>
      </p:sp>
      <p:sp>
        <p:nvSpPr>
          <p:cNvPr id="28" name="Reveal_2_body"/>
          <p:cNvSpPr txBox="1"/>
          <p:nvPr/>
        </p:nvSpPr>
        <p:spPr>
          <a:xfrm>
            <a:off x="9180576" y="5394960"/>
            <a:ext cx="7470648" cy="54864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25 roulette-wheel visits to the richer sources</a:t>
            </a:r>
          </a:p>
        </p:txBody>
      </p:sp>
      <p:sp>
        <p:nvSpPr>
          <p:cNvPr id="29" name="Reveal_3"/>
          <p:cNvSpPr/>
          <p:nvPr/>
        </p:nvSpPr>
        <p:spPr>
          <a:xfrm>
            <a:off x="8796528" y="5961888"/>
            <a:ext cx="8156448" cy="1152144"/>
          </a:xfrm>
          <a:prstGeom prst="roundRect">
            <a:avLst>
              <a:gd name="adj" fmla="val 8237"/>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796528" y="5961888"/>
            <a:ext cx="146304" cy="1152144"/>
          </a:xfrm>
          <a:prstGeom prst="rect">
            <a:avLst/>
          </a:prstGeom>
          <a:solidFill>
            <a:srgbClr val="6F2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veal_3_title"/>
          <p:cNvSpPr txBox="1"/>
          <p:nvPr/>
        </p:nvSpPr>
        <p:spPr>
          <a:xfrm>
            <a:off x="9180576" y="6126479"/>
            <a:ext cx="7470648" cy="475488"/>
          </a:xfrm>
          <a:prstGeom prst="rect">
            <a:avLst/>
          </a:prstGeom>
          <a:noFill/>
        </p:spPr>
        <p:txBody>
          <a:bodyPr wrap="square" lIns="0" tIns="0" rIns="0" bIns="0">
            <a:spAutoFit/>
          </a:bodyPr>
          <a:lstStyle/>
          <a:p>
            <a:pPr>
              <a:lnSpc>
                <a:spcPct val="100000"/>
              </a:lnSpc>
              <a:spcBef>
                <a:spcPts val="0"/>
              </a:spcBef>
              <a:spcAft>
                <a:spcPts val="550"/>
              </a:spcAft>
              <a:defRPr sz="2500" b="1">
                <a:solidFill>
                  <a:srgbClr val="6F251B"/>
                </a:solidFill>
                <a:latin typeface="DM Sans Bold"/>
              </a:defRPr>
            </a:pPr>
            <a:r>
              <a:t>Memorise the best solution</a:t>
            </a:r>
          </a:p>
        </p:txBody>
      </p:sp>
      <p:sp>
        <p:nvSpPr>
          <p:cNvPr id="32" name="Reveal_3_body"/>
          <p:cNvSpPr txBox="1"/>
          <p:nvPr/>
        </p:nvSpPr>
        <p:spPr>
          <a:xfrm>
            <a:off x="9180576" y="6675120"/>
            <a:ext cx="7470648" cy="54864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done BEFORE the scouts run</a:t>
            </a:r>
          </a:p>
        </p:txBody>
      </p:sp>
      <p:sp>
        <p:nvSpPr>
          <p:cNvPr id="33" name="Reveal_4"/>
          <p:cNvSpPr/>
          <p:nvPr/>
        </p:nvSpPr>
        <p:spPr>
          <a:xfrm>
            <a:off x="8796528" y="7242048"/>
            <a:ext cx="8156448" cy="1152144"/>
          </a:xfrm>
          <a:prstGeom prst="roundRect">
            <a:avLst>
              <a:gd name="adj" fmla="val 8237"/>
            </a:avLst>
          </a:prstGeom>
          <a:solidFill>
            <a:srgbClr val="F3E7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796528" y="7242048"/>
            <a:ext cx="146304" cy="1152144"/>
          </a:xfrm>
          <a:prstGeom prst="rect">
            <a:avLst/>
          </a:prstGeom>
          <a:solidFill>
            <a:srgbClr val="CB6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veal_4_title"/>
          <p:cNvSpPr txBox="1"/>
          <p:nvPr/>
        </p:nvSpPr>
        <p:spPr>
          <a:xfrm>
            <a:off x="9180576" y="7406640"/>
            <a:ext cx="7470648" cy="475488"/>
          </a:xfrm>
          <a:prstGeom prst="rect">
            <a:avLst/>
          </a:prstGeom>
          <a:noFill/>
        </p:spPr>
        <p:txBody>
          <a:bodyPr wrap="square" lIns="0" tIns="0" rIns="0" bIns="0">
            <a:spAutoFit/>
          </a:bodyPr>
          <a:lstStyle/>
          <a:p>
            <a:pPr>
              <a:lnSpc>
                <a:spcPct val="100000"/>
              </a:lnSpc>
              <a:spcBef>
                <a:spcPts val="0"/>
              </a:spcBef>
              <a:spcAft>
                <a:spcPts val="550"/>
              </a:spcAft>
              <a:defRPr sz="2500" b="1">
                <a:solidFill>
                  <a:srgbClr val="6F251B"/>
                </a:solidFill>
                <a:latin typeface="DM Sans Bold"/>
              </a:defRPr>
            </a:pPr>
            <a:r>
              <a:t>Scout bee phase</a:t>
            </a:r>
          </a:p>
        </p:txBody>
      </p:sp>
      <p:sp>
        <p:nvSpPr>
          <p:cNvPr id="36" name="Reveal_4_body"/>
          <p:cNvSpPr txBox="1"/>
          <p:nvPr/>
        </p:nvSpPr>
        <p:spPr>
          <a:xfrm>
            <a:off x="9180576" y="7955279"/>
            <a:ext cx="7470648" cy="54864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replace any source stuck for 50 tries</a:t>
            </a:r>
          </a:p>
        </p:txBody>
      </p:sp>
      <p:cxnSp>
        <p:nvCxnSpPr>
          <p:cNvPr id="37" name="Connector 36"/>
          <p:cNvCxnSpPr/>
          <p:nvPr/>
        </p:nvCxnSpPr>
        <p:spPr>
          <a:xfrm>
            <a:off x="12874752" y="4553712"/>
            <a:ext cx="0" cy="128016"/>
          </a:xfrm>
          <a:prstGeom prst="line">
            <a:avLst/>
          </a:prstGeom>
          <a:ln w="30480">
            <a:solidFill>
              <a:srgbClr val="E37E0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874752" y="5833872"/>
            <a:ext cx="0" cy="128016"/>
          </a:xfrm>
          <a:prstGeom prst="line">
            <a:avLst/>
          </a:prstGeom>
          <a:ln w="30480">
            <a:solidFill>
              <a:srgbClr val="E37E0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2874752" y="7114032"/>
            <a:ext cx="0" cy="128016"/>
          </a:xfrm>
          <a:prstGeom prst="line">
            <a:avLst/>
          </a:prstGeom>
          <a:ln w="30480">
            <a:solidFill>
              <a:srgbClr val="E37E0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024128" y="6071616"/>
            <a:ext cx="6492240" cy="1389888"/>
          </a:xfrm>
          <a:prstGeom prst="roundRect">
            <a:avLst>
              <a:gd name="adj" fmla="val 9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024128" y="6071616"/>
            <a:ext cx="146304" cy="1389888"/>
          </a:xfrm>
          <a:prstGeom prst="rect">
            <a:avLst/>
          </a:prstGeom>
          <a:solidFill>
            <a:srgbClr val="6F2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408176" y="6236207"/>
            <a:ext cx="5806440" cy="475488"/>
          </a:xfrm>
          <a:prstGeom prst="rect">
            <a:avLst/>
          </a:prstGeom>
          <a:noFill/>
        </p:spPr>
        <p:txBody>
          <a:bodyPr wrap="square" lIns="0" tIns="0" rIns="0" bIns="0">
            <a:spAutoFit/>
          </a:bodyPr>
          <a:lstStyle/>
          <a:p>
            <a:pPr>
              <a:lnSpc>
                <a:spcPct val="100000"/>
              </a:lnSpc>
              <a:spcBef>
                <a:spcPts val="0"/>
              </a:spcBef>
              <a:spcAft>
                <a:spcPts val="594"/>
              </a:spcAft>
              <a:defRPr sz="2700" b="1">
                <a:solidFill>
                  <a:srgbClr val="6F251B"/>
                </a:solidFill>
                <a:latin typeface="DM Sans Bold"/>
              </a:defRPr>
            </a:pPr>
            <a:r>
              <a:t>4   Stop and report</a:t>
            </a:r>
          </a:p>
        </p:txBody>
      </p:sp>
      <p:sp>
        <p:nvSpPr>
          <p:cNvPr id="43" name="TextBox 42"/>
          <p:cNvSpPr txBox="1"/>
          <p:nvPr/>
        </p:nvSpPr>
        <p:spPr>
          <a:xfrm>
            <a:off x="1408176" y="6784848"/>
            <a:ext cx="5806440" cy="548640"/>
          </a:xfrm>
          <a:prstGeom prst="rect">
            <a:avLst/>
          </a:prstGeom>
          <a:noFill/>
        </p:spPr>
        <p:txBody>
          <a:bodyPr wrap="square" lIns="0" tIns="0" rIns="0" bIns="0">
            <a:spAutoFit/>
          </a:bodyPr>
          <a:lstStyle/>
          <a:p>
            <a:pPr>
              <a:lnSpc>
                <a:spcPct val="100000"/>
              </a:lnSpc>
              <a:spcBef>
                <a:spcPts val="0"/>
              </a:spcBef>
              <a:spcAft>
                <a:spcPts val="462"/>
              </a:spcAft>
              <a:defRPr sz="2100" b="0">
                <a:solidFill>
                  <a:srgbClr val="CB6C29"/>
                </a:solidFill>
                <a:latin typeface="DM Sans"/>
              </a:defRPr>
            </a:pPr>
            <a:r>
              <a:t>after 100 cycles, or when progress stalls</a:t>
            </a:r>
          </a:p>
        </p:txBody>
      </p:sp>
      <p:sp>
        <p:nvSpPr>
          <p:cNvPr id="44" name="TextBox 43"/>
          <p:cNvSpPr txBox="1"/>
          <p:nvPr/>
        </p:nvSpPr>
        <p:spPr>
          <a:xfrm>
            <a:off x="1371600" y="7735824"/>
            <a:ext cx="5943600" cy="502920"/>
          </a:xfrm>
          <a:prstGeom prst="rect">
            <a:avLst/>
          </a:prstGeom>
          <a:noFill/>
        </p:spPr>
        <p:txBody>
          <a:bodyPr wrap="square" lIns="0" tIns="0" rIns="0" bIns="0">
            <a:spAutoFit/>
          </a:bodyPr>
          <a:lstStyle/>
          <a:p>
            <a:pPr>
              <a:lnSpc>
                <a:spcPct val="100000"/>
              </a:lnSpc>
              <a:spcBef>
                <a:spcPts val="0"/>
              </a:spcBef>
              <a:spcAft>
                <a:spcPts val="594"/>
              </a:spcAft>
              <a:defRPr sz="2700" b="0">
                <a:solidFill>
                  <a:srgbClr val="E37E03"/>
                </a:solidFill>
                <a:latin typeface="More Sugar"/>
              </a:defRPr>
            </a:pPr>
            <a:r>
              <a:t>↺   back to step 3</a:t>
            </a:r>
          </a:p>
        </p:txBody>
      </p:sp>
      <p:sp>
        <p:nvSpPr>
          <p:cNvPr id="45" name="Rounded Rectangle 44"/>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Memorising the best before the scouts run is this algorithm's elitism.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99"/>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199"/>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199"/>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199"/>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199"/>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199"/>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199"/>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199"/>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99"/>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199"/>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199"/>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199"/>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p:bldP spid="24" grpId="0"/>
      <p:bldP spid="25" grpId="0" animBg="1"/>
      <p:bldP spid="27" grpId="0"/>
      <p:bldP spid="28" grpId="0"/>
      <p:bldP spid="29" grpId="0" animBg="1"/>
      <p:bldP spid="31" grpId="0"/>
      <p:bldP spid="32" grpId="0"/>
      <p:bldP spid="33" grpId="0" animBg="1"/>
      <p:bldP spid="35"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03 - THE EQUATIONS</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496"/>
              </a:spcAft>
              <a:defRPr sz="6800" b="0">
                <a:solidFill>
                  <a:srgbClr val="6F251B"/>
                </a:solidFill>
                <a:latin typeface="More Sugar"/>
              </a:defRPr>
            </a:pPr>
            <a:r>
              <a:t>Every solution is two real numbers</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09</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comb_glow"/>
          <p:cNvSpPr/>
          <p:nvPr/>
        </p:nvSpPr>
        <p:spPr>
          <a:xfrm>
            <a:off x="15453359" y="-960120"/>
            <a:ext cx="4206240" cy="2743200"/>
          </a:xfrm>
          <a:custGeom>
            <a:avLst/>
            <a:gdLst/>
            <a:ahLst/>
            <a:cxnLst/>
            <a:rect l="l" t="t" r="r" b="b"/>
            <a:pathLst>
              <a:path w="6684421" h="4375257">
                <a:moveTo>
                  <a:pt x="0" y="0"/>
                </a:moveTo>
                <a:lnTo>
                  <a:pt x="6684421" y="0"/>
                </a:lnTo>
                <a:lnTo>
                  <a:pt x="6684421" y="4375258"/>
                </a:lnTo>
                <a:lnTo>
                  <a:pt x="0" y="43752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7"/>
          <p:cNvSpPr txBox="1"/>
          <p:nvPr/>
        </p:nvSpPr>
        <p:spPr>
          <a:xfrm>
            <a:off x="1024128" y="2651760"/>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ONE FOOD SOURCE</a:t>
            </a:r>
          </a:p>
        </p:txBody>
      </p:sp>
      <p:sp>
        <p:nvSpPr>
          <p:cNvPr id="9" name="TextBox 8"/>
          <p:cNvSpPr txBox="1"/>
          <p:nvPr/>
        </p:nvSpPr>
        <p:spPr>
          <a:xfrm>
            <a:off x="2423160" y="3054096"/>
            <a:ext cx="59436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E37E03"/>
                </a:solidFill>
                <a:latin typeface="DM Sans Bold"/>
              </a:defRPr>
            </a:pPr>
            <a:r>
              <a:t>COORDINATE 1</a:t>
            </a:r>
          </a:p>
        </p:txBody>
      </p:sp>
      <p:sp>
        <p:nvSpPr>
          <p:cNvPr id="10" name="Rounded Rectangle 9"/>
          <p:cNvSpPr/>
          <p:nvPr/>
        </p:nvSpPr>
        <p:spPr>
          <a:xfrm>
            <a:off x="2423160" y="3438144"/>
            <a:ext cx="5989320" cy="20574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23160" y="3675887"/>
            <a:ext cx="5989320" cy="1554480"/>
          </a:xfrm>
          <a:prstGeom prst="rect">
            <a:avLst/>
          </a:prstGeom>
          <a:noFill/>
        </p:spPr>
        <p:txBody>
          <a:bodyPr wrap="square" lIns="0" tIns="0" rIns="0" bIns="0">
            <a:spAutoFit/>
          </a:bodyPr>
          <a:lstStyle/>
          <a:p>
            <a:pPr algn="ctr">
              <a:lnSpc>
                <a:spcPct val="100000"/>
              </a:lnSpc>
              <a:spcBef>
                <a:spcPts val="0"/>
              </a:spcBef>
              <a:spcAft>
                <a:spcPts val="1716"/>
              </a:spcAft>
              <a:defRPr sz="7800" b="0">
                <a:solidFill>
                  <a:srgbClr val="E37E03"/>
                </a:solidFill>
                <a:latin typeface="More Sugar"/>
              </a:defRPr>
            </a:pPr>
            <a:r>
              <a:t>x₁</a:t>
            </a:r>
          </a:p>
        </p:txBody>
      </p:sp>
      <p:sp>
        <p:nvSpPr>
          <p:cNvPr id="12" name="TextBox 11"/>
          <p:cNvSpPr txBox="1"/>
          <p:nvPr/>
        </p:nvSpPr>
        <p:spPr>
          <a:xfrm>
            <a:off x="9326880" y="3054096"/>
            <a:ext cx="59436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COORDINATE 2</a:t>
            </a:r>
          </a:p>
        </p:txBody>
      </p:sp>
      <p:sp>
        <p:nvSpPr>
          <p:cNvPr id="13" name="Rounded Rectangle 12"/>
          <p:cNvSpPr/>
          <p:nvPr/>
        </p:nvSpPr>
        <p:spPr>
          <a:xfrm>
            <a:off x="9326880" y="3438144"/>
            <a:ext cx="5989320" cy="20574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0" y="3675887"/>
            <a:ext cx="5989320" cy="1554480"/>
          </a:xfrm>
          <a:prstGeom prst="rect">
            <a:avLst/>
          </a:prstGeom>
          <a:noFill/>
        </p:spPr>
        <p:txBody>
          <a:bodyPr wrap="square" lIns="0" tIns="0" rIns="0" bIns="0">
            <a:spAutoFit/>
          </a:bodyPr>
          <a:lstStyle/>
          <a:p>
            <a:pPr algn="ctr">
              <a:lnSpc>
                <a:spcPct val="100000"/>
              </a:lnSpc>
              <a:spcBef>
                <a:spcPts val="0"/>
              </a:spcBef>
              <a:spcAft>
                <a:spcPts val="1716"/>
              </a:spcAft>
              <a:defRPr sz="7800" b="0">
                <a:solidFill>
                  <a:srgbClr val="CB6C29"/>
                </a:solidFill>
                <a:latin typeface="More Sugar"/>
              </a:defRPr>
            </a:pPr>
            <a:r>
              <a:t>x₂</a:t>
            </a:r>
          </a:p>
        </p:txBody>
      </p:sp>
      <p:sp>
        <p:nvSpPr>
          <p:cNvPr id="15" name="TextBox 14"/>
          <p:cNvSpPr txBox="1"/>
          <p:nvPr/>
        </p:nvSpPr>
        <p:spPr>
          <a:xfrm>
            <a:off x="2423160" y="5669280"/>
            <a:ext cx="12893040" cy="548640"/>
          </a:xfrm>
          <a:prstGeom prst="rect">
            <a:avLst/>
          </a:prstGeom>
          <a:noFill/>
        </p:spPr>
        <p:txBody>
          <a:bodyPr wrap="square" lIns="0" tIns="0" rIns="0" bIns="0">
            <a:spAutoFit/>
          </a:bodyPr>
          <a:lstStyle/>
          <a:p>
            <a:pPr algn="ctr">
              <a:lnSpc>
                <a:spcPct val="100000"/>
              </a:lnSpc>
              <a:spcBef>
                <a:spcPts val="0"/>
              </a:spcBef>
              <a:spcAft>
                <a:spcPts val="616"/>
              </a:spcAft>
              <a:defRPr sz="2800" b="1">
                <a:solidFill>
                  <a:srgbClr val="6F251B"/>
                </a:solidFill>
                <a:latin typeface="DM Sans Bold"/>
              </a:defRPr>
            </a:pPr>
            <a:r>
              <a:t>both inside  [ −5 ,  +5 ]</a:t>
            </a:r>
          </a:p>
        </p:txBody>
      </p:sp>
      <p:sp>
        <p:nvSpPr>
          <p:cNvPr id="16" name="TextBox 15"/>
          <p:cNvSpPr txBox="1"/>
          <p:nvPr/>
        </p:nvSpPr>
        <p:spPr>
          <a:xfrm>
            <a:off x="1024128" y="6419088"/>
            <a:ext cx="128016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INITIALISE  —  AND THE SCOUTS REUSE THE SAME LINE</a:t>
            </a:r>
          </a:p>
        </p:txBody>
      </p:sp>
      <p:sp>
        <p:nvSpPr>
          <p:cNvPr id="17" name="Rounded Rectangle 16"/>
          <p:cNvSpPr/>
          <p:nvPr/>
        </p:nvSpPr>
        <p:spPr>
          <a:xfrm>
            <a:off x="1024128" y="6803136"/>
            <a:ext cx="10241280" cy="1828800"/>
          </a:xfrm>
          <a:prstGeom prst="roundRect">
            <a:avLst>
              <a:gd name="adj" fmla="val 9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initialisation" descr="x_{ij} = x_{\min,j} + \mathrm{rand}(0,1)\,\left(x_{\max,j} - x_{\min,j}\right)"/>
          <p:cNvPicPr>
            <a:picLocks noChangeAspect="1"/>
          </p:cNvPicPr>
          <p:nvPr/>
        </p:nvPicPr>
        <p:blipFill>
          <a:blip r:embed="rId4"/>
          <a:stretch>
            <a:fillRect/>
          </a:stretch>
        </p:blipFill>
        <p:spPr>
          <a:xfrm>
            <a:off x="1325880" y="7314159"/>
            <a:ext cx="9692640" cy="806752"/>
          </a:xfrm>
          <a:prstGeom prst="rect">
            <a:avLst/>
          </a:prstGeom>
        </p:spPr>
      </p:pic>
      <p:sp>
        <p:nvSpPr>
          <p:cNvPr id="19" name="Rounded Rectangle 18"/>
          <p:cNvSpPr/>
          <p:nvPr/>
        </p:nvSpPr>
        <p:spPr>
          <a:xfrm>
            <a:off x="11631168" y="6803136"/>
            <a:ext cx="5632704" cy="18288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932920" y="7059168"/>
            <a:ext cx="5029200" cy="365760"/>
          </a:xfrm>
          <a:prstGeom prst="rect">
            <a:avLst/>
          </a:prstGeom>
          <a:noFill/>
        </p:spPr>
        <p:txBody>
          <a:bodyPr wrap="square" lIns="0" tIns="0" rIns="0" bIns="0">
            <a:spAutoFit/>
          </a:bodyPr>
          <a:lstStyle/>
          <a:p>
            <a:pPr>
              <a:lnSpc>
                <a:spcPct val="100000"/>
              </a:lnSpc>
              <a:spcBef>
                <a:spcPts val="0"/>
              </a:spcBef>
              <a:spcAft>
                <a:spcPts val="440"/>
              </a:spcAft>
              <a:defRPr sz="2000" b="1">
                <a:solidFill>
                  <a:srgbClr val="CB6C29"/>
                </a:solidFill>
                <a:latin typeface="DM Sans Bold"/>
              </a:defRPr>
            </a:pPr>
            <a:r>
              <a:t>Example sources</a:t>
            </a:r>
          </a:p>
        </p:txBody>
      </p:sp>
      <p:sp>
        <p:nvSpPr>
          <p:cNvPr id="21" name="TextBox 20"/>
          <p:cNvSpPr txBox="1"/>
          <p:nvPr/>
        </p:nvSpPr>
        <p:spPr>
          <a:xfrm>
            <a:off x="11932920" y="7498079"/>
            <a:ext cx="5120640" cy="1005840"/>
          </a:xfrm>
          <a:prstGeom prst="rect">
            <a:avLst/>
          </a:prstGeom>
          <a:noFill/>
        </p:spPr>
        <p:txBody>
          <a:bodyPr wrap="square" lIns="0" tIns="0" rIns="0" bIns="0">
            <a:spAutoFit/>
          </a:bodyPr>
          <a:lstStyle/>
          <a:p>
            <a:pPr>
              <a:lnSpc>
                <a:spcPct val="100000"/>
              </a:lnSpc>
              <a:spcBef>
                <a:spcPts val="0"/>
              </a:spcBef>
              <a:spcAft>
                <a:spcPts val="572"/>
              </a:spcAft>
              <a:defRPr sz="2600" b="1">
                <a:solidFill>
                  <a:srgbClr val="6F251B"/>
                </a:solidFill>
                <a:latin typeface="DM Sans Bold"/>
              </a:defRPr>
            </a:pPr>
            <a:r>
              <a:t>[ −4.0 ,  2.5 ]</a:t>
            </a:r>
          </a:p>
          <a:p>
            <a:pPr>
              <a:lnSpc>
                <a:spcPct val="100000"/>
              </a:lnSpc>
              <a:spcBef>
                <a:spcPts val="0"/>
              </a:spcBef>
              <a:spcAft>
                <a:spcPts val="572"/>
              </a:spcAft>
              <a:defRPr sz="2600" b="1">
                <a:solidFill>
                  <a:srgbClr val="6F251B"/>
                </a:solidFill>
                <a:latin typeface="DM Sans Bold"/>
              </a:defRPr>
            </a:pPr>
            <a:r>
              <a:t>[ −1.5 ,  −1.0 ]</a:t>
            </a:r>
          </a:p>
        </p:txBody>
      </p:sp>
      <p:sp>
        <p:nvSpPr>
          <p:cNvPr id="22" name="Rounded Rectangle 21"/>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Value encoding: the food source stores the two coordinates directly.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03 - THE EQUATIONS</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How a bee searches nearby</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10</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bee"/>
          <p:cNvSpPr/>
          <p:nvPr/>
        </p:nvSpPr>
        <p:spPr>
          <a:xfrm rot="-771037">
            <a:off x="15910559" y="365760"/>
            <a:ext cx="1005840" cy="89611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Rounded Rectangle 7"/>
          <p:cNvSpPr/>
          <p:nvPr/>
        </p:nvSpPr>
        <p:spPr>
          <a:xfrm>
            <a:off x="1024128" y="2633472"/>
            <a:ext cx="16239744" cy="1517904"/>
          </a:xfrm>
          <a:prstGeom prst="roundRect">
            <a:avLst>
              <a:gd name="adj" fmla="val 6804"/>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neighbour" descr="v_{ij} \;=\; x_{ij} \;+\; \varphi_{ij}\,\left(x_{ij} - x_{kj}\right)"/>
          <p:cNvPicPr>
            <a:picLocks noChangeAspect="1"/>
          </p:cNvPicPr>
          <p:nvPr/>
        </p:nvPicPr>
        <p:blipFill>
          <a:blip r:embed="rId4"/>
          <a:stretch>
            <a:fillRect/>
          </a:stretch>
        </p:blipFill>
        <p:spPr>
          <a:xfrm>
            <a:off x="4099477" y="2734056"/>
            <a:ext cx="10089044" cy="1316736"/>
          </a:xfrm>
          <a:prstGeom prst="rect">
            <a:avLst/>
          </a:prstGeom>
        </p:spPr>
      </p:pic>
      <p:sp>
        <p:nvSpPr>
          <p:cNvPr id="10" name="TextBox 9"/>
          <p:cNvSpPr txBox="1"/>
          <p:nvPr/>
        </p:nvSpPr>
        <p:spPr>
          <a:xfrm>
            <a:off x="1024128" y="4315968"/>
            <a:ext cx="5303520" cy="457200"/>
          </a:xfrm>
          <a:prstGeom prst="rect">
            <a:avLst/>
          </a:prstGeom>
          <a:noFill/>
        </p:spPr>
        <p:txBody>
          <a:bodyPr wrap="square" lIns="0" tIns="0" rIns="0" bIns="0">
            <a:spAutoFit/>
          </a:bodyPr>
          <a:lstStyle/>
          <a:p>
            <a:pPr algn="ctr">
              <a:lnSpc>
                <a:spcPct val="100000"/>
              </a:lnSpc>
              <a:spcBef>
                <a:spcPts val="0"/>
              </a:spcBef>
              <a:spcAft>
                <a:spcPts val="528"/>
              </a:spcAft>
              <a:defRPr sz="2400" b="1">
                <a:solidFill>
                  <a:srgbClr val="CB6C29"/>
                </a:solidFill>
                <a:latin typeface="DM Sans Bold"/>
              </a:defRPr>
            </a:pPr>
            <a:r>
              <a:t>φ = rand(−1, 1)</a:t>
            </a:r>
          </a:p>
        </p:txBody>
      </p:sp>
      <p:sp>
        <p:nvSpPr>
          <p:cNvPr id="11" name="TextBox 10"/>
          <p:cNvSpPr txBox="1"/>
          <p:nvPr/>
        </p:nvSpPr>
        <p:spPr>
          <a:xfrm>
            <a:off x="6437376" y="4315968"/>
            <a:ext cx="5303520" cy="457200"/>
          </a:xfrm>
          <a:prstGeom prst="rect">
            <a:avLst/>
          </a:prstGeom>
          <a:noFill/>
        </p:spPr>
        <p:txBody>
          <a:bodyPr wrap="square" lIns="0" tIns="0" rIns="0" bIns="0">
            <a:spAutoFit/>
          </a:bodyPr>
          <a:lstStyle/>
          <a:p>
            <a:pPr algn="ctr">
              <a:lnSpc>
                <a:spcPct val="100000"/>
              </a:lnSpc>
              <a:spcBef>
                <a:spcPts val="0"/>
              </a:spcBef>
              <a:spcAft>
                <a:spcPts val="528"/>
              </a:spcAft>
              <a:defRPr sz="2400" b="1">
                <a:solidFill>
                  <a:srgbClr val="CB6C29"/>
                </a:solidFill>
                <a:latin typeface="DM Sans Bold"/>
              </a:defRPr>
            </a:pPr>
            <a:r>
              <a:t>k ≠ i, another source</a:t>
            </a:r>
          </a:p>
        </p:txBody>
      </p:sp>
      <p:sp>
        <p:nvSpPr>
          <p:cNvPr id="12" name="TextBox 11"/>
          <p:cNvSpPr txBox="1"/>
          <p:nvPr/>
        </p:nvSpPr>
        <p:spPr>
          <a:xfrm>
            <a:off x="11850624" y="4315968"/>
            <a:ext cx="5303520" cy="457200"/>
          </a:xfrm>
          <a:prstGeom prst="rect">
            <a:avLst/>
          </a:prstGeom>
          <a:noFill/>
        </p:spPr>
        <p:txBody>
          <a:bodyPr wrap="square" lIns="0" tIns="0" rIns="0" bIns="0">
            <a:spAutoFit/>
          </a:bodyPr>
          <a:lstStyle/>
          <a:p>
            <a:pPr algn="ctr">
              <a:lnSpc>
                <a:spcPct val="100000"/>
              </a:lnSpc>
              <a:spcBef>
                <a:spcPts val="0"/>
              </a:spcBef>
              <a:spcAft>
                <a:spcPts val="528"/>
              </a:spcAft>
              <a:defRPr sz="2400" b="1">
                <a:solidFill>
                  <a:srgbClr val="CB6C29"/>
                </a:solidFill>
                <a:latin typeface="DM Sans Bold"/>
              </a:defRPr>
            </a:pPr>
            <a:r>
              <a:t>j = one random coordinate</a:t>
            </a:r>
          </a:p>
        </p:txBody>
      </p:sp>
      <p:sp>
        <p:nvSpPr>
          <p:cNvPr id="13" name="Rounded Rectangle 12"/>
          <p:cNvSpPr/>
          <p:nvPr/>
        </p:nvSpPr>
        <p:spPr>
          <a:xfrm>
            <a:off x="1024128" y="4882896"/>
            <a:ext cx="16239744" cy="3749039"/>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07_neighbour_step.png" descr="07_neighbour_step.png"/>
          <p:cNvPicPr>
            <a:picLocks noChangeAspect="1"/>
          </p:cNvPicPr>
          <p:nvPr/>
        </p:nvPicPr>
        <p:blipFill>
          <a:blip r:embed="rId5"/>
          <a:stretch>
            <a:fillRect/>
          </a:stretch>
        </p:blipFill>
        <p:spPr>
          <a:xfrm>
            <a:off x="4855685" y="4956048"/>
            <a:ext cx="8576628" cy="3602736"/>
          </a:xfrm>
          <a:prstGeom prst="rect">
            <a:avLst/>
          </a:prstGeom>
        </p:spPr>
      </p:pic>
      <p:sp>
        <p:nvSpPr>
          <p:cNvPr id="15" name="Rounded Rectangle 14"/>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The step is a fraction of the gap to another bee — so it shrinks by itself.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03 - THE EQUATIONS</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Keep the better one</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11</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honey_pot"/>
          <p:cNvSpPr/>
          <p:nvPr/>
        </p:nvSpPr>
        <p:spPr>
          <a:xfrm>
            <a:off x="15864840" y="5120640"/>
            <a:ext cx="2697480" cy="4160520"/>
          </a:xfrm>
          <a:custGeom>
            <a:avLst/>
            <a:gdLst/>
            <a:ahLst/>
            <a:cxnLst/>
            <a:rect l="l" t="t" r="r" b="b"/>
            <a:pathLst>
              <a:path w="4068995" h="6229380">
                <a:moveTo>
                  <a:pt x="0" y="0"/>
                </a:moveTo>
                <a:lnTo>
                  <a:pt x="4068995" y="0"/>
                </a:lnTo>
                <a:lnTo>
                  <a:pt x="4068995" y="6229380"/>
                </a:lnTo>
                <a:lnTo>
                  <a:pt x="0" y="62293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Rounded Rectangle 7"/>
          <p:cNvSpPr/>
          <p:nvPr/>
        </p:nvSpPr>
        <p:spPr>
          <a:xfrm>
            <a:off x="1024128" y="2670048"/>
            <a:ext cx="6492240" cy="128016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852928"/>
            <a:ext cx="5852160" cy="822960"/>
          </a:xfrm>
          <a:prstGeom prst="rect">
            <a:avLst/>
          </a:prstGeom>
          <a:noFill/>
        </p:spPr>
        <p:txBody>
          <a:bodyPr wrap="square" lIns="0" tIns="0" rIns="0" bIns="0">
            <a:spAutoFit/>
          </a:bodyPr>
          <a:lstStyle/>
          <a:p>
            <a:pPr>
              <a:lnSpc>
                <a:spcPct val="100000"/>
              </a:lnSpc>
              <a:spcBef>
                <a:spcPts val="0"/>
              </a:spcBef>
              <a:spcAft>
                <a:spcPts val="660"/>
              </a:spcAft>
              <a:defRPr sz="3000" b="1">
                <a:solidFill>
                  <a:srgbClr val="6F251B"/>
                </a:solidFill>
                <a:latin typeface="DM Sans Bold"/>
              </a:defRPr>
            </a:pPr>
            <a:r>
              <a:t>old source   xᵢ</a:t>
            </a:r>
          </a:p>
        </p:txBody>
      </p:sp>
      <p:sp>
        <p:nvSpPr>
          <p:cNvPr id="10" name="Right Arrow 9"/>
          <p:cNvSpPr/>
          <p:nvPr/>
        </p:nvSpPr>
        <p:spPr>
          <a:xfrm>
            <a:off x="7644383" y="2944368"/>
            <a:ext cx="731520" cy="420624"/>
          </a:xfrm>
          <a:prstGeom prst="rightArrow">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503920" y="2670048"/>
            <a:ext cx="6492240" cy="1280160"/>
          </a:xfrm>
          <a:prstGeom prst="roundRect">
            <a:avLst>
              <a:gd name="adj" fmla="val 9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05672" y="2852928"/>
            <a:ext cx="5852160" cy="822960"/>
          </a:xfrm>
          <a:prstGeom prst="rect">
            <a:avLst/>
          </a:prstGeom>
          <a:noFill/>
        </p:spPr>
        <p:txBody>
          <a:bodyPr wrap="square" lIns="0" tIns="0" rIns="0" bIns="0">
            <a:spAutoFit/>
          </a:bodyPr>
          <a:lstStyle/>
          <a:p>
            <a:pPr>
              <a:lnSpc>
                <a:spcPct val="100000"/>
              </a:lnSpc>
              <a:spcBef>
                <a:spcPts val="0"/>
              </a:spcBef>
              <a:spcAft>
                <a:spcPts val="660"/>
              </a:spcAft>
              <a:defRPr sz="3000" b="1">
                <a:solidFill>
                  <a:srgbClr val="E37E03"/>
                </a:solidFill>
                <a:latin typeface="DM Sans Bold"/>
              </a:defRPr>
            </a:pPr>
            <a:r>
              <a:t>trial point   vᵢ</a:t>
            </a:r>
          </a:p>
        </p:txBody>
      </p:sp>
      <p:sp>
        <p:nvSpPr>
          <p:cNvPr id="13" name="TextBox 12"/>
          <p:cNvSpPr txBox="1"/>
          <p:nvPr/>
        </p:nvSpPr>
        <p:spPr>
          <a:xfrm>
            <a:off x="1024128" y="4224528"/>
            <a:ext cx="13990320" cy="640080"/>
          </a:xfrm>
          <a:prstGeom prst="rect">
            <a:avLst/>
          </a:prstGeom>
          <a:noFill/>
        </p:spPr>
        <p:txBody>
          <a:bodyPr wrap="square" lIns="0" tIns="0" rIns="0" bIns="0">
            <a:spAutoFit/>
          </a:bodyPr>
          <a:lstStyle/>
          <a:p>
            <a:pPr algn="ctr">
              <a:lnSpc>
                <a:spcPct val="100000"/>
              </a:lnSpc>
              <a:spcBef>
                <a:spcPts val="0"/>
              </a:spcBef>
              <a:spcAft>
                <a:spcPts val="660"/>
              </a:spcAft>
              <a:defRPr sz="3000" b="0">
                <a:solidFill>
                  <a:srgbClr val="6F251B"/>
                </a:solidFill>
                <a:latin typeface="More Sugar"/>
              </a:defRPr>
            </a:pPr>
            <a:r>
              <a:t>compare  f(xᵢ)  with  f(vᵢ)</a:t>
            </a:r>
          </a:p>
        </p:txBody>
      </p:sp>
      <p:sp>
        <p:nvSpPr>
          <p:cNvPr id="14" name="Rounded Rectangle 13"/>
          <p:cNvSpPr/>
          <p:nvPr/>
        </p:nvSpPr>
        <p:spPr>
          <a:xfrm>
            <a:off x="1024128" y="5102352"/>
            <a:ext cx="6876288" cy="3520440"/>
          </a:xfrm>
          <a:prstGeom prst="roundRect">
            <a:avLst>
              <a:gd name="adj" fmla="val 9000"/>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89888" y="5340096"/>
            <a:ext cx="6126480" cy="548640"/>
          </a:xfrm>
          <a:prstGeom prst="rect">
            <a:avLst/>
          </a:prstGeom>
          <a:noFill/>
        </p:spPr>
        <p:txBody>
          <a:bodyPr wrap="square" lIns="0" tIns="0" rIns="0" bIns="0">
            <a:spAutoFit/>
          </a:bodyPr>
          <a:lstStyle/>
          <a:p>
            <a:pPr>
              <a:lnSpc>
                <a:spcPct val="100000"/>
              </a:lnSpc>
              <a:spcBef>
                <a:spcPts val="0"/>
              </a:spcBef>
              <a:spcAft>
                <a:spcPts val="682"/>
              </a:spcAft>
              <a:defRPr sz="3100" b="1">
                <a:solidFill>
                  <a:srgbClr val="6F251B"/>
                </a:solidFill>
                <a:latin typeface="DM Sans Bold"/>
              </a:defRPr>
            </a:pPr>
            <a:r>
              <a:t>vᵢ is better</a:t>
            </a:r>
          </a:p>
        </p:txBody>
      </p:sp>
      <p:sp>
        <p:nvSpPr>
          <p:cNvPr id="16" name="TextBox 15"/>
          <p:cNvSpPr txBox="1"/>
          <p:nvPr/>
        </p:nvSpPr>
        <p:spPr>
          <a:xfrm>
            <a:off x="1389888" y="6053328"/>
            <a:ext cx="6126480" cy="1371600"/>
          </a:xfrm>
          <a:prstGeom prst="rect">
            <a:avLst/>
          </a:prstGeom>
          <a:noFill/>
        </p:spPr>
        <p:txBody>
          <a:bodyPr wrap="square" lIns="0" tIns="0" rIns="0" bIns="0">
            <a:spAutoFit/>
          </a:bodyPr>
          <a:lstStyle/>
          <a:p>
            <a:pPr>
              <a:lnSpc>
                <a:spcPct val="100000"/>
              </a:lnSpc>
              <a:spcBef>
                <a:spcPts val="0"/>
              </a:spcBef>
              <a:spcAft>
                <a:spcPts val="550"/>
              </a:spcAft>
              <a:defRPr sz="2500" b="0">
                <a:solidFill>
                  <a:srgbClr val="6F251B"/>
                </a:solidFill>
                <a:latin typeface="DM Sans"/>
              </a:defRPr>
            </a:pPr>
            <a:r>
              <a:t>Replace the source with vᵢ.</a:t>
            </a:r>
          </a:p>
          <a:p>
            <a:pPr>
              <a:lnSpc>
                <a:spcPct val="100000"/>
              </a:lnSpc>
              <a:spcBef>
                <a:spcPts val="0"/>
              </a:spcBef>
              <a:spcAft>
                <a:spcPts val="550"/>
              </a:spcAft>
              <a:defRPr sz="2500" b="0">
                <a:solidFill>
                  <a:srgbClr val="6F251B"/>
                </a:solidFill>
                <a:latin typeface="DM Sans"/>
              </a:defRPr>
            </a:pPr>
            <a:r>
              <a:t>Reset its trial counter to 0.</a:t>
            </a:r>
          </a:p>
        </p:txBody>
      </p:sp>
      <p:sp>
        <p:nvSpPr>
          <p:cNvPr id="17" name="TextBox 16"/>
          <p:cNvSpPr txBox="1"/>
          <p:nvPr/>
        </p:nvSpPr>
        <p:spPr>
          <a:xfrm>
            <a:off x="1389888" y="7735824"/>
            <a:ext cx="6126480" cy="640080"/>
          </a:xfrm>
          <a:prstGeom prst="rect">
            <a:avLst/>
          </a:prstGeom>
          <a:noFill/>
        </p:spPr>
        <p:txBody>
          <a:bodyPr wrap="square" lIns="0" tIns="0" rIns="0" bIns="0">
            <a:spAutoFit/>
          </a:bodyPr>
          <a:lstStyle/>
          <a:p>
            <a:pPr>
              <a:lnSpc>
                <a:spcPct val="100000"/>
              </a:lnSpc>
              <a:spcBef>
                <a:spcPts val="0"/>
              </a:spcBef>
              <a:spcAft>
                <a:spcPts val="704"/>
              </a:spcAft>
              <a:defRPr sz="3200" b="0">
                <a:solidFill>
                  <a:srgbClr val="6F251B"/>
                </a:solidFill>
                <a:latin typeface="More Sugar"/>
              </a:defRPr>
            </a:pPr>
            <a:r>
              <a:t>trial → 0</a:t>
            </a:r>
          </a:p>
        </p:txBody>
      </p:sp>
      <p:sp>
        <p:nvSpPr>
          <p:cNvPr id="18" name="Rounded Rectangle 17"/>
          <p:cNvSpPr/>
          <p:nvPr/>
        </p:nvSpPr>
        <p:spPr>
          <a:xfrm>
            <a:off x="8503920" y="5102352"/>
            <a:ext cx="6876288" cy="352044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69680" y="5340096"/>
            <a:ext cx="6126480" cy="548640"/>
          </a:xfrm>
          <a:prstGeom prst="rect">
            <a:avLst/>
          </a:prstGeom>
          <a:noFill/>
        </p:spPr>
        <p:txBody>
          <a:bodyPr wrap="square" lIns="0" tIns="0" rIns="0" bIns="0">
            <a:spAutoFit/>
          </a:bodyPr>
          <a:lstStyle/>
          <a:p>
            <a:pPr>
              <a:lnSpc>
                <a:spcPct val="100000"/>
              </a:lnSpc>
              <a:spcBef>
                <a:spcPts val="0"/>
              </a:spcBef>
              <a:spcAft>
                <a:spcPts val="682"/>
              </a:spcAft>
              <a:defRPr sz="3100" b="1">
                <a:solidFill>
                  <a:srgbClr val="CB6C29"/>
                </a:solidFill>
                <a:latin typeface="DM Sans Bold"/>
              </a:defRPr>
            </a:pPr>
            <a:r>
              <a:t>vᵢ is worse</a:t>
            </a:r>
          </a:p>
        </p:txBody>
      </p:sp>
      <p:sp>
        <p:nvSpPr>
          <p:cNvPr id="20" name="TextBox 19"/>
          <p:cNvSpPr txBox="1"/>
          <p:nvPr/>
        </p:nvSpPr>
        <p:spPr>
          <a:xfrm>
            <a:off x="8869680" y="6053328"/>
            <a:ext cx="6126480" cy="1371600"/>
          </a:xfrm>
          <a:prstGeom prst="rect">
            <a:avLst/>
          </a:prstGeom>
          <a:noFill/>
        </p:spPr>
        <p:txBody>
          <a:bodyPr wrap="square" lIns="0" tIns="0" rIns="0" bIns="0">
            <a:spAutoFit/>
          </a:bodyPr>
          <a:lstStyle/>
          <a:p>
            <a:pPr>
              <a:lnSpc>
                <a:spcPct val="100000"/>
              </a:lnSpc>
              <a:spcBef>
                <a:spcPts val="0"/>
              </a:spcBef>
              <a:spcAft>
                <a:spcPts val="550"/>
              </a:spcAft>
              <a:defRPr sz="2500" b="0">
                <a:solidFill>
                  <a:srgbClr val="6F251B"/>
                </a:solidFill>
                <a:latin typeface="DM Sans"/>
              </a:defRPr>
            </a:pPr>
            <a:r>
              <a:t>Keep the old source.</a:t>
            </a:r>
          </a:p>
          <a:p>
            <a:pPr>
              <a:lnSpc>
                <a:spcPct val="100000"/>
              </a:lnSpc>
              <a:spcBef>
                <a:spcPts val="0"/>
              </a:spcBef>
              <a:spcAft>
                <a:spcPts val="550"/>
              </a:spcAft>
              <a:defRPr sz="2500" b="0">
                <a:solidFill>
                  <a:srgbClr val="6F251B"/>
                </a:solidFill>
                <a:latin typeface="DM Sans"/>
              </a:defRPr>
            </a:pPr>
            <a:r>
              <a:t>Add one to its trial counter.</a:t>
            </a:r>
          </a:p>
        </p:txBody>
      </p:sp>
      <p:sp>
        <p:nvSpPr>
          <p:cNvPr id="21" name="TextBox 20"/>
          <p:cNvSpPr txBox="1"/>
          <p:nvPr/>
        </p:nvSpPr>
        <p:spPr>
          <a:xfrm>
            <a:off x="8869680" y="7735824"/>
            <a:ext cx="6126480" cy="640080"/>
          </a:xfrm>
          <a:prstGeom prst="rect">
            <a:avLst/>
          </a:prstGeom>
          <a:noFill/>
        </p:spPr>
        <p:txBody>
          <a:bodyPr wrap="square" lIns="0" tIns="0" rIns="0" bIns="0">
            <a:spAutoFit/>
          </a:bodyPr>
          <a:lstStyle/>
          <a:p>
            <a:pPr>
              <a:lnSpc>
                <a:spcPct val="100000"/>
              </a:lnSpc>
              <a:spcBef>
                <a:spcPts val="0"/>
              </a:spcBef>
              <a:spcAft>
                <a:spcPts val="704"/>
              </a:spcAft>
              <a:defRPr sz="3200" b="0">
                <a:solidFill>
                  <a:srgbClr val="CB6C29"/>
                </a:solidFill>
                <a:latin typeface="More Sugar"/>
              </a:defRPr>
            </a:pPr>
            <a:r>
              <a:t>trial → trial + 1</a:t>
            </a:r>
          </a:p>
        </p:txBody>
      </p:sp>
      <p:sp>
        <p:nvSpPr>
          <p:cNvPr id="22" name="Rounded Rectangle 21"/>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Greedy selection: a food source can never get worse. The counter is what scouts watch.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03 - THE EQUATIONS</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650"/>
              </a:spcAft>
              <a:defRPr sz="7500" b="0">
                <a:solidFill>
                  <a:srgbClr val="6F251B"/>
                </a:solidFill>
                <a:latin typeface="More Sugar"/>
              </a:defRPr>
            </a:pPr>
            <a:r>
              <a:t>Better sources get larger slices</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12</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xtBox 6"/>
          <p:cNvSpPr txBox="1"/>
          <p:nvPr/>
        </p:nvSpPr>
        <p:spPr>
          <a:xfrm>
            <a:off x="1024128" y="2651760"/>
            <a:ext cx="91440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LOWER f  →  MORE NECTAR</a:t>
            </a:r>
          </a:p>
        </p:txBody>
      </p:sp>
      <p:sp>
        <p:nvSpPr>
          <p:cNvPr id="8" name="Rounded Rectangle 7"/>
          <p:cNvSpPr/>
          <p:nvPr/>
        </p:nvSpPr>
        <p:spPr>
          <a:xfrm>
            <a:off x="1024128" y="3035808"/>
            <a:ext cx="9189720" cy="1783080"/>
          </a:xfrm>
          <a:prstGeom prst="roundRect">
            <a:avLst>
              <a:gd name="adj" fmla="val 9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nectar" descr="fit_i=\frac{1}{1+f_i}\quad (f_i\geq 0),\qquad P_i=\frac{fit_i}{\sum_{m=1}^{25} fit_m}"/>
          <p:cNvPicPr>
            <a:picLocks noChangeAspect="1"/>
          </p:cNvPicPr>
          <p:nvPr/>
        </p:nvPicPr>
        <p:blipFill>
          <a:blip r:embed="rId3"/>
          <a:stretch>
            <a:fillRect/>
          </a:stretch>
        </p:blipFill>
        <p:spPr>
          <a:xfrm>
            <a:off x="2100071" y="3200400"/>
            <a:ext cx="7046976" cy="1463040"/>
          </a:xfrm>
          <a:prstGeom prst="rect">
            <a:avLst/>
          </a:prstGeom>
        </p:spPr>
      </p:pic>
      <p:sp>
        <p:nvSpPr>
          <p:cNvPr id="10" name="TextBox 9"/>
          <p:cNvSpPr txBox="1"/>
          <p:nvPr/>
        </p:nvSpPr>
        <p:spPr>
          <a:xfrm>
            <a:off x="1024128" y="4956048"/>
            <a:ext cx="9144000" cy="86868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Ackley is never negative, so the second branch of</a:t>
            </a:r>
          </a:p>
          <a:p>
            <a:pPr>
              <a:lnSpc>
                <a:spcPct val="100000"/>
              </a:lnSpc>
              <a:spcBef>
                <a:spcPts val="0"/>
              </a:spcBef>
              <a:spcAft>
                <a:spcPts val="440"/>
              </a:spcAft>
              <a:defRPr sz="2000" b="0">
                <a:solidFill>
                  <a:srgbClr val="CB6C29"/>
                </a:solidFill>
                <a:latin typeface="DM Sans"/>
              </a:defRPr>
            </a:pPr>
            <a:r>
              <a:t>the standard rule is never used here.</a:t>
            </a:r>
          </a:p>
        </p:txBody>
      </p:sp>
      <p:graphicFrame>
        <p:nvGraphicFramePr>
          <p:cNvPr id="11" name="Table 10"/>
          <p:cNvGraphicFramePr>
            <a:graphicFrameLocks noGrp="1"/>
          </p:cNvGraphicFramePr>
          <p:nvPr/>
        </p:nvGraphicFramePr>
        <p:xfrm>
          <a:off x="1024128" y="5724144"/>
          <a:ext cx="9189720" cy="3017520"/>
        </p:xfrm>
        <a:graphic>
          <a:graphicData uri="http://schemas.openxmlformats.org/drawingml/2006/table">
            <a:tbl>
              <a:tblPr firstRow="1" bandRow="1">
                <a:tableStyleId>{5C22544A-7EE6-4342-B048-85BDC9FD1C3A}</a:tableStyleId>
              </a:tblPr>
              <a:tblGrid>
                <a:gridCol w="32461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603504">
                <a:tc>
                  <a:txBody>
                    <a:bodyPr/>
                    <a:lstStyle/>
                    <a:p>
                      <a:pPr>
                        <a:defRPr sz="2300" b="1">
                          <a:solidFill>
                            <a:srgbClr val="FFFFFF"/>
                          </a:solidFill>
                          <a:latin typeface="DM Sans Bold"/>
                        </a:defRPr>
                      </a:pPr>
                      <a:r>
                        <a:t>Source</a:t>
                      </a:r>
                    </a:p>
                  </a:txBody>
                  <a:tcPr marL="182880" marR="128016" marT="54864" marB="36576" anchor="ctr">
                    <a:solidFill>
                      <a:srgbClr val="6F251B"/>
                    </a:solidFill>
                  </a:tcPr>
                </a:tc>
                <a:tc>
                  <a:txBody>
                    <a:bodyPr/>
                    <a:lstStyle/>
                    <a:p>
                      <a:pPr algn="l">
                        <a:defRPr sz="2300" b="1">
                          <a:solidFill>
                            <a:srgbClr val="FFFFFF"/>
                          </a:solidFill>
                          <a:latin typeface="DM Sans Bold"/>
                        </a:defRPr>
                      </a:pPr>
                      <a:r>
                        <a:t>f</a:t>
                      </a:r>
                    </a:p>
                  </a:txBody>
                  <a:tcPr marL="182880" marR="128016" marT="54864" marB="36576" anchor="ctr">
                    <a:solidFill>
                      <a:srgbClr val="6F251B"/>
                    </a:solidFill>
                  </a:tcPr>
                </a:tc>
                <a:tc>
                  <a:txBody>
                    <a:bodyPr/>
                    <a:lstStyle/>
                    <a:p>
                      <a:pPr algn="l">
                        <a:defRPr sz="2300" b="1">
                          <a:solidFill>
                            <a:srgbClr val="FFFFFF"/>
                          </a:solidFill>
                          <a:latin typeface="DM Sans Bold"/>
                        </a:defRPr>
                      </a:pPr>
                      <a:r>
                        <a:t>Share of wheel</a:t>
                      </a:r>
                    </a:p>
                  </a:txBody>
                  <a:tcPr marL="182880" marR="128016" marT="54864" marB="36576" anchor="ctr">
                    <a:solidFill>
                      <a:srgbClr val="6F251B"/>
                    </a:solidFill>
                  </a:tcPr>
                </a:tc>
                <a:extLst>
                  <a:ext uri="{0D108BD9-81ED-4DB2-BD59-A6C34878D82A}">
                    <a16:rowId xmlns:a16="http://schemas.microsoft.com/office/drawing/2014/main" val="10000"/>
                  </a:ext>
                </a:extLst>
              </a:tr>
              <a:tr h="603504">
                <a:tc>
                  <a:txBody>
                    <a:bodyPr/>
                    <a:lstStyle/>
                    <a:p>
                      <a:pPr>
                        <a:defRPr sz="2300" b="1">
                          <a:solidFill>
                            <a:srgbClr val="6F251B"/>
                          </a:solidFill>
                          <a:latin typeface="DM Sans Bold"/>
                        </a:defRPr>
                      </a:pPr>
                      <a:r>
                        <a:t>#7  (richest)</a:t>
                      </a:r>
                    </a:p>
                  </a:txBody>
                  <a:tcPr marL="182880" marR="128016" marT="54864" marB="36576" anchor="ctr">
                    <a:solidFill>
                      <a:srgbClr val="FFC62A"/>
                    </a:solidFill>
                  </a:tcPr>
                </a:tc>
                <a:tc>
                  <a:txBody>
                    <a:bodyPr/>
                    <a:lstStyle/>
                    <a:p>
                      <a:pPr algn="l">
                        <a:defRPr sz="2300" b="1">
                          <a:solidFill>
                            <a:srgbClr val="6F251B"/>
                          </a:solidFill>
                          <a:latin typeface="DM Sans Bold"/>
                        </a:defRPr>
                      </a:pPr>
                      <a:r>
                        <a:t>3.19</a:t>
                      </a:r>
                    </a:p>
                  </a:txBody>
                  <a:tcPr marL="182880" marR="128016" marT="54864" marB="36576" anchor="ctr">
                    <a:solidFill>
                      <a:srgbClr val="FFC62A"/>
                    </a:solidFill>
                  </a:tcPr>
                </a:tc>
                <a:tc>
                  <a:txBody>
                    <a:bodyPr/>
                    <a:lstStyle/>
                    <a:p>
                      <a:pPr algn="l">
                        <a:defRPr sz="2300" b="1">
                          <a:solidFill>
                            <a:srgbClr val="6F251B"/>
                          </a:solidFill>
                          <a:latin typeface="DM Sans Bold"/>
                        </a:defRPr>
                      </a:pPr>
                      <a:r>
                        <a:t>9.56 %</a:t>
                      </a:r>
                    </a:p>
                  </a:txBody>
                  <a:tcPr marL="182880" marR="128016" marT="54864" marB="36576" anchor="ctr">
                    <a:solidFill>
                      <a:srgbClr val="FFC62A"/>
                    </a:solidFill>
                  </a:tcPr>
                </a:tc>
                <a:extLst>
                  <a:ext uri="{0D108BD9-81ED-4DB2-BD59-A6C34878D82A}">
                    <a16:rowId xmlns:a16="http://schemas.microsoft.com/office/drawing/2014/main" val="10001"/>
                  </a:ext>
                </a:extLst>
              </a:tr>
              <a:tr h="603504">
                <a:tc>
                  <a:txBody>
                    <a:bodyPr/>
                    <a:lstStyle/>
                    <a:p>
                      <a:pPr>
                        <a:defRPr sz="2300" b="0">
                          <a:solidFill>
                            <a:srgbClr val="6F251B"/>
                          </a:solidFill>
                          <a:latin typeface="DM Sans"/>
                        </a:defRPr>
                      </a:pPr>
                      <a:r>
                        <a:t>#14</a:t>
                      </a:r>
                    </a:p>
                  </a:txBody>
                  <a:tcPr marL="182880" marR="128016" marT="54864" marB="36576" anchor="ctr">
                    <a:solidFill>
                      <a:srgbClr val="F3E7D2"/>
                    </a:solidFill>
                  </a:tcPr>
                </a:tc>
                <a:tc>
                  <a:txBody>
                    <a:bodyPr/>
                    <a:lstStyle/>
                    <a:p>
                      <a:pPr algn="l">
                        <a:defRPr sz="2300" b="0">
                          <a:solidFill>
                            <a:srgbClr val="6F251B"/>
                          </a:solidFill>
                          <a:latin typeface="DM Sans"/>
                        </a:defRPr>
                      </a:pPr>
                      <a:r>
                        <a:t>4.87</a:t>
                      </a:r>
                    </a:p>
                  </a:txBody>
                  <a:tcPr marL="182880" marR="128016" marT="54864" marB="36576" anchor="ctr">
                    <a:solidFill>
                      <a:srgbClr val="F3E7D2"/>
                    </a:solidFill>
                  </a:tcPr>
                </a:tc>
                <a:tc>
                  <a:txBody>
                    <a:bodyPr/>
                    <a:lstStyle/>
                    <a:p>
                      <a:pPr algn="l">
                        <a:defRPr sz="2300" b="0">
                          <a:solidFill>
                            <a:srgbClr val="6F251B"/>
                          </a:solidFill>
                          <a:latin typeface="DM Sans"/>
                        </a:defRPr>
                      </a:pPr>
                      <a:r>
                        <a:t>6.82 %</a:t>
                      </a:r>
                    </a:p>
                  </a:txBody>
                  <a:tcPr marL="182880" marR="128016" marT="54864" marB="36576" anchor="ctr">
                    <a:solidFill>
                      <a:srgbClr val="F3E7D2"/>
                    </a:solidFill>
                  </a:tcPr>
                </a:tc>
                <a:extLst>
                  <a:ext uri="{0D108BD9-81ED-4DB2-BD59-A6C34878D82A}">
                    <a16:rowId xmlns:a16="http://schemas.microsoft.com/office/drawing/2014/main" val="10002"/>
                  </a:ext>
                </a:extLst>
              </a:tr>
              <a:tr h="603504">
                <a:tc>
                  <a:txBody>
                    <a:bodyPr/>
                    <a:lstStyle/>
                    <a:p>
                      <a:pPr>
                        <a:defRPr sz="2300" b="0">
                          <a:solidFill>
                            <a:srgbClr val="6F251B"/>
                          </a:solidFill>
                          <a:latin typeface="DM Sans"/>
                        </a:defRPr>
                      </a:pPr>
                      <a:r>
                        <a:t>#15</a:t>
                      </a:r>
                    </a:p>
                  </a:txBody>
                  <a:tcPr marL="182880" marR="128016" marT="54864" marB="36576" anchor="ctr">
                    <a:solidFill>
                      <a:srgbClr val="FFFFFF"/>
                    </a:solidFill>
                  </a:tcPr>
                </a:tc>
                <a:tc>
                  <a:txBody>
                    <a:bodyPr/>
                    <a:lstStyle/>
                    <a:p>
                      <a:pPr algn="l">
                        <a:defRPr sz="2300" b="0">
                          <a:solidFill>
                            <a:srgbClr val="6F251B"/>
                          </a:solidFill>
                          <a:latin typeface="DM Sans"/>
                        </a:defRPr>
                      </a:pPr>
                      <a:r>
                        <a:t>7.73</a:t>
                      </a:r>
                    </a:p>
                  </a:txBody>
                  <a:tcPr marL="182880" marR="128016" marT="54864" marB="36576" anchor="ctr">
                    <a:solidFill>
                      <a:srgbClr val="FFFFFF"/>
                    </a:solidFill>
                  </a:tcPr>
                </a:tc>
                <a:tc>
                  <a:txBody>
                    <a:bodyPr/>
                    <a:lstStyle/>
                    <a:p>
                      <a:pPr algn="l">
                        <a:defRPr sz="2300" b="0">
                          <a:solidFill>
                            <a:srgbClr val="6F251B"/>
                          </a:solidFill>
                          <a:latin typeface="DM Sans"/>
                        </a:defRPr>
                      </a:pPr>
                      <a:r>
                        <a:t>4.59 %</a:t>
                      </a:r>
                    </a:p>
                  </a:txBody>
                  <a:tcPr marL="182880" marR="128016" marT="54864" marB="36576" anchor="ctr">
                    <a:solidFill>
                      <a:srgbClr val="FFFFFF"/>
                    </a:solidFill>
                  </a:tcPr>
                </a:tc>
                <a:extLst>
                  <a:ext uri="{0D108BD9-81ED-4DB2-BD59-A6C34878D82A}">
                    <a16:rowId xmlns:a16="http://schemas.microsoft.com/office/drawing/2014/main" val="10003"/>
                  </a:ext>
                </a:extLst>
              </a:tr>
              <a:tr h="603504">
                <a:tc>
                  <a:txBody>
                    <a:bodyPr/>
                    <a:lstStyle/>
                    <a:p>
                      <a:pPr>
                        <a:defRPr sz="2300" b="0">
                          <a:solidFill>
                            <a:srgbClr val="6F251B"/>
                          </a:solidFill>
                          <a:latin typeface="DM Sans"/>
                        </a:defRPr>
                      </a:pPr>
                      <a:r>
                        <a:t>#3  (poorest)</a:t>
                      </a:r>
                    </a:p>
                  </a:txBody>
                  <a:tcPr marL="182880" marR="128016" marT="54864" marB="36576" anchor="ctr">
                    <a:solidFill>
                      <a:srgbClr val="F3E7D2"/>
                    </a:solidFill>
                  </a:tcPr>
                </a:tc>
                <a:tc>
                  <a:txBody>
                    <a:bodyPr/>
                    <a:lstStyle/>
                    <a:p>
                      <a:pPr algn="l">
                        <a:defRPr sz="2300" b="0">
                          <a:solidFill>
                            <a:srgbClr val="6F251B"/>
                          </a:solidFill>
                          <a:latin typeface="DM Sans"/>
                        </a:defRPr>
                      </a:pPr>
                      <a:r>
                        <a:t>12.23</a:t>
                      </a:r>
                    </a:p>
                  </a:txBody>
                  <a:tcPr marL="182880" marR="128016" marT="54864" marB="36576" anchor="ctr">
                    <a:solidFill>
                      <a:srgbClr val="F3E7D2"/>
                    </a:solidFill>
                  </a:tcPr>
                </a:tc>
                <a:tc>
                  <a:txBody>
                    <a:bodyPr/>
                    <a:lstStyle/>
                    <a:p>
                      <a:pPr algn="l">
                        <a:defRPr sz="2300" b="0">
                          <a:solidFill>
                            <a:srgbClr val="6F251B"/>
                          </a:solidFill>
                          <a:latin typeface="DM Sans"/>
                        </a:defRPr>
                      </a:pPr>
                      <a:r>
                        <a:t>3.03 %</a:t>
                      </a:r>
                    </a:p>
                  </a:txBody>
                  <a:tcPr marL="182880" marR="128016" marT="54864" marB="36576" anchor="ctr">
                    <a:solidFill>
                      <a:srgbClr val="F3E7D2"/>
                    </a:solidFill>
                  </a:tcPr>
                </a:tc>
                <a:extLst>
                  <a:ext uri="{0D108BD9-81ED-4DB2-BD59-A6C34878D82A}">
                    <a16:rowId xmlns:a16="http://schemas.microsoft.com/office/drawing/2014/main" val="10004"/>
                  </a:ext>
                </a:extLst>
              </a:tr>
            </a:tbl>
          </a:graphicData>
        </a:graphic>
      </p:graphicFrame>
      <p:sp>
        <p:nvSpPr>
          <p:cNvPr id="12" name="Rounded Rectangle 11"/>
          <p:cNvSpPr/>
          <p:nvPr/>
        </p:nvSpPr>
        <p:spPr>
          <a:xfrm>
            <a:off x="10561320" y="2615184"/>
            <a:ext cx="6702552" cy="6016752"/>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04_roulette_pie_cycle0.png" descr="04_roulette_pie_cycle0.png"/>
          <p:cNvPicPr>
            <a:picLocks noChangeAspect="1"/>
          </p:cNvPicPr>
          <p:nvPr/>
        </p:nvPicPr>
        <p:blipFill>
          <a:blip r:embed="rId4"/>
          <a:stretch>
            <a:fillRect/>
          </a:stretch>
        </p:blipFill>
        <p:spPr>
          <a:xfrm>
            <a:off x="11223702" y="2688336"/>
            <a:ext cx="5377786" cy="5870448"/>
          </a:xfrm>
          <a:prstGeom prst="rect">
            <a:avLst/>
          </a:prstGeom>
        </p:spPr>
      </p:pic>
      <p:sp>
        <p:nvSpPr>
          <p:cNvPr id="14" name="Rounded Rectangle 13"/>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Each of the 25 onlookers spins this wheel once. Even the poorest source keeps 3 %.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04 - WHAT WE FOUND</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452"/>
              </a:spcAft>
              <a:defRPr sz="6600" b="0">
                <a:solidFill>
                  <a:srgbClr val="6F251B"/>
                </a:solidFill>
                <a:latin typeface="More Sugar"/>
              </a:defRPr>
            </a:pPr>
            <a:r>
              <a:t>Something the slides do not mention</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13</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bee"/>
          <p:cNvSpPr/>
          <p:nvPr/>
        </p:nvSpPr>
        <p:spPr>
          <a:xfrm rot="-771037">
            <a:off x="15910559" y="365760"/>
            <a:ext cx="1005840" cy="89611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Rounded Rectangle 7"/>
          <p:cNvSpPr/>
          <p:nvPr/>
        </p:nvSpPr>
        <p:spPr>
          <a:xfrm>
            <a:off x="1024128" y="2633472"/>
            <a:ext cx="8503920" cy="429768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05_roulette_early_vs_late.png" descr="05_roulette_early_vs_late.png"/>
          <p:cNvPicPr>
            <a:picLocks noChangeAspect="1"/>
          </p:cNvPicPr>
          <p:nvPr/>
        </p:nvPicPr>
        <p:blipFill>
          <a:blip r:embed="rId4"/>
          <a:stretch>
            <a:fillRect/>
          </a:stretch>
        </p:blipFill>
        <p:spPr>
          <a:xfrm>
            <a:off x="1538990" y="2706624"/>
            <a:ext cx="7474194" cy="4151376"/>
          </a:xfrm>
          <a:prstGeom prst="rect">
            <a:avLst/>
          </a:prstGeom>
        </p:spPr>
      </p:pic>
      <p:sp>
        <p:nvSpPr>
          <p:cNvPr id="10" name="Rounded Rectangle 9"/>
          <p:cNvSpPr/>
          <p:nvPr/>
        </p:nvSpPr>
        <p:spPr>
          <a:xfrm>
            <a:off x="9857232" y="2633472"/>
            <a:ext cx="7406640" cy="429768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06_wheel_pressure.png" descr="06_wheel_pressure.png"/>
          <p:cNvPicPr>
            <a:picLocks noChangeAspect="1"/>
          </p:cNvPicPr>
          <p:nvPr/>
        </p:nvPicPr>
        <p:blipFill>
          <a:blip r:embed="rId5"/>
          <a:stretch>
            <a:fillRect/>
          </a:stretch>
        </p:blipFill>
        <p:spPr>
          <a:xfrm>
            <a:off x="9948672" y="3670964"/>
            <a:ext cx="7223760" cy="2222695"/>
          </a:xfrm>
          <a:prstGeom prst="rect">
            <a:avLst/>
          </a:prstGeom>
        </p:spPr>
      </p:pic>
      <p:sp>
        <p:nvSpPr>
          <p:cNvPr id="12" name="Hexagon 11"/>
          <p:cNvSpPr/>
          <p:nvPr/>
        </p:nvSpPr>
        <p:spPr>
          <a:xfrm>
            <a:off x="1024128" y="7251192"/>
            <a:ext cx="1115568" cy="959388"/>
          </a:xfrm>
          <a:prstGeom prst="hexagon">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01</a:t>
            </a:r>
          </a:p>
        </p:txBody>
      </p:sp>
      <p:sp>
        <p:nvSpPr>
          <p:cNvPr id="13" name="TextBox 12"/>
          <p:cNvSpPr txBox="1"/>
          <p:nvPr/>
        </p:nvSpPr>
        <p:spPr>
          <a:xfrm>
            <a:off x="2505456" y="7205472"/>
            <a:ext cx="6583680" cy="502920"/>
          </a:xfrm>
          <a:prstGeom prst="rect">
            <a:avLst/>
          </a:prstGeom>
          <a:noFill/>
        </p:spPr>
        <p:txBody>
          <a:bodyPr wrap="square" lIns="0" tIns="0" rIns="0" bIns="0">
            <a:spAutoFit/>
          </a:bodyPr>
          <a:lstStyle/>
          <a:p>
            <a:pPr algn="l">
              <a:lnSpc>
                <a:spcPct val="100000"/>
              </a:lnSpc>
              <a:spcBef>
                <a:spcPts val="0"/>
              </a:spcBef>
              <a:spcAft>
                <a:spcPts val="594"/>
              </a:spcAft>
              <a:defRPr sz="2700" b="1">
                <a:solidFill>
                  <a:srgbClr val="6F251B"/>
                </a:solidFill>
                <a:latin typeface="DM Sans Bold"/>
              </a:defRPr>
            </a:pPr>
            <a:r>
              <a:t>The nectar rule has a ceiling</a:t>
            </a:r>
          </a:p>
        </p:txBody>
      </p:sp>
      <p:sp>
        <p:nvSpPr>
          <p:cNvPr id="14" name="TextBox 13"/>
          <p:cNvSpPr txBox="1"/>
          <p:nvPr/>
        </p:nvSpPr>
        <p:spPr>
          <a:xfrm>
            <a:off x="2505456" y="7772400"/>
            <a:ext cx="6583680" cy="822960"/>
          </a:xfrm>
          <a:prstGeom prst="rect">
            <a:avLst/>
          </a:prstGeom>
          <a:noFill/>
        </p:spPr>
        <p:txBody>
          <a:bodyPr wrap="square" lIns="0" tIns="0" rIns="0" bIns="0">
            <a:spAutoFit/>
          </a:bodyPr>
          <a:lstStyle/>
          <a:p>
            <a:pPr algn="l">
              <a:lnSpc>
                <a:spcPct val="100000"/>
              </a:lnSpc>
              <a:spcBef>
                <a:spcPts val="0"/>
              </a:spcBef>
              <a:spcAft>
                <a:spcPts val="484"/>
              </a:spcAft>
              <a:defRPr sz="2200" b="0">
                <a:solidFill>
                  <a:srgbClr val="6F251B"/>
                </a:solidFill>
                <a:latin typeface="DM Sans"/>
              </a:defRPr>
            </a:pPr>
            <a:r>
              <a:t>fit = 1/(1+f) can never be larger than 1.</a:t>
            </a:r>
          </a:p>
        </p:txBody>
      </p:sp>
      <p:sp>
        <p:nvSpPr>
          <p:cNvPr id="15" name="Hexagon 14"/>
          <p:cNvSpPr/>
          <p:nvPr/>
        </p:nvSpPr>
        <p:spPr>
          <a:xfrm>
            <a:off x="9144000" y="7251192"/>
            <a:ext cx="1115568" cy="959388"/>
          </a:xfrm>
          <a:prstGeom prst="hexagon">
            <a:avLst/>
          </a:prstGeom>
          <a:solidFill>
            <a:srgbClr val="CB6C2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02</a:t>
            </a:r>
          </a:p>
        </p:txBody>
      </p:sp>
      <p:sp>
        <p:nvSpPr>
          <p:cNvPr id="16" name="TextBox 15"/>
          <p:cNvSpPr txBox="1"/>
          <p:nvPr/>
        </p:nvSpPr>
        <p:spPr>
          <a:xfrm>
            <a:off x="10625328" y="7205472"/>
            <a:ext cx="6583680" cy="502920"/>
          </a:xfrm>
          <a:prstGeom prst="rect">
            <a:avLst/>
          </a:prstGeom>
          <a:noFill/>
        </p:spPr>
        <p:txBody>
          <a:bodyPr wrap="square" lIns="0" tIns="0" rIns="0" bIns="0">
            <a:spAutoFit/>
          </a:bodyPr>
          <a:lstStyle/>
          <a:p>
            <a:pPr algn="l">
              <a:lnSpc>
                <a:spcPct val="100000"/>
              </a:lnSpc>
              <a:spcBef>
                <a:spcPts val="0"/>
              </a:spcBef>
              <a:spcAft>
                <a:spcPts val="594"/>
              </a:spcAft>
              <a:defRPr sz="2700" b="1">
                <a:solidFill>
                  <a:srgbClr val="6F251B"/>
                </a:solidFill>
                <a:latin typeface="DM Sans Bold"/>
              </a:defRPr>
            </a:pPr>
            <a:r>
              <a:t>So the wheel goes flat</a:t>
            </a:r>
          </a:p>
        </p:txBody>
      </p:sp>
      <p:sp>
        <p:nvSpPr>
          <p:cNvPr id="17" name="TextBox 16"/>
          <p:cNvSpPr txBox="1"/>
          <p:nvPr/>
        </p:nvSpPr>
        <p:spPr>
          <a:xfrm>
            <a:off x="10625328" y="7772400"/>
            <a:ext cx="6583680" cy="822960"/>
          </a:xfrm>
          <a:prstGeom prst="rect">
            <a:avLst/>
          </a:prstGeom>
          <a:noFill/>
        </p:spPr>
        <p:txBody>
          <a:bodyPr wrap="square" lIns="0" tIns="0" rIns="0" bIns="0">
            <a:spAutoFit/>
          </a:bodyPr>
          <a:lstStyle/>
          <a:p>
            <a:pPr algn="l">
              <a:lnSpc>
                <a:spcPct val="100000"/>
              </a:lnSpc>
              <a:spcBef>
                <a:spcPts val="0"/>
              </a:spcBef>
              <a:spcAft>
                <a:spcPts val="484"/>
              </a:spcAft>
              <a:defRPr sz="2200" b="0">
                <a:solidFill>
                  <a:srgbClr val="6F251B"/>
                </a:solidFill>
                <a:latin typeface="DM Sans"/>
              </a:defRPr>
            </a:pPr>
            <a:r>
              <a:t>From cycle 62 every slice is exactly 4.00 %.</a:t>
            </a:r>
          </a:p>
        </p:txBody>
      </p:sp>
      <p:sp>
        <p:nvSpPr>
          <p:cNvPr id="18" name="Rounded Rectangle 17"/>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We measured it instead of guessing. The next slide shows what it actually costs.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04 - WHAT WE FOUND</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364"/>
              </a:spcAft>
              <a:defRPr sz="6200" b="0">
                <a:solidFill>
                  <a:srgbClr val="6F251B"/>
                </a:solidFill>
                <a:latin typeface="More Sugar"/>
              </a:defRPr>
            </a:pPr>
            <a:r>
              <a:t>Which part of ABC actually matters?</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14</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xtBox 6"/>
          <p:cNvSpPr txBox="1"/>
          <p:nvPr/>
        </p:nvSpPr>
        <p:spPr>
          <a:xfrm>
            <a:off x="1024128" y="2560320"/>
            <a:ext cx="15544800" cy="457200"/>
          </a:xfrm>
          <a:prstGeom prst="rect">
            <a:avLst/>
          </a:prstGeom>
          <a:noFill/>
        </p:spPr>
        <p:txBody>
          <a:bodyPr wrap="square" lIns="0" tIns="0" rIns="0" bIns="0">
            <a:spAutoFit/>
          </a:bodyPr>
          <a:lstStyle/>
          <a:p>
            <a:pPr>
              <a:lnSpc>
                <a:spcPct val="100000"/>
              </a:lnSpc>
              <a:spcBef>
                <a:spcPts val="0"/>
              </a:spcBef>
              <a:spcAft>
                <a:spcPts val="505"/>
              </a:spcAft>
              <a:defRPr sz="2300" b="0">
                <a:solidFill>
                  <a:srgbClr val="CB6C29"/>
                </a:solidFill>
                <a:latin typeface="DM Sans"/>
              </a:defRPr>
            </a:pPr>
            <a:r>
              <a:t>Every row changes one thing and runs the same 40 seeds (0–39).</a:t>
            </a:r>
          </a:p>
        </p:txBody>
      </p:sp>
      <p:graphicFrame>
        <p:nvGraphicFramePr>
          <p:cNvPr id="8" name="Table 7"/>
          <p:cNvGraphicFramePr>
            <a:graphicFrameLocks noGrp="1"/>
          </p:cNvGraphicFramePr>
          <p:nvPr/>
        </p:nvGraphicFramePr>
        <p:xfrm>
          <a:off x="1024128" y="3017520"/>
          <a:ext cx="16239744" cy="4535424"/>
        </p:xfrm>
        <a:graphic>
          <a:graphicData uri="http://schemas.openxmlformats.org/drawingml/2006/table">
            <a:tbl>
              <a:tblPr firstRow="1" bandRow="1">
                <a:tableStyleId>{5C22544A-7EE6-4342-B048-85BDC9FD1C3A}</a:tableStyleId>
              </a:tblPr>
              <a:tblGrid>
                <a:gridCol w="49377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798064">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566928">
                <a:tc>
                  <a:txBody>
                    <a:bodyPr/>
                    <a:lstStyle/>
                    <a:p>
                      <a:pPr>
                        <a:defRPr sz="2200" b="1">
                          <a:solidFill>
                            <a:srgbClr val="FFFFFF"/>
                          </a:solidFill>
                          <a:latin typeface="DM Sans Bold"/>
                        </a:defRPr>
                      </a:pPr>
                      <a:r>
                        <a:t>What we changed</a:t>
                      </a:r>
                    </a:p>
                  </a:txBody>
                  <a:tcPr marL="182880" marR="128016" marT="54864" marB="36576" anchor="ctr">
                    <a:solidFill>
                      <a:srgbClr val="6F251B"/>
                    </a:solidFill>
                  </a:tcPr>
                </a:tc>
                <a:tc>
                  <a:txBody>
                    <a:bodyPr/>
                    <a:lstStyle/>
                    <a:p>
                      <a:pPr algn="l">
                        <a:defRPr sz="2200" b="1">
                          <a:solidFill>
                            <a:srgbClr val="FFFFFF"/>
                          </a:solidFill>
                          <a:latin typeface="DM Sans Bold"/>
                        </a:defRPr>
                      </a:pPr>
                      <a:r>
                        <a:t>median f</a:t>
                      </a:r>
                    </a:p>
                  </a:txBody>
                  <a:tcPr marL="182880" marR="128016" marT="54864" marB="36576" anchor="ctr">
                    <a:solidFill>
                      <a:srgbClr val="6F251B"/>
                    </a:solidFill>
                  </a:tcPr>
                </a:tc>
                <a:tc>
                  <a:txBody>
                    <a:bodyPr/>
                    <a:lstStyle/>
                    <a:p>
                      <a:pPr algn="l">
                        <a:defRPr sz="2200" b="1">
                          <a:solidFill>
                            <a:srgbClr val="FFFFFF"/>
                          </a:solidFill>
                          <a:latin typeface="DM Sans Bold"/>
                        </a:defRPr>
                      </a:pPr>
                      <a:r>
                        <a:t>worst f</a:t>
                      </a:r>
                    </a:p>
                  </a:txBody>
                  <a:tcPr marL="182880" marR="128016" marT="54864" marB="36576" anchor="ctr">
                    <a:solidFill>
                      <a:srgbClr val="6F251B"/>
                    </a:solidFill>
                  </a:tcPr>
                </a:tc>
                <a:tc>
                  <a:txBody>
                    <a:bodyPr/>
                    <a:lstStyle/>
                    <a:p>
                      <a:pPr algn="l">
                        <a:defRPr sz="2200" b="1">
                          <a:solidFill>
                            <a:srgbClr val="FFFFFF"/>
                          </a:solidFill>
                          <a:latin typeface="DM Sans Bold"/>
                        </a:defRPr>
                      </a:pPr>
                      <a:r>
                        <a:t>reached 10⁻⁶</a:t>
                      </a:r>
                    </a:p>
                  </a:txBody>
                  <a:tcPr marL="182880" marR="128016" marT="54864" marB="36576" anchor="ctr">
                    <a:solidFill>
                      <a:srgbClr val="6F251B"/>
                    </a:solidFill>
                  </a:tcPr>
                </a:tc>
                <a:tc>
                  <a:txBody>
                    <a:bodyPr/>
                    <a:lstStyle/>
                    <a:p>
                      <a:pPr algn="l">
                        <a:defRPr sz="2200" b="1">
                          <a:solidFill>
                            <a:srgbClr val="FFFFFF"/>
                          </a:solidFill>
                          <a:latin typeface="DM Sans Bold"/>
                        </a:defRPr>
                      </a:pPr>
                      <a:r>
                        <a:t>scouts sent</a:t>
                      </a:r>
                    </a:p>
                  </a:txBody>
                  <a:tcPr marL="182880" marR="128016" marT="54864" marB="36576" anchor="ctr">
                    <a:solidFill>
                      <a:srgbClr val="6F251B"/>
                    </a:solidFill>
                  </a:tcPr>
                </a:tc>
                <a:extLst>
                  <a:ext uri="{0D108BD9-81ED-4DB2-BD59-A6C34878D82A}">
                    <a16:rowId xmlns:a16="http://schemas.microsoft.com/office/drawing/2014/main" val="10000"/>
                  </a:ext>
                </a:extLst>
              </a:tr>
              <a:tr h="566928">
                <a:tc>
                  <a:txBody>
                    <a:bodyPr/>
                    <a:lstStyle/>
                    <a:p>
                      <a:pPr>
                        <a:defRPr sz="2200" b="1">
                          <a:solidFill>
                            <a:srgbClr val="6F251B"/>
                          </a:solidFill>
                          <a:latin typeface="DM Sans Bold"/>
                        </a:defRPr>
                      </a:pPr>
                      <a:r>
                        <a:t>full ABC as taught</a:t>
                      </a:r>
                    </a:p>
                  </a:txBody>
                  <a:tcPr marL="182880" marR="128016" marT="54864" marB="36576" anchor="ctr">
                    <a:solidFill>
                      <a:srgbClr val="FFC62A"/>
                    </a:solidFill>
                  </a:tcPr>
                </a:tc>
                <a:tc>
                  <a:txBody>
                    <a:bodyPr/>
                    <a:lstStyle/>
                    <a:p>
                      <a:pPr algn="l">
                        <a:defRPr sz="2200" b="1">
                          <a:solidFill>
                            <a:srgbClr val="6F251B"/>
                          </a:solidFill>
                          <a:latin typeface="DM Sans Bold"/>
                        </a:defRPr>
                      </a:pPr>
                      <a:r>
                        <a:t>5.476e-13</a:t>
                      </a:r>
                    </a:p>
                  </a:txBody>
                  <a:tcPr marL="182880" marR="128016" marT="54864" marB="36576" anchor="ctr">
                    <a:solidFill>
                      <a:srgbClr val="FFC62A"/>
                    </a:solidFill>
                  </a:tcPr>
                </a:tc>
                <a:tc>
                  <a:txBody>
                    <a:bodyPr/>
                    <a:lstStyle/>
                    <a:p>
                      <a:pPr algn="l">
                        <a:defRPr sz="2200" b="1">
                          <a:solidFill>
                            <a:srgbClr val="6F251B"/>
                          </a:solidFill>
                          <a:latin typeface="DM Sans Bold"/>
                        </a:defRPr>
                      </a:pPr>
                      <a:r>
                        <a:t>1.034e-11</a:t>
                      </a:r>
                    </a:p>
                  </a:txBody>
                  <a:tcPr marL="182880" marR="128016" marT="54864" marB="36576" anchor="ctr">
                    <a:solidFill>
                      <a:srgbClr val="FFC62A"/>
                    </a:solidFill>
                  </a:tcPr>
                </a:tc>
                <a:tc>
                  <a:txBody>
                    <a:bodyPr/>
                    <a:lstStyle/>
                    <a:p>
                      <a:pPr algn="l">
                        <a:defRPr sz="2200" b="1">
                          <a:solidFill>
                            <a:srgbClr val="6F251B"/>
                          </a:solidFill>
                          <a:latin typeface="DM Sans Bold"/>
                        </a:defRPr>
                      </a:pPr>
                      <a:r>
                        <a:t>40 / 40</a:t>
                      </a:r>
                    </a:p>
                  </a:txBody>
                  <a:tcPr marL="182880" marR="128016" marT="54864" marB="36576" anchor="ctr">
                    <a:solidFill>
                      <a:srgbClr val="FFC62A"/>
                    </a:solidFill>
                  </a:tcPr>
                </a:tc>
                <a:tc>
                  <a:txBody>
                    <a:bodyPr/>
                    <a:lstStyle/>
                    <a:p>
                      <a:pPr algn="l">
                        <a:defRPr sz="2200" b="1">
                          <a:solidFill>
                            <a:srgbClr val="6F251B"/>
                          </a:solidFill>
                          <a:latin typeface="DM Sans Bold"/>
                        </a:defRPr>
                      </a:pPr>
                      <a:r>
                        <a:t>0</a:t>
                      </a:r>
                    </a:p>
                  </a:txBody>
                  <a:tcPr marL="182880" marR="128016" marT="54864" marB="36576" anchor="ctr">
                    <a:solidFill>
                      <a:srgbClr val="FFC62A"/>
                    </a:solidFill>
                  </a:tcPr>
                </a:tc>
                <a:extLst>
                  <a:ext uri="{0D108BD9-81ED-4DB2-BD59-A6C34878D82A}">
                    <a16:rowId xmlns:a16="http://schemas.microsoft.com/office/drawing/2014/main" val="10001"/>
                  </a:ext>
                </a:extLst>
              </a:tr>
              <a:tr h="566928">
                <a:tc>
                  <a:txBody>
                    <a:bodyPr/>
                    <a:lstStyle/>
                    <a:p>
                      <a:pPr>
                        <a:defRPr sz="2200" b="0">
                          <a:solidFill>
                            <a:srgbClr val="6F251B"/>
                          </a:solidFill>
                          <a:latin typeface="DM Sans"/>
                        </a:defRPr>
                      </a:pPr>
                      <a:r>
                        <a:t>no onlooker phase</a:t>
                      </a:r>
                    </a:p>
                  </a:txBody>
                  <a:tcPr marL="182880" marR="128016" marT="54864" marB="36576" anchor="ctr">
                    <a:solidFill>
                      <a:srgbClr val="F3E7D2"/>
                    </a:solidFill>
                  </a:tcPr>
                </a:tc>
                <a:tc>
                  <a:txBody>
                    <a:bodyPr/>
                    <a:lstStyle/>
                    <a:p>
                      <a:pPr algn="l">
                        <a:defRPr sz="2200" b="0">
                          <a:solidFill>
                            <a:srgbClr val="6F251B"/>
                          </a:solidFill>
                          <a:latin typeface="DM Sans"/>
                        </a:defRPr>
                      </a:pPr>
                      <a:r>
                        <a:t>2.999e-07</a:t>
                      </a:r>
                    </a:p>
                  </a:txBody>
                  <a:tcPr marL="182880" marR="128016" marT="54864" marB="36576" anchor="ctr">
                    <a:solidFill>
                      <a:srgbClr val="F3E7D2"/>
                    </a:solidFill>
                  </a:tcPr>
                </a:tc>
                <a:tc>
                  <a:txBody>
                    <a:bodyPr/>
                    <a:lstStyle/>
                    <a:p>
                      <a:pPr algn="l">
                        <a:defRPr sz="2200" b="0">
                          <a:solidFill>
                            <a:srgbClr val="6F251B"/>
                          </a:solidFill>
                          <a:latin typeface="DM Sans"/>
                        </a:defRPr>
                      </a:pPr>
                      <a:r>
                        <a:t>4.262e-06</a:t>
                      </a:r>
                    </a:p>
                  </a:txBody>
                  <a:tcPr marL="182880" marR="128016" marT="54864" marB="36576" anchor="ctr">
                    <a:solidFill>
                      <a:srgbClr val="F3E7D2"/>
                    </a:solidFill>
                  </a:tcPr>
                </a:tc>
                <a:tc>
                  <a:txBody>
                    <a:bodyPr/>
                    <a:lstStyle/>
                    <a:p>
                      <a:pPr algn="l">
                        <a:defRPr sz="2200" b="0">
                          <a:solidFill>
                            <a:srgbClr val="6F251B"/>
                          </a:solidFill>
                          <a:latin typeface="DM Sans"/>
                        </a:defRPr>
                      </a:pPr>
                      <a:r>
                        <a:t>36 / 40</a:t>
                      </a:r>
                    </a:p>
                  </a:txBody>
                  <a:tcPr marL="182880" marR="128016" marT="54864" marB="36576" anchor="ctr">
                    <a:solidFill>
                      <a:srgbClr val="F3E7D2"/>
                    </a:solidFill>
                  </a:tcPr>
                </a:tc>
                <a:tc>
                  <a:txBody>
                    <a:bodyPr/>
                    <a:lstStyle/>
                    <a:p>
                      <a:pPr algn="l">
                        <a:defRPr sz="2200" b="0">
                          <a:solidFill>
                            <a:srgbClr val="6F251B"/>
                          </a:solidFill>
                          <a:latin typeface="DM Sans"/>
                        </a:defRPr>
                      </a:pPr>
                      <a:r>
                        <a:t>0</a:t>
                      </a:r>
                    </a:p>
                  </a:txBody>
                  <a:tcPr marL="182880" marR="128016" marT="54864" marB="36576" anchor="ctr">
                    <a:solidFill>
                      <a:srgbClr val="F3E7D2"/>
                    </a:solidFill>
                  </a:tcPr>
                </a:tc>
                <a:extLst>
                  <a:ext uri="{0D108BD9-81ED-4DB2-BD59-A6C34878D82A}">
                    <a16:rowId xmlns:a16="http://schemas.microsoft.com/office/drawing/2014/main" val="10002"/>
                  </a:ext>
                </a:extLst>
              </a:tr>
              <a:tr h="566928">
                <a:tc>
                  <a:txBody>
                    <a:bodyPr/>
                    <a:lstStyle/>
                    <a:p>
                      <a:pPr>
                        <a:defRPr sz="2200" b="0">
                          <a:solidFill>
                            <a:srgbClr val="6F251B"/>
                          </a:solidFill>
                          <a:latin typeface="DM Sans"/>
                        </a:defRPr>
                      </a:pPr>
                      <a:r>
                        <a:t>no scout phase</a:t>
                      </a:r>
                    </a:p>
                  </a:txBody>
                  <a:tcPr marL="182880" marR="128016" marT="54864" marB="36576" anchor="ctr">
                    <a:solidFill>
                      <a:srgbClr val="FFFFFF"/>
                    </a:solidFill>
                  </a:tcPr>
                </a:tc>
                <a:tc>
                  <a:txBody>
                    <a:bodyPr/>
                    <a:lstStyle/>
                    <a:p>
                      <a:pPr algn="l">
                        <a:defRPr sz="2200" b="0">
                          <a:solidFill>
                            <a:srgbClr val="6F251B"/>
                          </a:solidFill>
                          <a:latin typeface="DM Sans"/>
                        </a:defRPr>
                      </a:pPr>
                      <a:r>
                        <a:t>5.476e-13</a:t>
                      </a:r>
                    </a:p>
                  </a:txBody>
                  <a:tcPr marL="182880" marR="128016" marT="54864" marB="36576" anchor="ctr">
                    <a:solidFill>
                      <a:srgbClr val="FFFFFF"/>
                    </a:solidFill>
                  </a:tcPr>
                </a:tc>
                <a:tc>
                  <a:txBody>
                    <a:bodyPr/>
                    <a:lstStyle/>
                    <a:p>
                      <a:pPr algn="l">
                        <a:defRPr sz="2200" b="0">
                          <a:solidFill>
                            <a:srgbClr val="6F251B"/>
                          </a:solidFill>
                          <a:latin typeface="DM Sans"/>
                        </a:defRPr>
                      </a:pPr>
                      <a:r>
                        <a:t>1.034e-11</a:t>
                      </a:r>
                    </a:p>
                  </a:txBody>
                  <a:tcPr marL="182880" marR="128016" marT="54864" marB="36576" anchor="ctr">
                    <a:solidFill>
                      <a:srgbClr val="FFFFFF"/>
                    </a:solidFill>
                  </a:tcPr>
                </a:tc>
                <a:tc>
                  <a:txBody>
                    <a:bodyPr/>
                    <a:lstStyle/>
                    <a:p>
                      <a:pPr algn="l">
                        <a:defRPr sz="2200" b="0">
                          <a:solidFill>
                            <a:srgbClr val="6F251B"/>
                          </a:solidFill>
                          <a:latin typeface="DM Sans"/>
                        </a:defRPr>
                      </a:pPr>
                      <a:r>
                        <a:t>40 / 40</a:t>
                      </a:r>
                    </a:p>
                  </a:txBody>
                  <a:tcPr marL="182880" marR="128016" marT="54864" marB="36576" anchor="ctr">
                    <a:solidFill>
                      <a:srgbClr val="FFFFFF"/>
                    </a:solidFill>
                  </a:tcPr>
                </a:tc>
                <a:tc>
                  <a:txBody>
                    <a:bodyPr/>
                    <a:lstStyle/>
                    <a:p>
                      <a:pPr algn="l">
                        <a:defRPr sz="2200" b="0">
                          <a:solidFill>
                            <a:srgbClr val="6F251B"/>
                          </a:solidFill>
                          <a:latin typeface="DM Sans"/>
                        </a:defRPr>
                      </a:pPr>
                      <a:r>
                        <a:t>0</a:t>
                      </a:r>
                    </a:p>
                  </a:txBody>
                  <a:tcPr marL="182880" marR="128016" marT="54864" marB="36576" anchor="ctr">
                    <a:solidFill>
                      <a:srgbClr val="FFFFFF"/>
                    </a:solidFill>
                  </a:tcPr>
                </a:tc>
                <a:extLst>
                  <a:ext uri="{0D108BD9-81ED-4DB2-BD59-A6C34878D82A}">
                    <a16:rowId xmlns:a16="http://schemas.microsoft.com/office/drawing/2014/main" val="10003"/>
                  </a:ext>
                </a:extLst>
              </a:tr>
              <a:tr h="566928">
                <a:tc>
                  <a:txBody>
                    <a:bodyPr/>
                    <a:lstStyle/>
                    <a:p>
                      <a:pPr>
                        <a:defRPr sz="2200" b="0">
                          <a:solidFill>
                            <a:srgbClr val="6F251B"/>
                          </a:solidFill>
                          <a:latin typeface="DM Sans"/>
                        </a:defRPr>
                      </a:pPr>
                      <a:r>
                        <a:t>perturb both coordinates</a:t>
                      </a:r>
                    </a:p>
                  </a:txBody>
                  <a:tcPr marL="182880" marR="128016" marT="54864" marB="36576" anchor="ctr">
                    <a:solidFill>
                      <a:srgbClr val="F3E7D2"/>
                    </a:solidFill>
                  </a:tcPr>
                </a:tc>
                <a:tc>
                  <a:txBody>
                    <a:bodyPr/>
                    <a:lstStyle/>
                    <a:p>
                      <a:pPr algn="l">
                        <a:defRPr sz="2200" b="0">
                          <a:solidFill>
                            <a:srgbClr val="6F251B"/>
                          </a:solidFill>
                          <a:latin typeface="DM Sans"/>
                        </a:defRPr>
                      </a:pPr>
                      <a:r>
                        <a:t>2.509e-13</a:t>
                      </a:r>
                    </a:p>
                  </a:txBody>
                  <a:tcPr marL="182880" marR="128016" marT="54864" marB="36576" anchor="ctr">
                    <a:solidFill>
                      <a:srgbClr val="F3E7D2"/>
                    </a:solidFill>
                  </a:tcPr>
                </a:tc>
                <a:tc>
                  <a:txBody>
                    <a:bodyPr/>
                    <a:lstStyle/>
                    <a:p>
                      <a:pPr algn="l">
                        <a:defRPr sz="2200" b="0">
                          <a:solidFill>
                            <a:srgbClr val="6F251B"/>
                          </a:solidFill>
                          <a:latin typeface="DM Sans"/>
                        </a:defRPr>
                      </a:pPr>
                      <a:r>
                        <a:t>4.267e-12</a:t>
                      </a:r>
                    </a:p>
                  </a:txBody>
                  <a:tcPr marL="182880" marR="128016" marT="54864" marB="36576" anchor="ctr">
                    <a:solidFill>
                      <a:srgbClr val="F3E7D2"/>
                    </a:solidFill>
                  </a:tcPr>
                </a:tc>
                <a:tc>
                  <a:txBody>
                    <a:bodyPr/>
                    <a:lstStyle/>
                    <a:p>
                      <a:pPr algn="l">
                        <a:defRPr sz="2200" b="0">
                          <a:solidFill>
                            <a:srgbClr val="6F251B"/>
                          </a:solidFill>
                          <a:latin typeface="DM Sans"/>
                        </a:defRPr>
                      </a:pPr>
                      <a:r>
                        <a:t>40 / 40</a:t>
                      </a:r>
                    </a:p>
                  </a:txBody>
                  <a:tcPr marL="182880" marR="128016" marT="54864" marB="36576" anchor="ctr">
                    <a:solidFill>
                      <a:srgbClr val="F3E7D2"/>
                    </a:solidFill>
                  </a:tcPr>
                </a:tc>
                <a:tc>
                  <a:txBody>
                    <a:bodyPr/>
                    <a:lstStyle/>
                    <a:p>
                      <a:pPr algn="l">
                        <a:defRPr sz="2200" b="0">
                          <a:solidFill>
                            <a:srgbClr val="6F251B"/>
                          </a:solidFill>
                          <a:latin typeface="DM Sans"/>
                        </a:defRPr>
                      </a:pPr>
                      <a:r>
                        <a:t>0</a:t>
                      </a:r>
                    </a:p>
                  </a:txBody>
                  <a:tcPr marL="182880" marR="128016" marT="54864" marB="36576" anchor="ctr">
                    <a:solidFill>
                      <a:srgbClr val="F3E7D2"/>
                    </a:solidFill>
                  </a:tcPr>
                </a:tc>
                <a:extLst>
                  <a:ext uri="{0D108BD9-81ED-4DB2-BD59-A6C34878D82A}">
                    <a16:rowId xmlns:a16="http://schemas.microsoft.com/office/drawing/2014/main" val="10004"/>
                  </a:ext>
                </a:extLst>
              </a:tr>
              <a:tr h="566928">
                <a:tc>
                  <a:txBody>
                    <a:bodyPr/>
                    <a:lstStyle/>
                    <a:p>
                      <a:pPr>
                        <a:defRPr sz="2200" b="0">
                          <a:solidFill>
                            <a:srgbClr val="6F251B"/>
                          </a:solidFill>
                          <a:latin typeface="DM Sans"/>
                        </a:defRPr>
                      </a:pPr>
                      <a:r>
                        <a:t>limit = 10</a:t>
                      </a:r>
                    </a:p>
                  </a:txBody>
                  <a:tcPr marL="182880" marR="128016" marT="54864" marB="36576" anchor="ctr">
                    <a:solidFill>
                      <a:srgbClr val="FFFFFF"/>
                    </a:solidFill>
                  </a:tcPr>
                </a:tc>
                <a:tc>
                  <a:txBody>
                    <a:bodyPr/>
                    <a:lstStyle/>
                    <a:p>
                      <a:pPr algn="l">
                        <a:defRPr sz="2200" b="0">
                          <a:solidFill>
                            <a:srgbClr val="6F251B"/>
                          </a:solidFill>
                          <a:latin typeface="DM Sans"/>
                        </a:defRPr>
                      </a:pPr>
                      <a:r>
                        <a:t>2.256e-06</a:t>
                      </a:r>
                    </a:p>
                  </a:txBody>
                  <a:tcPr marL="182880" marR="128016" marT="54864" marB="36576" anchor="ctr">
                    <a:solidFill>
                      <a:srgbClr val="FFFFFF"/>
                    </a:solidFill>
                  </a:tcPr>
                </a:tc>
                <a:tc>
                  <a:txBody>
                    <a:bodyPr/>
                    <a:lstStyle/>
                    <a:p>
                      <a:pPr algn="l">
                        <a:defRPr sz="2200" b="0">
                          <a:solidFill>
                            <a:srgbClr val="6F251B"/>
                          </a:solidFill>
                          <a:latin typeface="DM Sans"/>
                        </a:defRPr>
                      </a:pPr>
                      <a:r>
                        <a:t>1.071e-04</a:t>
                      </a:r>
                    </a:p>
                  </a:txBody>
                  <a:tcPr marL="182880" marR="128016" marT="54864" marB="36576" anchor="ctr">
                    <a:solidFill>
                      <a:srgbClr val="FFFFFF"/>
                    </a:solidFill>
                  </a:tcPr>
                </a:tc>
                <a:tc>
                  <a:txBody>
                    <a:bodyPr/>
                    <a:lstStyle/>
                    <a:p>
                      <a:pPr algn="l">
                        <a:defRPr sz="2200" b="0">
                          <a:solidFill>
                            <a:srgbClr val="6F251B"/>
                          </a:solidFill>
                          <a:latin typeface="DM Sans"/>
                        </a:defRPr>
                      </a:pPr>
                      <a:r>
                        <a:t>16 / 40</a:t>
                      </a:r>
                    </a:p>
                  </a:txBody>
                  <a:tcPr marL="182880" marR="128016" marT="54864" marB="36576" anchor="ctr">
                    <a:solidFill>
                      <a:srgbClr val="FFFFFF"/>
                    </a:solidFill>
                  </a:tcPr>
                </a:tc>
                <a:tc>
                  <a:txBody>
                    <a:bodyPr/>
                    <a:lstStyle/>
                    <a:p>
                      <a:pPr algn="l">
                        <a:defRPr sz="2200" b="0">
                          <a:solidFill>
                            <a:srgbClr val="6F251B"/>
                          </a:solidFill>
                          <a:latin typeface="DM Sans"/>
                        </a:defRPr>
                      </a:pPr>
                      <a:r>
                        <a:t>1,562</a:t>
                      </a:r>
                    </a:p>
                  </a:txBody>
                  <a:tcPr marL="182880" marR="128016" marT="54864" marB="36576" anchor="ctr">
                    <a:solidFill>
                      <a:srgbClr val="FFFFFF"/>
                    </a:solidFill>
                  </a:tcPr>
                </a:tc>
                <a:extLst>
                  <a:ext uri="{0D108BD9-81ED-4DB2-BD59-A6C34878D82A}">
                    <a16:rowId xmlns:a16="http://schemas.microsoft.com/office/drawing/2014/main" val="10005"/>
                  </a:ext>
                </a:extLst>
              </a:tr>
              <a:tr h="566928">
                <a:tc>
                  <a:txBody>
                    <a:bodyPr/>
                    <a:lstStyle/>
                    <a:p>
                      <a:pPr>
                        <a:defRPr sz="2200" b="1">
                          <a:solidFill>
                            <a:srgbClr val="FFFFFF"/>
                          </a:solidFill>
                          <a:latin typeface="DM Sans Bold"/>
                        </a:defRPr>
                      </a:pPr>
                      <a:r>
                        <a:t>limit = 5</a:t>
                      </a:r>
                    </a:p>
                  </a:txBody>
                  <a:tcPr marL="182880" marR="128016" marT="54864" marB="36576" anchor="ctr">
                    <a:solidFill>
                      <a:srgbClr val="CB6C29"/>
                    </a:solidFill>
                  </a:tcPr>
                </a:tc>
                <a:tc>
                  <a:txBody>
                    <a:bodyPr/>
                    <a:lstStyle/>
                    <a:p>
                      <a:pPr algn="l">
                        <a:defRPr sz="2200" b="1">
                          <a:solidFill>
                            <a:srgbClr val="FFFFFF"/>
                          </a:solidFill>
                          <a:latin typeface="DM Sans Bold"/>
                        </a:defRPr>
                      </a:pPr>
                      <a:r>
                        <a:t>5.358e-04</a:t>
                      </a:r>
                    </a:p>
                  </a:txBody>
                  <a:tcPr marL="182880" marR="128016" marT="54864" marB="36576" anchor="ctr">
                    <a:solidFill>
                      <a:srgbClr val="CB6C29"/>
                    </a:solidFill>
                  </a:tcPr>
                </a:tc>
                <a:tc>
                  <a:txBody>
                    <a:bodyPr/>
                    <a:lstStyle/>
                    <a:p>
                      <a:pPr algn="l">
                        <a:defRPr sz="2200" b="1">
                          <a:solidFill>
                            <a:srgbClr val="FFFFFF"/>
                          </a:solidFill>
                          <a:latin typeface="DM Sans Bold"/>
                        </a:defRPr>
                      </a:pPr>
                      <a:r>
                        <a:t>1.248e-02</a:t>
                      </a:r>
                    </a:p>
                  </a:txBody>
                  <a:tcPr marL="182880" marR="128016" marT="54864" marB="36576" anchor="ctr">
                    <a:solidFill>
                      <a:srgbClr val="CB6C29"/>
                    </a:solidFill>
                  </a:tcPr>
                </a:tc>
                <a:tc>
                  <a:txBody>
                    <a:bodyPr/>
                    <a:lstStyle/>
                    <a:p>
                      <a:pPr algn="l">
                        <a:defRPr sz="2200" b="1">
                          <a:solidFill>
                            <a:srgbClr val="FFFFFF"/>
                          </a:solidFill>
                          <a:latin typeface="DM Sans Bold"/>
                        </a:defRPr>
                      </a:pPr>
                      <a:r>
                        <a:t>0 / 40</a:t>
                      </a:r>
                    </a:p>
                  </a:txBody>
                  <a:tcPr marL="182880" marR="128016" marT="54864" marB="36576" anchor="ctr">
                    <a:solidFill>
                      <a:srgbClr val="CB6C29"/>
                    </a:solidFill>
                  </a:tcPr>
                </a:tc>
                <a:tc>
                  <a:txBody>
                    <a:bodyPr/>
                    <a:lstStyle/>
                    <a:p>
                      <a:pPr algn="l">
                        <a:defRPr sz="2200" b="1">
                          <a:solidFill>
                            <a:srgbClr val="FFFFFF"/>
                          </a:solidFill>
                          <a:latin typeface="DM Sans Bold"/>
                        </a:defRPr>
                      </a:pPr>
                      <a:r>
                        <a:t>2,107</a:t>
                      </a:r>
                    </a:p>
                  </a:txBody>
                  <a:tcPr marL="182880" marR="128016" marT="54864" marB="36576" anchor="ctr">
                    <a:solidFill>
                      <a:srgbClr val="CB6C29"/>
                    </a:solidFill>
                  </a:tcPr>
                </a:tc>
                <a:extLst>
                  <a:ext uri="{0D108BD9-81ED-4DB2-BD59-A6C34878D82A}">
                    <a16:rowId xmlns:a16="http://schemas.microsoft.com/office/drawing/2014/main" val="10006"/>
                  </a:ext>
                </a:extLst>
              </a:tr>
              <a:tr h="566928">
                <a:tc>
                  <a:txBody>
                    <a:bodyPr/>
                    <a:lstStyle/>
                    <a:p>
                      <a:pPr>
                        <a:defRPr sz="2200" b="0">
                          <a:solidFill>
                            <a:srgbClr val="6F251B"/>
                          </a:solidFill>
                          <a:latin typeface="DM Sans"/>
                        </a:defRPr>
                      </a:pPr>
                      <a:r>
                        <a:t>colony 10 (5 sources)</a:t>
                      </a:r>
                    </a:p>
                  </a:txBody>
                  <a:tcPr marL="182880" marR="128016" marT="54864" marB="36576" anchor="ctr">
                    <a:solidFill>
                      <a:srgbClr val="FFFFFF"/>
                    </a:solidFill>
                  </a:tcPr>
                </a:tc>
                <a:tc>
                  <a:txBody>
                    <a:bodyPr/>
                    <a:lstStyle/>
                    <a:p>
                      <a:pPr algn="l">
                        <a:defRPr sz="2200" b="0">
                          <a:solidFill>
                            <a:srgbClr val="6F251B"/>
                          </a:solidFill>
                          <a:latin typeface="DM Sans"/>
                        </a:defRPr>
                      </a:pPr>
                      <a:r>
                        <a:t>2.647e-04</a:t>
                      </a:r>
                    </a:p>
                  </a:txBody>
                  <a:tcPr marL="182880" marR="128016" marT="54864" marB="36576" anchor="ctr">
                    <a:solidFill>
                      <a:srgbClr val="FFFFFF"/>
                    </a:solidFill>
                  </a:tcPr>
                </a:tc>
                <a:tc>
                  <a:txBody>
                    <a:bodyPr/>
                    <a:lstStyle/>
                    <a:p>
                      <a:pPr algn="l">
                        <a:defRPr sz="2200" b="0">
                          <a:solidFill>
                            <a:srgbClr val="6F251B"/>
                          </a:solidFill>
                          <a:latin typeface="DM Sans"/>
                        </a:defRPr>
                      </a:pPr>
                      <a:r>
                        <a:t>4.121e-01</a:t>
                      </a:r>
                    </a:p>
                  </a:txBody>
                  <a:tcPr marL="182880" marR="128016" marT="54864" marB="36576" anchor="ctr">
                    <a:solidFill>
                      <a:srgbClr val="FFFFFF"/>
                    </a:solidFill>
                  </a:tcPr>
                </a:tc>
                <a:tc>
                  <a:txBody>
                    <a:bodyPr/>
                    <a:lstStyle/>
                    <a:p>
                      <a:pPr algn="l">
                        <a:defRPr sz="2200" b="0">
                          <a:solidFill>
                            <a:srgbClr val="6F251B"/>
                          </a:solidFill>
                          <a:latin typeface="DM Sans"/>
                        </a:defRPr>
                      </a:pPr>
                      <a:r>
                        <a:t>11 / 40</a:t>
                      </a:r>
                    </a:p>
                  </a:txBody>
                  <a:tcPr marL="182880" marR="128016" marT="54864" marB="36576" anchor="ctr">
                    <a:solidFill>
                      <a:srgbClr val="FFFFFF"/>
                    </a:solidFill>
                  </a:tcPr>
                </a:tc>
                <a:tc>
                  <a:txBody>
                    <a:bodyPr/>
                    <a:lstStyle/>
                    <a:p>
                      <a:pPr algn="l">
                        <a:defRPr sz="2200" b="0">
                          <a:solidFill>
                            <a:srgbClr val="6F251B"/>
                          </a:solidFill>
                          <a:latin typeface="DM Sans"/>
                        </a:defRPr>
                      </a:pPr>
                      <a:r>
                        <a:t>260</a:t>
                      </a:r>
                    </a:p>
                  </a:txBody>
                  <a:tcPr marL="182880" marR="128016" marT="54864" marB="36576" anchor="ctr">
                    <a:solidFill>
                      <a:srgbClr val="FFFFFF"/>
                    </a:solidFill>
                  </a:tcPr>
                </a:tc>
                <a:extLst>
                  <a:ext uri="{0D108BD9-81ED-4DB2-BD59-A6C34878D82A}">
                    <a16:rowId xmlns:a16="http://schemas.microsoft.com/office/drawing/2014/main" val="10007"/>
                  </a:ext>
                </a:extLst>
              </a:tr>
            </a:tbl>
          </a:graphicData>
        </a:graphic>
      </p:graphicFrame>
      <p:sp>
        <p:nvSpPr>
          <p:cNvPr id="9" name="Rounded Rectangle 8"/>
          <p:cNvSpPr/>
          <p:nvPr/>
        </p:nvSpPr>
        <p:spPr>
          <a:xfrm>
            <a:off x="1024128" y="7790688"/>
            <a:ext cx="5157216" cy="1609344"/>
          </a:xfrm>
          <a:prstGeom prst="roundRect">
            <a:avLst>
              <a:gd name="adj" fmla="val 9000"/>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16736" y="7973568"/>
            <a:ext cx="4617720" cy="502920"/>
          </a:xfrm>
          <a:prstGeom prst="rect">
            <a:avLst/>
          </a:prstGeom>
          <a:noFill/>
        </p:spPr>
        <p:txBody>
          <a:bodyPr wrap="square" lIns="0" tIns="0" rIns="0" bIns="0">
            <a:spAutoFit/>
          </a:bodyPr>
          <a:lstStyle/>
          <a:p>
            <a:pPr>
              <a:lnSpc>
                <a:spcPct val="100000"/>
              </a:lnSpc>
              <a:spcBef>
                <a:spcPts val="0"/>
              </a:spcBef>
              <a:spcAft>
                <a:spcPts val="505"/>
              </a:spcAft>
              <a:defRPr sz="2300" b="1">
                <a:solidFill>
                  <a:srgbClr val="6F251B"/>
                </a:solidFill>
                <a:latin typeface="DM Sans Bold"/>
              </a:defRPr>
            </a:pPr>
            <a:r>
              <a:t>Onlookers do the precision work</a:t>
            </a:r>
          </a:p>
        </p:txBody>
      </p:sp>
      <p:sp>
        <p:nvSpPr>
          <p:cNvPr id="11" name="TextBox 10"/>
          <p:cNvSpPr txBox="1"/>
          <p:nvPr/>
        </p:nvSpPr>
        <p:spPr>
          <a:xfrm>
            <a:off x="1316736" y="8577072"/>
            <a:ext cx="4617720" cy="731520"/>
          </a:xfrm>
          <a:prstGeom prst="rect">
            <a:avLst/>
          </a:prstGeom>
          <a:noFill/>
        </p:spPr>
        <p:txBody>
          <a:bodyPr wrap="square" lIns="0" tIns="0" rIns="0" bIns="0">
            <a:spAutoFit/>
          </a:bodyPr>
          <a:lstStyle/>
          <a:p>
            <a:pPr>
              <a:lnSpc>
                <a:spcPct val="100000"/>
              </a:lnSpc>
              <a:spcBef>
                <a:spcPts val="0"/>
              </a:spcBef>
              <a:spcAft>
                <a:spcPts val="440"/>
              </a:spcAft>
              <a:defRPr sz="2000" b="0">
                <a:solidFill>
                  <a:srgbClr val="6F251B"/>
                </a:solidFill>
                <a:latin typeface="DM Sans"/>
              </a:defRPr>
            </a:pPr>
            <a:r>
              <a:t>Remove them and the median is 500,000x worse.</a:t>
            </a:r>
          </a:p>
        </p:txBody>
      </p:sp>
      <p:sp>
        <p:nvSpPr>
          <p:cNvPr id="12" name="Rounded Rectangle 11"/>
          <p:cNvSpPr/>
          <p:nvPr/>
        </p:nvSpPr>
        <p:spPr>
          <a:xfrm>
            <a:off x="6565392" y="7790688"/>
            <a:ext cx="5157216" cy="160934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0" y="7973568"/>
            <a:ext cx="4617720" cy="502920"/>
          </a:xfrm>
          <a:prstGeom prst="rect">
            <a:avLst/>
          </a:prstGeom>
          <a:noFill/>
        </p:spPr>
        <p:txBody>
          <a:bodyPr wrap="square" lIns="0" tIns="0" rIns="0" bIns="0">
            <a:spAutoFit/>
          </a:bodyPr>
          <a:lstStyle/>
          <a:p>
            <a:pPr>
              <a:lnSpc>
                <a:spcPct val="100000"/>
              </a:lnSpc>
              <a:spcBef>
                <a:spcPts val="0"/>
              </a:spcBef>
              <a:spcAft>
                <a:spcPts val="505"/>
              </a:spcAft>
              <a:defRPr sz="2300" b="1">
                <a:solidFill>
                  <a:srgbClr val="6F251B"/>
                </a:solidFill>
                <a:latin typeface="DM Sans Bold"/>
              </a:defRPr>
            </a:pPr>
            <a:r>
              <a:t>Scouts never fired here</a:t>
            </a:r>
          </a:p>
        </p:txBody>
      </p:sp>
      <p:sp>
        <p:nvSpPr>
          <p:cNvPr id="14" name="TextBox 13"/>
          <p:cNvSpPr txBox="1"/>
          <p:nvPr/>
        </p:nvSpPr>
        <p:spPr>
          <a:xfrm>
            <a:off x="6858000" y="8577072"/>
            <a:ext cx="4617720" cy="731520"/>
          </a:xfrm>
          <a:prstGeom prst="rect">
            <a:avLst/>
          </a:prstGeom>
          <a:noFill/>
        </p:spPr>
        <p:txBody>
          <a:bodyPr wrap="square" lIns="0" tIns="0" rIns="0" bIns="0">
            <a:spAutoFit/>
          </a:bodyPr>
          <a:lstStyle/>
          <a:p>
            <a:pPr>
              <a:lnSpc>
                <a:spcPct val="100000"/>
              </a:lnSpc>
              <a:spcBef>
                <a:spcPts val="0"/>
              </a:spcBef>
              <a:spcAft>
                <a:spcPts val="440"/>
              </a:spcAft>
              <a:defRPr sz="2000" b="0">
                <a:solidFill>
                  <a:srgbClr val="6F251B"/>
                </a:solidFill>
                <a:latin typeface="DM Sans"/>
              </a:defRPr>
            </a:pPr>
            <a:r>
              <a:t>Turning them off changed nothing at all.</a:t>
            </a:r>
          </a:p>
        </p:txBody>
      </p:sp>
      <p:sp>
        <p:nvSpPr>
          <p:cNvPr id="15" name="Rounded Rectangle 14"/>
          <p:cNvSpPr/>
          <p:nvPr/>
        </p:nvSpPr>
        <p:spPr>
          <a:xfrm>
            <a:off x="12106656" y="7790688"/>
            <a:ext cx="5157216" cy="1609344"/>
          </a:xfrm>
          <a:prstGeom prst="roundRect">
            <a:avLst>
              <a:gd name="adj" fmla="val 9000"/>
            </a:avLst>
          </a:prstGeom>
          <a:solidFill>
            <a:srgbClr val="CB6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399264" y="7973568"/>
            <a:ext cx="4617720" cy="502920"/>
          </a:xfrm>
          <a:prstGeom prst="rect">
            <a:avLst/>
          </a:prstGeom>
          <a:noFill/>
        </p:spPr>
        <p:txBody>
          <a:bodyPr wrap="square" lIns="0" tIns="0" rIns="0" bIns="0">
            <a:spAutoFit/>
          </a:bodyPr>
          <a:lstStyle/>
          <a:p>
            <a:pPr>
              <a:lnSpc>
                <a:spcPct val="100000"/>
              </a:lnSpc>
              <a:spcBef>
                <a:spcPts val="0"/>
              </a:spcBef>
              <a:spcAft>
                <a:spcPts val="505"/>
              </a:spcAft>
              <a:defRPr sz="2300" b="1">
                <a:solidFill>
                  <a:srgbClr val="FFFFFF"/>
                </a:solidFill>
                <a:latin typeface="DM Sans Bold"/>
              </a:defRPr>
            </a:pPr>
            <a:r>
              <a:t>A small limit is destructive</a:t>
            </a:r>
          </a:p>
        </p:txBody>
      </p:sp>
      <p:sp>
        <p:nvSpPr>
          <p:cNvPr id="17" name="TextBox 16"/>
          <p:cNvSpPr txBox="1"/>
          <p:nvPr/>
        </p:nvSpPr>
        <p:spPr>
          <a:xfrm>
            <a:off x="12399264" y="8577072"/>
            <a:ext cx="4617720" cy="731520"/>
          </a:xfrm>
          <a:prstGeom prst="rect">
            <a:avLst/>
          </a:prstGeom>
          <a:noFill/>
        </p:spPr>
        <p:txBody>
          <a:bodyPr wrap="square" lIns="0" tIns="0" rIns="0" bIns="0">
            <a:spAutoFit/>
          </a:bodyPr>
          <a:lstStyle/>
          <a:p>
            <a:pPr>
              <a:lnSpc>
                <a:spcPct val="100000"/>
              </a:lnSpc>
              <a:spcBef>
                <a:spcPts val="0"/>
              </a:spcBef>
              <a:spcAft>
                <a:spcPts val="440"/>
              </a:spcAft>
              <a:defRPr sz="2000" b="0">
                <a:solidFill>
                  <a:srgbClr val="FFFFFF"/>
                </a:solidFill>
                <a:latin typeface="DM Sans"/>
              </a:defRPr>
            </a:pPr>
            <a:r>
              <a:t>limit = 5 threw away good sources: 0 / 40.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05 - RESULTS</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605"/>
              </a:spcAft>
              <a:defRPr sz="7300" b="0">
                <a:solidFill>
                  <a:srgbClr val="6F251B"/>
                </a:solidFill>
                <a:latin typeface="More Sugar"/>
              </a:defRPr>
            </a:pPr>
            <a:r>
              <a:t>Our result is very close to (0, 0)</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15</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Rounded Rectangle 6"/>
          <p:cNvSpPr/>
          <p:nvPr/>
        </p:nvSpPr>
        <p:spPr>
          <a:xfrm>
            <a:off x="1024128" y="2633472"/>
            <a:ext cx="10561320" cy="599846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09_best_solution_path.png" descr="09_best_solution_path.png"/>
          <p:cNvPicPr>
            <a:picLocks noChangeAspect="1"/>
          </p:cNvPicPr>
          <p:nvPr/>
        </p:nvPicPr>
        <p:blipFill>
          <a:blip r:embed="rId3"/>
          <a:stretch>
            <a:fillRect/>
          </a:stretch>
        </p:blipFill>
        <p:spPr>
          <a:xfrm>
            <a:off x="1133856" y="3452033"/>
            <a:ext cx="10341864" cy="4361341"/>
          </a:xfrm>
          <a:prstGeom prst="rect">
            <a:avLst/>
          </a:prstGeom>
        </p:spPr>
      </p:pic>
      <p:sp>
        <p:nvSpPr>
          <p:cNvPr id="9" name="Rounded Rectangle 8"/>
          <p:cNvSpPr/>
          <p:nvPr/>
        </p:nvSpPr>
        <p:spPr>
          <a:xfrm>
            <a:off x="11887200" y="2633472"/>
            <a:ext cx="5376672" cy="1828800"/>
          </a:xfrm>
          <a:prstGeom prst="roundRect">
            <a:avLst>
              <a:gd name="adj" fmla="val 9000"/>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161520" y="2798064"/>
            <a:ext cx="4828032" cy="731520"/>
          </a:xfrm>
          <a:prstGeom prst="rect">
            <a:avLst/>
          </a:prstGeom>
          <a:noFill/>
        </p:spPr>
        <p:txBody>
          <a:bodyPr wrap="square" lIns="0" tIns="0" rIns="0" bIns="0">
            <a:spAutoFit/>
          </a:bodyPr>
          <a:lstStyle/>
          <a:p>
            <a:pPr>
              <a:lnSpc>
                <a:spcPct val="100000"/>
              </a:lnSpc>
              <a:spcBef>
                <a:spcPts val="0"/>
              </a:spcBef>
              <a:spcAft>
                <a:spcPts val="880"/>
              </a:spcAft>
              <a:defRPr sz="4000" b="0">
                <a:solidFill>
                  <a:srgbClr val="6F251B"/>
                </a:solidFill>
                <a:latin typeface="More Sugar"/>
              </a:defRPr>
            </a:pPr>
            <a:r>
              <a:t>6.541 × 10⁻¹³</a:t>
            </a:r>
          </a:p>
        </p:txBody>
      </p:sp>
      <p:sp>
        <p:nvSpPr>
          <p:cNvPr id="11" name="TextBox 10"/>
          <p:cNvSpPr txBox="1"/>
          <p:nvPr/>
        </p:nvSpPr>
        <p:spPr>
          <a:xfrm>
            <a:off x="12161520" y="3895344"/>
            <a:ext cx="4828032" cy="411480"/>
          </a:xfrm>
          <a:prstGeom prst="rect">
            <a:avLst/>
          </a:prstGeom>
          <a:noFill/>
        </p:spPr>
        <p:txBody>
          <a:bodyPr wrap="square" lIns="0" tIns="0" rIns="0" bIns="0">
            <a:spAutoFit/>
          </a:bodyPr>
          <a:lstStyle/>
          <a:p>
            <a:pPr>
              <a:lnSpc>
                <a:spcPct val="100000"/>
              </a:lnSpc>
              <a:spcBef>
                <a:spcPts val="0"/>
              </a:spcBef>
              <a:spcAft>
                <a:spcPts val="462"/>
              </a:spcAft>
              <a:defRPr sz="2100" b="0">
                <a:solidFill>
                  <a:srgbClr val="6F251B"/>
                </a:solidFill>
                <a:latin typeface="DM Sans"/>
              </a:defRPr>
            </a:pPr>
            <a:r>
              <a:t>best Ackley value, seed 7</a:t>
            </a:r>
          </a:p>
        </p:txBody>
      </p:sp>
      <p:sp>
        <p:nvSpPr>
          <p:cNvPr id="12" name="Rounded Rectangle 11"/>
          <p:cNvSpPr/>
          <p:nvPr/>
        </p:nvSpPr>
        <p:spPr>
          <a:xfrm>
            <a:off x="11887200" y="4718304"/>
            <a:ext cx="5376672" cy="18288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161520" y="4882896"/>
            <a:ext cx="4828032" cy="731520"/>
          </a:xfrm>
          <a:prstGeom prst="rect">
            <a:avLst/>
          </a:prstGeom>
          <a:noFill/>
        </p:spPr>
        <p:txBody>
          <a:bodyPr wrap="square" lIns="0" tIns="0" rIns="0" bIns="0">
            <a:spAutoFit/>
          </a:bodyPr>
          <a:lstStyle/>
          <a:p>
            <a:pPr>
              <a:lnSpc>
                <a:spcPct val="100000"/>
              </a:lnSpc>
              <a:spcBef>
                <a:spcPts val="0"/>
              </a:spcBef>
              <a:spcAft>
                <a:spcPts val="880"/>
              </a:spcAft>
              <a:defRPr sz="4000" b="0">
                <a:solidFill>
                  <a:srgbClr val="6F251B"/>
                </a:solidFill>
                <a:latin typeface="More Sugar"/>
              </a:defRPr>
            </a:pPr>
            <a:r>
              <a:t>99 / 100</a:t>
            </a:r>
          </a:p>
        </p:txBody>
      </p:sp>
      <p:sp>
        <p:nvSpPr>
          <p:cNvPr id="14" name="TextBox 13"/>
          <p:cNvSpPr txBox="1"/>
          <p:nvPr/>
        </p:nvSpPr>
        <p:spPr>
          <a:xfrm>
            <a:off x="12161520" y="5980176"/>
            <a:ext cx="4828032" cy="411480"/>
          </a:xfrm>
          <a:prstGeom prst="rect">
            <a:avLst/>
          </a:prstGeom>
          <a:noFill/>
        </p:spPr>
        <p:txBody>
          <a:bodyPr wrap="square" lIns="0" tIns="0" rIns="0" bIns="0">
            <a:spAutoFit/>
          </a:bodyPr>
          <a:lstStyle/>
          <a:p>
            <a:pPr>
              <a:lnSpc>
                <a:spcPct val="100000"/>
              </a:lnSpc>
              <a:spcBef>
                <a:spcPts val="0"/>
              </a:spcBef>
              <a:spcAft>
                <a:spcPts val="462"/>
              </a:spcAft>
              <a:defRPr sz="2100" b="0">
                <a:solidFill>
                  <a:srgbClr val="6F251B"/>
                </a:solidFill>
                <a:latin typeface="DM Sans"/>
              </a:defRPr>
            </a:pPr>
            <a:r>
              <a:t>cycle the best was found</a:t>
            </a:r>
          </a:p>
        </p:txBody>
      </p:sp>
      <p:sp>
        <p:nvSpPr>
          <p:cNvPr id="15" name="Rounded Rectangle 14"/>
          <p:cNvSpPr/>
          <p:nvPr/>
        </p:nvSpPr>
        <p:spPr>
          <a:xfrm>
            <a:off x="11887200" y="6803136"/>
            <a:ext cx="5376672" cy="182880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161520" y="6967728"/>
            <a:ext cx="4828032" cy="731520"/>
          </a:xfrm>
          <a:prstGeom prst="rect">
            <a:avLst/>
          </a:prstGeom>
          <a:noFill/>
        </p:spPr>
        <p:txBody>
          <a:bodyPr wrap="square" lIns="0" tIns="0" rIns="0" bIns="0">
            <a:spAutoFit/>
          </a:bodyPr>
          <a:lstStyle/>
          <a:p>
            <a:pPr>
              <a:lnSpc>
                <a:spcPct val="100000"/>
              </a:lnSpc>
              <a:spcBef>
                <a:spcPts val="0"/>
              </a:spcBef>
              <a:spcAft>
                <a:spcPts val="880"/>
              </a:spcAft>
              <a:defRPr sz="4000" b="0">
                <a:solidFill>
                  <a:srgbClr val="6F251B"/>
                </a:solidFill>
                <a:latin typeface="More Sugar"/>
              </a:defRPr>
            </a:pPr>
            <a:r>
              <a:t>5,025</a:t>
            </a:r>
          </a:p>
        </p:txBody>
      </p:sp>
      <p:sp>
        <p:nvSpPr>
          <p:cNvPr id="17" name="TextBox 16"/>
          <p:cNvSpPr txBox="1"/>
          <p:nvPr/>
        </p:nvSpPr>
        <p:spPr>
          <a:xfrm>
            <a:off x="12161520" y="8065008"/>
            <a:ext cx="4828032" cy="411480"/>
          </a:xfrm>
          <a:prstGeom prst="rect">
            <a:avLst/>
          </a:prstGeom>
          <a:noFill/>
        </p:spPr>
        <p:txBody>
          <a:bodyPr wrap="square" lIns="0" tIns="0" rIns="0" bIns="0">
            <a:spAutoFit/>
          </a:bodyPr>
          <a:lstStyle/>
          <a:p>
            <a:pPr>
              <a:lnSpc>
                <a:spcPct val="100000"/>
              </a:lnSpc>
              <a:spcBef>
                <a:spcPts val="0"/>
              </a:spcBef>
              <a:spcAft>
                <a:spcPts val="462"/>
              </a:spcAft>
              <a:defRPr sz="2100" b="0">
                <a:solidFill>
                  <a:srgbClr val="6F251B"/>
                </a:solidFill>
                <a:latin typeface="DM Sans"/>
              </a:defRPr>
            </a:pPr>
            <a:r>
              <a:t>Ackley evaluations used, 0 scouts</a:t>
            </a:r>
          </a:p>
        </p:txBody>
      </p:sp>
      <p:sp>
        <p:nvSpPr>
          <p:cNvPr id="18" name="Rounded Rectangle 17"/>
          <p:cNvSpPr/>
          <p:nvPr/>
        </p:nvSpPr>
        <p:spPr>
          <a:xfrm>
            <a:off x="1024128" y="8887968"/>
            <a:ext cx="10561320" cy="749808"/>
          </a:xfrm>
          <a:prstGeom prst="roundRect">
            <a:avLst>
              <a:gd name="adj" fmla="val 6129"/>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40" y="9043416"/>
            <a:ext cx="10149840" cy="457200"/>
          </a:xfrm>
          <a:prstGeom prst="rect">
            <a:avLst/>
          </a:prstGeom>
          <a:noFill/>
        </p:spPr>
        <p:txBody>
          <a:bodyPr wrap="square" lIns="0" tIns="0" rIns="0" bIns="0">
            <a:spAutoFit/>
          </a:bodyPr>
          <a:lstStyle/>
          <a:p>
            <a:pPr algn="ctr">
              <a:lnSpc>
                <a:spcPct val="100000"/>
              </a:lnSpc>
              <a:spcBef>
                <a:spcPts val="0"/>
              </a:spcBef>
              <a:spcAft>
                <a:spcPts val="505"/>
              </a:spcAft>
              <a:defRPr sz="2300" b="1">
                <a:solidFill>
                  <a:srgbClr val="6F251B"/>
                </a:solidFill>
                <a:latin typeface="DM Sans Bold"/>
              </a:defRPr>
            </a:pPr>
            <a:r>
              <a:t>x₁ = +2.278 × 10⁻¹³      x₂ = −3.938 × 10⁻¹⁴      distance = 2.312 × 10⁻¹³</a:t>
            </a:r>
          </a:p>
        </p:txBody>
      </p:sp>
      <p:sp>
        <p:nvSpPr>
          <p:cNvPr id="20" name="Rounded Rectangle 19"/>
          <p:cNvSpPr/>
          <p:nvPr/>
        </p:nvSpPr>
        <p:spPr>
          <a:xfrm>
            <a:off x="11887200" y="8887968"/>
            <a:ext cx="5376672" cy="749808"/>
          </a:xfrm>
          <a:prstGeom prst="roundRect">
            <a:avLst>
              <a:gd name="adj" fmla="val 8183"/>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070080" y="9043416"/>
            <a:ext cx="5029200" cy="457200"/>
          </a:xfrm>
          <a:prstGeom prst="rect">
            <a:avLst/>
          </a:prstGeom>
          <a:noFill/>
        </p:spPr>
        <p:txBody>
          <a:bodyPr wrap="square" lIns="0" tIns="0" rIns="0" bIns="0">
            <a:spAutoFit/>
          </a:bodyPr>
          <a:lstStyle/>
          <a:p>
            <a:pPr algn="ctr">
              <a:lnSpc>
                <a:spcPct val="100000"/>
              </a:lnSpc>
              <a:spcBef>
                <a:spcPts val="0"/>
              </a:spcBef>
              <a:spcAft>
                <a:spcPts val="505"/>
              </a:spcAft>
              <a:defRPr sz="2300" b="1">
                <a:solidFill>
                  <a:srgbClr val="6F251B"/>
                </a:solidFill>
                <a:latin typeface="DM Sans Bold"/>
              </a:defRPr>
            </a:pPr>
            <a:r>
              <a:t>random search: 0.769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05 - RESULTS</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The colony closing in</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16</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Rounded Rectangle 6"/>
          <p:cNvSpPr/>
          <p:nvPr/>
        </p:nvSpPr>
        <p:spPr>
          <a:xfrm>
            <a:off x="1024128" y="2633472"/>
            <a:ext cx="8275320" cy="599846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10_source_snapshots.png" descr="10_source_snapshots.png"/>
          <p:cNvPicPr>
            <a:picLocks noChangeAspect="1"/>
          </p:cNvPicPr>
          <p:nvPr/>
        </p:nvPicPr>
        <p:blipFill>
          <a:blip r:embed="rId3"/>
          <a:stretch>
            <a:fillRect/>
          </a:stretch>
        </p:blipFill>
        <p:spPr>
          <a:xfrm>
            <a:off x="1115568" y="3006280"/>
            <a:ext cx="8092440" cy="5252846"/>
          </a:xfrm>
          <a:prstGeom prst="rect">
            <a:avLst/>
          </a:prstGeom>
        </p:spPr>
      </p:pic>
      <p:sp>
        <p:nvSpPr>
          <p:cNvPr id="9" name="TextBox 8"/>
          <p:cNvSpPr txBox="1"/>
          <p:nvPr/>
        </p:nvSpPr>
        <p:spPr>
          <a:xfrm>
            <a:off x="1024128" y="8650224"/>
            <a:ext cx="8275320" cy="365760"/>
          </a:xfrm>
          <a:prstGeom prst="rect">
            <a:avLst/>
          </a:prstGeom>
          <a:noFill/>
        </p:spPr>
        <p:txBody>
          <a:bodyPr wrap="square" lIns="0" tIns="0" rIns="0" bIns="0">
            <a:spAutoFit/>
          </a:bodyPr>
          <a:lstStyle/>
          <a:p>
            <a:pPr algn="ctr">
              <a:lnSpc>
                <a:spcPct val="100000"/>
              </a:lnSpc>
              <a:spcBef>
                <a:spcPts val="0"/>
              </a:spcBef>
              <a:spcAft>
                <a:spcPts val="440"/>
              </a:spcAft>
              <a:defRPr sz="2000" b="1">
                <a:solidFill>
                  <a:srgbClr val="CB6C29"/>
                </a:solidFill>
                <a:latin typeface="DM Sans Bold"/>
              </a:defRPr>
            </a:pPr>
            <a:r>
              <a:t>the colony contracts</a:t>
            </a:r>
          </a:p>
        </p:txBody>
      </p:sp>
      <p:sp>
        <p:nvSpPr>
          <p:cNvPr id="10" name="Rounded Rectangle 9"/>
          <p:cNvSpPr/>
          <p:nvPr/>
        </p:nvSpPr>
        <p:spPr>
          <a:xfrm>
            <a:off x="9555480" y="2633472"/>
            <a:ext cx="7708392" cy="301752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08_convergence_and_work.png" descr="08_convergence_and_work.png"/>
          <p:cNvPicPr>
            <a:picLocks noChangeAspect="1"/>
          </p:cNvPicPr>
          <p:nvPr/>
        </p:nvPicPr>
        <p:blipFill>
          <a:blip r:embed="rId4"/>
          <a:stretch>
            <a:fillRect/>
          </a:stretch>
        </p:blipFill>
        <p:spPr>
          <a:xfrm>
            <a:off x="9646920" y="2817237"/>
            <a:ext cx="7525512" cy="2649989"/>
          </a:xfrm>
          <a:prstGeom prst="rect">
            <a:avLst/>
          </a:prstGeom>
        </p:spPr>
      </p:pic>
      <p:sp>
        <p:nvSpPr>
          <p:cNvPr id="12" name="Rounded Rectangle 11"/>
          <p:cNvSpPr/>
          <p:nvPr/>
        </p:nvSpPr>
        <p:spPr>
          <a:xfrm>
            <a:off x="9555480" y="5870448"/>
            <a:ext cx="7708392" cy="276148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857232" y="6108192"/>
            <a:ext cx="128016" cy="566928"/>
          </a:xfrm>
          <a:prstGeom prst="rect">
            <a:avLst/>
          </a:prstGeom>
          <a:solidFill>
            <a:srgbClr val="6F2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168128" y="6053328"/>
            <a:ext cx="6858000" cy="402336"/>
          </a:xfrm>
          <a:prstGeom prst="rect">
            <a:avLst/>
          </a:prstGeom>
          <a:noFill/>
        </p:spPr>
        <p:txBody>
          <a:bodyPr wrap="square" lIns="0" tIns="0" rIns="0" bIns="0">
            <a:spAutoFit/>
          </a:bodyPr>
          <a:lstStyle/>
          <a:p>
            <a:pPr>
              <a:lnSpc>
                <a:spcPct val="100000"/>
              </a:lnSpc>
              <a:spcBef>
                <a:spcPts val="0"/>
              </a:spcBef>
              <a:spcAft>
                <a:spcPts val="528"/>
              </a:spcAft>
              <a:defRPr sz="2400" b="1">
                <a:solidFill>
                  <a:srgbClr val="6F251B"/>
                </a:solidFill>
                <a:latin typeface="DM Sans Bold"/>
              </a:defRPr>
            </a:pPr>
            <a:r>
              <a:t>The best value never rises</a:t>
            </a:r>
          </a:p>
        </p:txBody>
      </p:sp>
      <p:sp>
        <p:nvSpPr>
          <p:cNvPr id="15" name="TextBox 14"/>
          <p:cNvSpPr txBox="1"/>
          <p:nvPr/>
        </p:nvSpPr>
        <p:spPr>
          <a:xfrm>
            <a:off x="10168128" y="6455664"/>
            <a:ext cx="6858000" cy="36576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it is memorised at the end of every cycle</a:t>
            </a:r>
          </a:p>
        </p:txBody>
      </p:sp>
      <p:sp>
        <p:nvSpPr>
          <p:cNvPr id="16" name="Rectangle 15"/>
          <p:cNvSpPr/>
          <p:nvPr/>
        </p:nvSpPr>
        <p:spPr>
          <a:xfrm>
            <a:off x="9857232" y="6976872"/>
            <a:ext cx="128016" cy="566928"/>
          </a:xfrm>
          <a:prstGeom prst="rect">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168128" y="6922008"/>
            <a:ext cx="6858000" cy="402336"/>
          </a:xfrm>
          <a:prstGeom prst="rect">
            <a:avLst/>
          </a:prstGeom>
          <a:noFill/>
        </p:spPr>
        <p:txBody>
          <a:bodyPr wrap="square" lIns="0" tIns="0" rIns="0" bIns="0">
            <a:spAutoFit/>
          </a:bodyPr>
          <a:lstStyle/>
          <a:p>
            <a:pPr>
              <a:lnSpc>
                <a:spcPct val="100000"/>
              </a:lnSpc>
              <a:spcBef>
                <a:spcPts val="0"/>
              </a:spcBef>
              <a:spcAft>
                <a:spcPts val="528"/>
              </a:spcAft>
              <a:defRPr sz="2400" b="1">
                <a:solidFill>
                  <a:srgbClr val="6F251B"/>
                </a:solidFill>
                <a:latin typeface="DM Sans Bold"/>
              </a:defRPr>
            </a:pPr>
            <a:r>
              <a:t>Both phases keep working</a:t>
            </a:r>
          </a:p>
        </p:txBody>
      </p:sp>
      <p:sp>
        <p:nvSpPr>
          <p:cNvPr id="18" name="TextBox 17"/>
          <p:cNvSpPr txBox="1"/>
          <p:nvPr/>
        </p:nvSpPr>
        <p:spPr>
          <a:xfrm>
            <a:off x="10168128" y="7324344"/>
            <a:ext cx="6858000" cy="36576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improvements continue right up to cycle 100</a:t>
            </a:r>
          </a:p>
        </p:txBody>
      </p:sp>
      <p:sp>
        <p:nvSpPr>
          <p:cNvPr id="19" name="Rectangle 18"/>
          <p:cNvSpPr/>
          <p:nvPr/>
        </p:nvSpPr>
        <p:spPr>
          <a:xfrm>
            <a:off x="9857232" y="7845552"/>
            <a:ext cx="128016" cy="566928"/>
          </a:xfrm>
          <a:prstGeom prst="rect">
            <a:avLst/>
          </a:prstGeom>
          <a:solidFill>
            <a:srgbClr val="CB6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68128" y="7790688"/>
            <a:ext cx="6858000" cy="402336"/>
          </a:xfrm>
          <a:prstGeom prst="rect">
            <a:avLst/>
          </a:prstGeom>
          <a:noFill/>
        </p:spPr>
        <p:txBody>
          <a:bodyPr wrap="square" lIns="0" tIns="0" rIns="0" bIns="0">
            <a:spAutoFit/>
          </a:bodyPr>
          <a:lstStyle/>
          <a:p>
            <a:pPr>
              <a:lnSpc>
                <a:spcPct val="100000"/>
              </a:lnSpc>
              <a:spcBef>
                <a:spcPts val="0"/>
              </a:spcBef>
              <a:spcAft>
                <a:spcPts val="528"/>
              </a:spcAft>
              <a:defRPr sz="2400" b="1">
                <a:solidFill>
                  <a:srgbClr val="6F251B"/>
                </a:solidFill>
                <a:latin typeface="DM Sans Bold"/>
              </a:defRPr>
            </a:pPr>
            <a:r>
              <a:t>The trial counter peaked at 23</a:t>
            </a:r>
          </a:p>
        </p:txBody>
      </p:sp>
      <p:sp>
        <p:nvSpPr>
          <p:cNvPr id="21" name="TextBox 20"/>
          <p:cNvSpPr txBox="1"/>
          <p:nvPr/>
        </p:nvSpPr>
        <p:spPr>
          <a:xfrm>
            <a:off x="10168128" y="8193023"/>
            <a:ext cx="6858000" cy="365760"/>
          </a:xfrm>
          <a:prstGeom prst="rect">
            <a:avLst/>
          </a:prstGeom>
          <a:noFill/>
        </p:spPr>
        <p:txBody>
          <a:bodyPr wrap="square" lIns="0" tIns="0" rIns="0" bIns="0">
            <a:spAutoFit/>
          </a:bodyPr>
          <a:lstStyle/>
          <a:p>
            <a:pPr>
              <a:lnSpc>
                <a:spcPct val="100000"/>
              </a:lnSpc>
              <a:spcBef>
                <a:spcPts val="0"/>
              </a:spcBef>
              <a:spcAft>
                <a:spcPts val="440"/>
              </a:spcAft>
              <a:defRPr sz="2000" b="0">
                <a:solidFill>
                  <a:srgbClr val="CB6C29"/>
                </a:solidFill>
                <a:latin typeface="DM Sans"/>
              </a:defRPr>
            </a:pPr>
            <a:r>
              <a:t>the limit of 50 was never reached, so no scout flew</a:t>
            </a:r>
          </a:p>
        </p:txBody>
      </p:sp>
      <p:sp>
        <p:nvSpPr>
          <p:cNvPr id="22" name="Rounded Rectangle 21"/>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Read the axis numbers on the snapshots: the last panel is only 2 × 10⁻¹⁰ wide.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05 - RESULTS</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All 40 runs met the target</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17</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Rounded Rectangle 6"/>
          <p:cNvSpPr/>
          <p:nvPr/>
        </p:nvSpPr>
        <p:spPr>
          <a:xfrm>
            <a:off x="1024128" y="2670048"/>
            <a:ext cx="5303520" cy="1572768"/>
          </a:xfrm>
          <a:prstGeom prst="roundRect">
            <a:avLst>
              <a:gd name="adj" fmla="val 9000"/>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98448" y="2834640"/>
            <a:ext cx="4754880" cy="731520"/>
          </a:xfrm>
          <a:prstGeom prst="rect">
            <a:avLst/>
          </a:prstGeom>
          <a:noFill/>
        </p:spPr>
        <p:txBody>
          <a:bodyPr wrap="square" lIns="0" tIns="0" rIns="0" bIns="0">
            <a:spAutoFit/>
          </a:bodyPr>
          <a:lstStyle/>
          <a:p>
            <a:pPr>
              <a:lnSpc>
                <a:spcPct val="100000"/>
              </a:lnSpc>
              <a:spcBef>
                <a:spcPts val="0"/>
              </a:spcBef>
              <a:spcAft>
                <a:spcPts val="924"/>
              </a:spcAft>
              <a:defRPr sz="4200" b="0">
                <a:solidFill>
                  <a:srgbClr val="6F251B"/>
                </a:solidFill>
                <a:latin typeface="More Sugar"/>
              </a:defRPr>
            </a:pPr>
            <a:r>
              <a:t>40 / 40</a:t>
            </a:r>
          </a:p>
        </p:txBody>
      </p:sp>
      <p:sp>
        <p:nvSpPr>
          <p:cNvPr id="9" name="TextBox 8"/>
          <p:cNvSpPr txBox="1"/>
          <p:nvPr/>
        </p:nvSpPr>
        <p:spPr>
          <a:xfrm>
            <a:off x="1298448" y="3675887"/>
            <a:ext cx="4754880" cy="411480"/>
          </a:xfrm>
          <a:prstGeom prst="rect">
            <a:avLst/>
          </a:prstGeom>
          <a:noFill/>
        </p:spPr>
        <p:txBody>
          <a:bodyPr wrap="square" lIns="0" tIns="0" rIns="0" bIns="0">
            <a:spAutoFit/>
          </a:bodyPr>
          <a:lstStyle/>
          <a:p>
            <a:pPr>
              <a:lnSpc>
                <a:spcPct val="100000"/>
              </a:lnSpc>
              <a:spcBef>
                <a:spcPts val="0"/>
              </a:spcBef>
              <a:spcAft>
                <a:spcPts val="462"/>
              </a:spcAft>
              <a:defRPr sz="2100" b="0">
                <a:solidFill>
                  <a:srgbClr val="6F251B"/>
                </a:solidFill>
                <a:latin typeface="DM Sans"/>
              </a:defRPr>
            </a:pPr>
            <a:r>
              <a:t>runs finished below 10⁻⁶</a:t>
            </a:r>
          </a:p>
        </p:txBody>
      </p:sp>
      <p:sp>
        <p:nvSpPr>
          <p:cNvPr id="10" name="Rounded Rectangle 9"/>
          <p:cNvSpPr/>
          <p:nvPr/>
        </p:nvSpPr>
        <p:spPr>
          <a:xfrm>
            <a:off x="6492240" y="2670048"/>
            <a:ext cx="5303520" cy="157276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59" y="2834640"/>
            <a:ext cx="4754880" cy="731520"/>
          </a:xfrm>
          <a:prstGeom prst="rect">
            <a:avLst/>
          </a:prstGeom>
          <a:noFill/>
        </p:spPr>
        <p:txBody>
          <a:bodyPr wrap="square" lIns="0" tIns="0" rIns="0" bIns="0">
            <a:spAutoFit/>
          </a:bodyPr>
          <a:lstStyle/>
          <a:p>
            <a:pPr>
              <a:lnSpc>
                <a:spcPct val="100000"/>
              </a:lnSpc>
              <a:spcBef>
                <a:spcPts val="0"/>
              </a:spcBef>
              <a:spcAft>
                <a:spcPts val="924"/>
              </a:spcAft>
              <a:defRPr sz="4200" b="0">
                <a:solidFill>
                  <a:srgbClr val="6F251B"/>
                </a:solidFill>
                <a:latin typeface="More Sugar"/>
              </a:defRPr>
            </a:pPr>
            <a:r>
              <a:t>5.476 × 10⁻¹³</a:t>
            </a:r>
          </a:p>
        </p:txBody>
      </p:sp>
      <p:sp>
        <p:nvSpPr>
          <p:cNvPr id="12" name="TextBox 11"/>
          <p:cNvSpPr txBox="1"/>
          <p:nvPr/>
        </p:nvSpPr>
        <p:spPr>
          <a:xfrm>
            <a:off x="6766559" y="3675887"/>
            <a:ext cx="4754880" cy="411480"/>
          </a:xfrm>
          <a:prstGeom prst="rect">
            <a:avLst/>
          </a:prstGeom>
          <a:noFill/>
        </p:spPr>
        <p:txBody>
          <a:bodyPr wrap="square" lIns="0" tIns="0" rIns="0" bIns="0">
            <a:spAutoFit/>
          </a:bodyPr>
          <a:lstStyle/>
          <a:p>
            <a:pPr>
              <a:lnSpc>
                <a:spcPct val="100000"/>
              </a:lnSpc>
              <a:spcBef>
                <a:spcPts val="0"/>
              </a:spcBef>
              <a:spcAft>
                <a:spcPts val="462"/>
              </a:spcAft>
              <a:defRPr sz="2100" b="0">
                <a:solidFill>
                  <a:srgbClr val="6F251B"/>
                </a:solidFill>
                <a:latin typeface="DM Sans"/>
              </a:defRPr>
            </a:pPr>
            <a:r>
              <a:t>median final value</a:t>
            </a:r>
          </a:p>
        </p:txBody>
      </p:sp>
      <p:sp>
        <p:nvSpPr>
          <p:cNvPr id="13" name="Rounded Rectangle 12"/>
          <p:cNvSpPr/>
          <p:nvPr/>
        </p:nvSpPr>
        <p:spPr>
          <a:xfrm>
            <a:off x="11960352" y="2670048"/>
            <a:ext cx="5303520" cy="157276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234672" y="2834640"/>
            <a:ext cx="4754880" cy="731520"/>
          </a:xfrm>
          <a:prstGeom prst="rect">
            <a:avLst/>
          </a:prstGeom>
          <a:noFill/>
        </p:spPr>
        <p:txBody>
          <a:bodyPr wrap="square" lIns="0" tIns="0" rIns="0" bIns="0">
            <a:spAutoFit/>
          </a:bodyPr>
          <a:lstStyle/>
          <a:p>
            <a:pPr>
              <a:lnSpc>
                <a:spcPct val="100000"/>
              </a:lnSpc>
              <a:spcBef>
                <a:spcPts val="0"/>
              </a:spcBef>
              <a:spcAft>
                <a:spcPts val="924"/>
              </a:spcAft>
              <a:defRPr sz="4200" b="0">
                <a:solidFill>
                  <a:srgbClr val="6F251B"/>
                </a:solidFill>
                <a:latin typeface="More Sugar"/>
              </a:defRPr>
            </a:pPr>
            <a:r>
              <a:t>1.034 × 10⁻¹¹</a:t>
            </a:r>
          </a:p>
        </p:txBody>
      </p:sp>
      <p:sp>
        <p:nvSpPr>
          <p:cNvPr id="15" name="TextBox 14"/>
          <p:cNvSpPr txBox="1"/>
          <p:nvPr/>
        </p:nvSpPr>
        <p:spPr>
          <a:xfrm>
            <a:off x="12234672" y="3675887"/>
            <a:ext cx="4754880" cy="411480"/>
          </a:xfrm>
          <a:prstGeom prst="rect">
            <a:avLst/>
          </a:prstGeom>
          <a:noFill/>
        </p:spPr>
        <p:txBody>
          <a:bodyPr wrap="square" lIns="0" tIns="0" rIns="0" bIns="0">
            <a:spAutoFit/>
          </a:bodyPr>
          <a:lstStyle/>
          <a:p>
            <a:pPr>
              <a:lnSpc>
                <a:spcPct val="100000"/>
              </a:lnSpc>
              <a:spcBef>
                <a:spcPts val="0"/>
              </a:spcBef>
              <a:spcAft>
                <a:spcPts val="462"/>
              </a:spcAft>
              <a:defRPr sz="2100" b="0">
                <a:solidFill>
                  <a:srgbClr val="6F251B"/>
                </a:solidFill>
                <a:latin typeface="DM Sans"/>
              </a:defRPr>
            </a:pPr>
            <a:r>
              <a:t>worst final value</a:t>
            </a:r>
          </a:p>
        </p:txBody>
      </p:sp>
      <p:sp>
        <p:nvSpPr>
          <p:cNvPr id="16" name="Rounded Rectangle 15"/>
          <p:cNvSpPr/>
          <p:nvPr/>
        </p:nvSpPr>
        <p:spPr>
          <a:xfrm>
            <a:off x="1024128" y="4498848"/>
            <a:ext cx="16239744" cy="422452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11_reliability_40_runs.png" descr="11_reliability_40_runs.png"/>
          <p:cNvPicPr>
            <a:picLocks noChangeAspect="1"/>
          </p:cNvPicPr>
          <p:nvPr/>
        </p:nvPicPr>
        <p:blipFill>
          <a:blip r:embed="rId3"/>
          <a:stretch>
            <a:fillRect/>
          </a:stretch>
        </p:blipFill>
        <p:spPr>
          <a:xfrm>
            <a:off x="3511267" y="4572000"/>
            <a:ext cx="11265464" cy="4078224"/>
          </a:xfrm>
          <a:prstGeom prst="rect">
            <a:avLst/>
          </a:prstGeom>
        </p:spPr>
      </p:pic>
      <p:sp>
        <p:nvSpPr>
          <p:cNvPr id="18" name="Rounded Rectangle 17"/>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Evidence of reliability on this problem — not a guarantee for every possible run.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06 - CONCLUSION</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Bees next to genes</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18</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11" name="Template artwork - hive_flowers"/>
          <p:cNvSpPr/>
          <p:nvPr/>
        </p:nvSpPr>
        <p:spPr>
          <a:xfrm>
            <a:off x="15544800" y="-1051560"/>
            <a:ext cx="3291840" cy="3017520"/>
          </a:xfrm>
          <a:custGeom>
            <a:avLst/>
            <a:gdLst/>
            <a:ahLst/>
            <a:cxnLst/>
            <a:rect l="l" t="t" r="r" b="b"/>
            <a:pathLst>
              <a:path w="5086214" h="4609382">
                <a:moveTo>
                  <a:pt x="0" y="0"/>
                </a:moveTo>
                <a:lnTo>
                  <a:pt x="5086214" y="0"/>
                </a:lnTo>
                <a:lnTo>
                  <a:pt x="5086214" y="4609381"/>
                </a:lnTo>
                <a:lnTo>
                  <a:pt x="0" y="4609381"/>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12" name="Table 11"/>
          <p:cNvGraphicFramePr>
            <a:graphicFrameLocks noGrp="1"/>
          </p:cNvGraphicFramePr>
          <p:nvPr/>
        </p:nvGraphicFramePr>
        <p:xfrm>
          <a:off x="1024128" y="2633472"/>
          <a:ext cx="9281160" cy="4608576"/>
        </p:xfrm>
        <a:graphic>
          <a:graphicData uri="http://schemas.openxmlformats.org/drawingml/2006/table">
            <a:tbl>
              <a:tblPr firstRow="1" bandRow="1">
                <a:tableStyleId>{5C22544A-7EE6-4342-B048-85BDC9FD1C3A}</a:tableStyleId>
              </a:tblPr>
              <a:tblGrid>
                <a:gridCol w="36118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768096">
                <a:tc>
                  <a:txBody>
                    <a:bodyPr/>
                    <a:lstStyle/>
                    <a:p>
                      <a:pPr>
                        <a:defRPr sz="2200" b="1">
                          <a:solidFill>
                            <a:srgbClr val="FFFFFF"/>
                          </a:solidFill>
                          <a:latin typeface="DM Sans Bold"/>
                        </a:defRPr>
                      </a:pPr>
                      <a:endParaRPr/>
                    </a:p>
                  </a:txBody>
                  <a:tcPr marL="182880" marR="128016" marT="54864" marB="36576" anchor="ctr">
                    <a:solidFill>
                      <a:srgbClr val="6F251B"/>
                    </a:solidFill>
                  </a:tcPr>
                </a:tc>
                <a:tc>
                  <a:txBody>
                    <a:bodyPr/>
                    <a:lstStyle/>
                    <a:p>
                      <a:pPr algn="l">
                        <a:defRPr sz="2200" b="1">
                          <a:solidFill>
                            <a:srgbClr val="FFFFFF"/>
                          </a:solidFill>
                          <a:latin typeface="DM Sans Bold"/>
                        </a:defRPr>
                      </a:pPr>
                      <a:r>
                        <a:t>Genetic Algorithm</a:t>
                      </a:r>
                    </a:p>
                  </a:txBody>
                  <a:tcPr marL="182880" marR="128016" marT="54864" marB="36576" anchor="ctr">
                    <a:solidFill>
                      <a:srgbClr val="6F251B"/>
                    </a:solidFill>
                  </a:tcPr>
                </a:tc>
                <a:tc>
                  <a:txBody>
                    <a:bodyPr/>
                    <a:lstStyle/>
                    <a:p>
                      <a:pPr algn="l">
                        <a:defRPr sz="2200" b="1">
                          <a:solidFill>
                            <a:srgbClr val="FFFFFF"/>
                          </a:solidFill>
                          <a:latin typeface="DM Sans Bold"/>
                        </a:defRPr>
                      </a:pPr>
                      <a:r>
                        <a:t>Artificial Bee Colony</a:t>
                      </a:r>
                    </a:p>
                  </a:txBody>
                  <a:tcPr marL="182880" marR="128016" marT="54864" marB="36576" anchor="ctr">
                    <a:solidFill>
                      <a:srgbClr val="6F251B"/>
                    </a:solidFill>
                  </a:tcPr>
                </a:tc>
                <a:extLst>
                  <a:ext uri="{0D108BD9-81ED-4DB2-BD59-A6C34878D82A}">
                    <a16:rowId xmlns:a16="http://schemas.microsoft.com/office/drawing/2014/main" val="10000"/>
                  </a:ext>
                </a:extLst>
              </a:tr>
              <a:tr h="768096">
                <a:tc>
                  <a:txBody>
                    <a:bodyPr/>
                    <a:lstStyle/>
                    <a:p>
                      <a:pPr>
                        <a:defRPr sz="2200" b="0">
                          <a:solidFill>
                            <a:srgbClr val="6F251B"/>
                          </a:solidFill>
                          <a:latin typeface="DM Sans"/>
                        </a:defRPr>
                      </a:pPr>
                      <a:r>
                        <a:t>Ackley evaluations</a:t>
                      </a:r>
                    </a:p>
                  </a:txBody>
                  <a:tcPr marL="182880" marR="128016" marT="54864" marB="36576" anchor="ctr">
                    <a:solidFill>
                      <a:srgbClr val="FFFFFF"/>
                    </a:solidFill>
                  </a:tcPr>
                </a:tc>
                <a:tc>
                  <a:txBody>
                    <a:bodyPr/>
                    <a:lstStyle/>
                    <a:p>
                      <a:pPr algn="l">
                        <a:defRPr sz="2200" b="0">
                          <a:solidFill>
                            <a:srgbClr val="6F251B"/>
                          </a:solidFill>
                          <a:latin typeface="DM Sans"/>
                        </a:defRPr>
                      </a:pPr>
                      <a:r>
                        <a:t>5,050</a:t>
                      </a:r>
                    </a:p>
                  </a:txBody>
                  <a:tcPr marL="182880" marR="128016" marT="54864" marB="36576" anchor="ctr">
                    <a:solidFill>
                      <a:srgbClr val="FFFFFF"/>
                    </a:solidFill>
                  </a:tcPr>
                </a:tc>
                <a:tc>
                  <a:txBody>
                    <a:bodyPr/>
                    <a:lstStyle/>
                    <a:p>
                      <a:pPr algn="l">
                        <a:defRPr sz="2200" b="0">
                          <a:solidFill>
                            <a:srgbClr val="6F251B"/>
                          </a:solidFill>
                          <a:latin typeface="DM Sans"/>
                        </a:defRPr>
                      </a:pPr>
                      <a:r>
                        <a:t>5,025</a:t>
                      </a:r>
                    </a:p>
                  </a:txBody>
                  <a:tcPr marL="182880" marR="128016" marT="54864" marB="36576" anchor="ctr">
                    <a:solidFill>
                      <a:srgbClr val="FFFFFF"/>
                    </a:solidFill>
                  </a:tcPr>
                </a:tc>
                <a:extLst>
                  <a:ext uri="{0D108BD9-81ED-4DB2-BD59-A6C34878D82A}">
                    <a16:rowId xmlns:a16="http://schemas.microsoft.com/office/drawing/2014/main" val="10001"/>
                  </a:ext>
                </a:extLst>
              </a:tr>
              <a:tr h="768096">
                <a:tc>
                  <a:txBody>
                    <a:bodyPr/>
                    <a:lstStyle/>
                    <a:p>
                      <a:pPr>
                        <a:defRPr sz="2200" b="1">
                          <a:solidFill>
                            <a:srgbClr val="6F251B"/>
                          </a:solidFill>
                          <a:latin typeface="DM Sans Bold"/>
                        </a:defRPr>
                      </a:pPr>
                      <a:r>
                        <a:t>Median of 40 runs</a:t>
                      </a:r>
                    </a:p>
                  </a:txBody>
                  <a:tcPr marL="182880" marR="128016" marT="54864" marB="36576" anchor="ctr">
                    <a:solidFill>
                      <a:srgbClr val="FFC62A"/>
                    </a:solidFill>
                  </a:tcPr>
                </a:tc>
                <a:tc>
                  <a:txBody>
                    <a:bodyPr/>
                    <a:lstStyle/>
                    <a:p>
                      <a:pPr algn="l">
                        <a:defRPr sz="2200" b="1">
                          <a:solidFill>
                            <a:srgbClr val="6F251B"/>
                          </a:solidFill>
                          <a:latin typeface="DM Sans Bold"/>
                        </a:defRPr>
                      </a:pPr>
                      <a:r>
                        <a:t>1.636e-12</a:t>
                      </a:r>
                    </a:p>
                  </a:txBody>
                  <a:tcPr marL="182880" marR="128016" marT="54864" marB="36576" anchor="ctr">
                    <a:solidFill>
                      <a:srgbClr val="FFC62A"/>
                    </a:solidFill>
                  </a:tcPr>
                </a:tc>
                <a:tc>
                  <a:txBody>
                    <a:bodyPr/>
                    <a:lstStyle/>
                    <a:p>
                      <a:pPr algn="l">
                        <a:defRPr sz="2200" b="1">
                          <a:solidFill>
                            <a:srgbClr val="6F251B"/>
                          </a:solidFill>
                          <a:latin typeface="DM Sans Bold"/>
                        </a:defRPr>
                      </a:pPr>
                      <a:r>
                        <a:t>5.476e-13</a:t>
                      </a:r>
                    </a:p>
                  </a:txBody>
                  <a:tcPr marL="182880" marR="128016" marT="54864" marB="36576" anchor="ctr">
                    <a:solidFill>
                      <a:srgbClr val="FFC62A"/>
                    </a:solidFill>
                  </a:tcPr>
                </a:tc>
                <a:extLst>
                  <a:ext uri="{0D108BD9-81ED-4DB2-BD59-A6C34878D82A}">
                    <a16:rowId xmlns:a16="http://schemas.microsoft.com/office/drawing/2014/main" val="10002"/>
                  </a:ext>
                </a:extLst>
              </a:tr>
              <a:tr h="768096">
                <a:tc>
                  <a:txBody>
                    <a:bodyPr/>
                    <a:lstStyle/>
                    <a:p>
                      <a:pPr>
                        <a:defRPr sz="2200" b="0">
                          <a:solidFill>
                            <a:srgbClr val="6F251B"/>
                          </a:solidFill>
                          <a:latin typeface="DM Sans"/>
                        </a:defRPr>
                      </a:pPr>
                      <a:r>
                        <a:t>Worst of 40 runs</a:t>
                      </a:r>
                    </a:p>
                  </a:txBody>
                  <a:tcPr marL="182880" marR="128016" marT="54864" marB="36576" anchor="ctr">
                    <a:solidFill>
                      <a:srgbClr val="FFFFFF"/>
                    </a:solidFill>
                  </a:tcPr>
                </a:tc>
                <a:tc>
                  <a:txBody>
                    <a:bodyPr/>
                    <a:lstStyle/>
                    <a:p>
                      <a:pPr algn="l">
                        <a:defRPr sz="2200" b="0">
                          <a:solidFill>
                            <a:srgbClr val="6F251B"/>
                          </a:solidFill>
                          <a:latin typeface="DM Sans"/>
                        </a:defRPr>
                      </a:pPr>
                      <a:r>
                        <a:t>3.137e-11</a:t>
                      </a:r>
                    </a:p>
                  </a:txBody>
                  <a:tcPr marL="182880" marR="128016" marT="54864" marB="36576" anchor="ctr">
                    <a:solidFill>
                      <a:srgbClr val="FFFFFF"/>
                    </a:solidFill>
                  </a:tcPr>
                </a:tc>
                <a:tc>
                  <a:txBody>
                    <a:bodyPr/>
                    <a:lstStyle/>
                    <a:p>
                      <a:pPr algn="l">
                        <a:defRPr sz="2200" b="0">
                          <a:solidFill>
                            <a:srgbClr val="6F251B"/>
                          </a:solidFill>
                          <a:latin typeface="DM Sans"/>
                        </a:defRPr>
                      </a:pPr>
                      <a:r>
                        <a:t>1.034e-11</a:t>
                      </a:r>
                    </a:p>
                  </a:txBody>
                  <a:tcPr marL="182880" marR="128016" marT="54864" marB="36576" anchor="ctr">
                    <a:solidFill>
                      <a:srgbClr val="FFFFFF"/>
                    </a:solidFill>
                  </a:tcPr>
                </a:tc>
                <a:extLst>
                  <a:ext uri="{0D108BD9-81ED-4DB2-BD59-A6C34878D82A}">
                    <a16:rowId xmlns:a16="http://schemas.microsoft.com/office/drawing/2014/main" val="10003"/>
                  </a:ext>
                </a:extLst>
              </a:tr>
              <a:tr h="768096">
                <a:tc>
                  <a:txBody>
                    <a:bodyPr/>
                    <a:lstStyle/>
                    <a:p>
                      <a:pPr>
                        <a:defRPr sz="2200" b="0">
                          <a:solidFill>
                            <a:srgbClr val="6F251B"/>
                          </a:solidFill>
                          <a:latin typeface="DM Sans"/>
                        </a:defRPr>
                      </a:pPr>
                      <a:r>
                        <a:t>Runs below 1e-6</a:t>
                      </a:r>
                    </a:p>
                  </a:txBody>
                  <a:tcPr marL="182880" marR="128016" marT="54864" marB="36576" anchor="ctr">
                    <a:solidFill>
                      <a:srgbClr val="F3E7D2"/>
                    </a:solidFill>
                  </a:tcPr>
                </a:tc>
                <a:tc>
                  <a:txBody>
                    <a:bodyPr/>
                    <a:lstStyle/>
                    <a:p>
                      <a:pPr algn="l">
                        <a:defRPr sz="2200" b="0">
                          <a:solidFill>
                            <a:srgbClr val="6F251B"/>
                          </a:solidFill>
                          <a:latin typeface="DM Sans"/>
                        </a:defRPr>
                      </a:pPr>
                      <a:r>
                        <a:t>40 / 40</a:t>
                      </a:r>
                    </a:p>
                  </a:txBody>
                  <a:tcPr marL="182880" marR="128016" marT="54864" marB="36576" anchor="ctr">
                    <a:solidFill>
                      <a:srgbClr val="F3E7D2"/>
                    </a:solidFill>
                  </a:tcPr>
                </a:tc>
                <a:tc>
                  <a:txBody>
                    <a:bodyPr/>
                    <a:lstStyle/>
                    <a:p>
                      <a:pPr algn="l">
                        <a:defRPr sz="2200" b="0">
                          <a:solidFill>
                            <a:srgbClr val="6F251B"/>
                          </a:solidFill>
                          <a:latin typeface="DM Sans"/>
                        </a:defRPr>
                      </a:pPr>
                      <a:r>
                        <a:t>40 / 40</a:t>
                      </a:r>
                    </a:p>
                  </a:txBody>
                  <a:tcPr marL="182880" marR="128016" marT="54864" marB="36576" anchor="ctr">
                    <a:solidFill>
                      <a:srgbClr val="F3E7D2"/>
                    </a:solidFill>
                  </a:tcPr>
                </a:tc>
                <a:extLst>
                  <a:ext uri="{0D108BD9-81ED-4DB2-BD59-A6C34878D82A}">
                    <a16:rowId xmlns:a16="http://schemas.microsoft.com/office/drawing/2014/main" val="10004"/>
                  </a:ext>
                </a:extLst>
              </a:tr>
              <a:tr h="768096">
                <a:tc>
                  <a:txBody>
                    <a:bodyPr/>
                    <a:lstStyle/>
                    <a:p>
                      <a:pPr>
                        <a:defRPr sz="2200" b="0">
                          <a:solidFill>
                            <a:srgbClr val="6F251B"/>
                          </a:solidFill>
                          <a:latin typeface="DM Sans"/>
                        </a:defRPr>
                      </a:pPr>
                      <a:r>
                        <a:t>Parameters to tune</a:t>
                      </a:r>
                    </a:p>
                  </a:txBody>
                  <a:tcPr marL="182880" marR="128016" marT="54864" marB="36576" anchor="ctr">
                    <a:solidFill>
                      <a:srgbClr val="FFFFFF"/>
                    </a:solidFill>
                  </a:tcPr>
                </a:tc>
                <a:tc>
                  <a:txBody>
                    <a:bodyPr/>
                    <a:lstStyle/>
                    <a:p>
                      <a:pPr algn="l">
                        <a:defRPr sz="2200" b="0">
                          <a:solidFill>
                            <a:srgbClr val="6F251B"/>
                          </a:solidFill>
                          <a:latin typeface="DM Sans"/>
                        </a:defRPr>
                      </a:pPr>
                      <a:r>
                        <a:t>5</a:t>
                      </a:r>
                    </a:p>
                  </a:txBody>
                  <a:tcPr marL="182880" marR="128016" marT="54864" marB="36576" anchor="ctr">
                    <a:solidFill>
                      <a:srgbClr val="FFFFFF"/>
                    </a:solidFill>
                  </a:tcPr>
                </a:tc>
                <a:tc>
                  <a:txBody>
                    <a:bodyPr/>
                    <a:lstStyle/>
                    <a:p>
                      <a:pPr algn="l">
                        <a:defRPr sz="2200" b="0">
                          <a:solidFill>
                            <a:srgbClr val="6F251B"/>
                          </a:solidFill>
                          <a:latin typeface="DM Sans"/>
                        </a:defRPr>
                      </a:pPr>
                      <a:r>
                        <a:t>1</a:t>
                      </a:r>
                    </a:p>
                  </a:txBody>
                  <a:tcPr marL="182880" marR="128016" marT="54864" marB="36576" anchor="ctr">
                    <a:solidFill>
                      <a:srgbClr val="FFFFFF"/>
                    </a:solidFill>
                  </a:tcPr>
                </a:tc>
                <a:extLst>
                  <a:ext uri="{0D108BD9-81ED-4DB2-BD59-A6C34878D82A}">
                    <a16:rowId xmlns:a16="http://schemas.microsoft.com/office/drawing/2014/main" val="10005"/>
                  </a:ext>
                </a:extLst>
              </a:tr>
            </a:tbl>
          </a:graphicData>
        </a:graphic>
      </p:graphicFrame>
      <p:sp>
        <p:nvSpPr>
          <p:cNvPr id="13" name="Rounded Rectangle 12"/>
          <p:cNvSpPr/>
          <p:nvPr/>
        </p:nvSpPr>
        <p:spPr>
          <a:xfrm>
            <a:off x="1024128" y="7315200"/>
            <a:ext cx="8942832" cy="1353312"/>
          </a:xfrm>
          <a:prstGeom prst="roundRect">
            <a:avLst>
              <a:gd name="adj" fmla="val 8539"/>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25880" y="7552944"/>
            <a:ext cx="8412480" cy="914400"/>
          </a:xfrm>
          <a:prstGeom prst="rect">
            <a:avLst/>
          </a:prstGeom>
          <a:noFill/>
        </p:spPr>
        <p:txBody>
          <a:bodyPr wrap="square" lIns="0" tIns="0" rIns="0" bIns="0">
            <a:spAutoFit/>
          </a:bodyPr>
          <a:lstStyle/>
          <a:p>
            <a:pPr>
              <a:lnSpc>
                <a:spcPct val="100000"/>
              </a:lnSpc>
              <a:spcBef>
                <a:spcPts val="0"/>
              </a:spcBef>
              <a:spcAft>
                <a:spcPts val="528"/>
              </a:spcAft>
              <a:defRPr sz="2400" b="1">
                <a:solidFill>
                  <a:srgbClr val="6F251B"/>
                </a:solidFill>
                <a:latin typeface="DM Sans Bold"/>
              </a:defRPr>
            </a:pPr>
            <a:r>
              <a:t>Same reliability, three times closer,</a:t>
            </a:r>
          </a:p>
          <a:p>
            <a:pPr>
              <a:lnSpc>
                <a:spcPct val="100000"/>
              </a:lnSpc>
              <a:spcBef>
                <a:spcPts val="0"/>
              </a:spcBef>
              <a:spcAft>
                <a:spcPts val="528"/>
              </a:spcAft>
              <a:defRPr sz="2400" b="1">
                <a:solidFill>
                  <a:srgbClr val="6F251B"/>
                </a:solidFill>
                <a:latin typeface="DM Sans Bold"/>
              </a:defRPr>
            </a:pPr>
            <a:r>
              <a:t>one parameter to tune instead of five.</a:t>
            </a:r>
          </a:p>
        </p:txBody>
      </p:sp>
      <p:sp>
        <p:nvSpPr>
          <p:cNvPr id="15" name="Rounded Rectangle 14"/>
          <p:cNvSpPr/>
          <p:nvPr/>
        </p:nvSpPr>
        <p:spPr>
          <a:xfrm>
            <a:off x="10287000" y="2633472"/>
            <a:ext cx="6976872" cy="603504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0" y="2798064"/>
            <a:ext cx="6492240" cy="365760"/>
          </a:xfrm>
          <a:prstGeom prst="rect">
            <a:avLst/>
          </a:prstGeom>
          <a:noFill/>
        </p:spPr>
        <p:txBody>
          <a:bodyPr wrap="square" lIns="0" tIns="0" rIns="0" bIns="0">
            <a:spAutoFit/>
          </a:bodyPr>
          <a:lstStyle/>
          <a:p>
            <a:pPr>
              <a:lnSpc>
                <a:spcPct val="100000"/>
              </a:lnSpc>
              <a:spcBef>
                <a:spcPts val="0"/>
              </a:spcBef>
              <a:spcAft>
                <a:spcPts val="440"/>
              </a:spcAft>
              <a:defRPr sz="2000" b="1">
                <a:solidFill>
                  <a:srgbClr val="CB6C29"/>
                </a:solidFill>
                <a:latin typeface="DM Sans Bold"/>
              </a:defRPr>
            </a:pPr>
            <a:r>
              <a:t>The same evaluation budget, spent differently</a:t>
            </a:r>
          </a:p>
        </p:txBody>
      </p:sp>
      <p:pic>
        <p:nvPicPr>
          <p:cNvPr id="17" name="13_budget_comparison.png" descr="13_budget_comparison.png"/>
          <p:cNvPicPr>
            <a:picLocks noChangeAspect="1"/>
          </p:cNvPicPr>
          <p:nvPr/>
        </p:nvPicPr>
        <p:blipFill>
          <a:blip r:embed="rId4"/>
          <a:stretch>
            <a:fillRect/>
          </a:stretch>
        </p:blipFill>
        <p:spPr>
          <a:xfrm>
            <a:off x="10424160" y="3332366"/>
            <a:ext cx="6702552" cy="3027907"/>
          </a:xfrm>
          <a:prstGeom prst="rect">
            <a:avLst/>
          </a:prstGeom>
        </p:spPr>
      </p:pic>
      <p:sp>
        <p:nvSpPr>
          <p:cNvPr id="18" name="TextBox 17"/>
          <p:cNvSpPr txBox="1"/>
          <p:nvPr/>
        </p:nvSpPr>
        <p:spPr>
          <a:xfrm>
            <a:off x="10515600" y="6675120"/>
            <a:ext cx="6492240" cy="1737360"/>
          </a:xfrm>
          <a:prstGeom prst="rect">
            <a:avLst/>
          </a:prstGeom>
          <a:noFill/>
        </p:spPr>
        <p:txBody>
          <a:bodyPr wrap="square" lIns="0" tIns="0" rIns="0" bIns="0">
            <a:spAutoFit/>
          </a:bodyPr>
          <a:lstStyle/>
          <a:p>
            <a:pPr>
              <a:lnSpc>
                <a:spcPct val="100000"/>
              </a:lnSpc>
              <a:spcBef>
                <a:spcPts val="0"/>
              </a:spcBef>
              <a:spcAft>
                <a:spcPts val="484"/>
              </a:spcAft>
              <a:defRPr sz="2200" b="0">
                <a:solidFill>
                  <a:srgbClr val="6F251B"/>
                </a:solidFill>
                <a:latin typeface="DM Sans"/>
              </a:defRPr>
            </a:pPr>
            <a:r>
              <a:t>The Genetic Algorithm needed a crossover rate, a mutation rate, a mutation-step</a:t>
            </a:r>
          </a:p>
          <a:p>
            <a:pPr>
              <a:lnSpc>
                <a:spcPct val="100000"/>
              </a:lnSpc>
              <a:spcBef>
                <a:spcPts val="0"/>
              </a:spcBef>
              <a:spcAft>
                <a:spcPts val="484"/>
              </a:spcAft>
              <a:defRPr sz="2200" b="0">
                <a:solidFill>
                  <a:srgbClr val="6F251B"/>
                </a:solidFill>
                <a:latin typeface="DM Sans"/>
              </a:defRPr>
            </a:pPr>
            <a:r>
              <a:t>rule, elitism and a duplicate cap. ABC needed one number: the limit.</a:t>
            </a:r>
          </a:p>
        </p:txBody>
      </p:sp>
      <p:sp>
        <p:nvSpPr>
          <p:cNvPr id="19" name="Rounded Rectangle 18"/>
          <p:cNvSpPr/>
          <p:nvPr/>
        </p:nvSpPr>
        <p:spPr>
          <a:xfrm>
            <a:off x="1024128" y="8887968"/>
            <a:ext cx="16239744" cy="749808"/>
          </a:xfrm>
          <a:prstGeom prst="roundRect">
            <a:avLst>
              <a:gd name="adj" fmla="val 5385"/>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89888" y="9043416"/>
            <a:ext cx="15544800" cy="457200"/>
          </a:xfrm>
          <a:prstGeom prst="rect">
            <a:avLst/>
          </a:prstGeom>
          <a:noFill/>
        </p:spPr>
        <p:txBody>
          <a:bodyPr wrap="square" lIns="0" tIns="0" rIns="0" bIns="0">
            <a:spAutoFit/>
          </a:bodyPr>
          <a:lstStyle/>
          <a:p>
            <a:pPr algn="l">
              <a:lnSpc>
                <a:spcPct val="100000"/>
              </a:lnSpc>
              <a:spcBef>
                <a:spcPts val="0"/>
              </a:spcBef>
              <a:spcAft>
                <a:spcPts val="572"/>
              </a:spcAft>
              <a:defRPr sz="2600" b="1">
                <a:solidFill>
                  <a:srgbClr val="6F251B"/>
                </a:solidFill>
                <a:latin typeface="DM Sans Bold"/>
              </a:defRPr>
            </a:pPr>
            <a:r>
              <a:t>One function, two dimensions, 40 seeds. Evidence — not a claim about every problem.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1060704" y="694944"/>
            <a:ext cx="10972800" cy="347472"/>
          </a:xfrm>
          <a:prstGeom prst="rect">
            <a:avLst/>
          </a:prstGeom>
          <a:noFill/>
        </p:spPr>
        <p:txBody>
          <a:bodyPr wrap="square" lIns="0" tIns="0" rIns="0" bIns="0">
            <a:spAutoFit/>
          </a:bodyPr>
          <a:lstStyle/>
          <a:p>
            <a:pPr>
              <a:lnSpc>
                <a:spcPct val="100000"/>
              </a:lnSpc>
              <a:spcBef>
                <a:spcPts val="0"/>
              </a:spcBef>
              <a:spcAft>
                <a:spcPts val="418"/>
              </a:spcAft>
              <a:defRPr sz="1900" b="1">
                <a:solidFill>
                  <a:srgbClr val="CB6C29"/>
                </a:solidFill>
                <a:latin typeface="DM Sans Bold"/>
              </a:defRPr>
            </a:pPr>
            <a:r>
              <a:t>06 - CONCLUSION</a:t>
            </a:r>
          </a:p>
        </p:txBody>
      </p:sp>
      <p:sp>
        <p:nvSpPr>
          <p:cNvPr id="3" name="Slide title"/>
          <p:cNvSpPr txBox="1"/>
          <p:nvPr/>
        </p:nvSpPr>
        <p:spPr>
          <a:xfrm>
            <a:off x="1024128" y="1115568"/>
            <a:ext cx="14630400" cy="1280160"/>
          </a:xfrm>
          <a:prstGeom prst="rect">
            <a:avLst/>
          </a:prstGeom>
          <a:noFill/>
        </p:spPr>
        <p:txBody>
          <a:bodyPr wrap="square" lIns="0" tIns="0" rIns="0" bIns="0">
            <a:spAutoFit/>
          </a:bodyPr>
          <a:lstStyle/>
          <a:p>
            <a:pPr algn="l">
              <a:lnSpc>
                <a:spcPct val="100000"/>
              </a:lnSpc>
              <a:spcBef>
                <a:spcPts val="0"/>
              </a:spcBef>
              <a:spcAft>
                <a:spcPts val="1760"/>
              </a:spcAft>
              <a:defRPr sz="8000" b="0">
                <a:solidFill>
                  <a:srgbClr val="6F251B"/>
                </a:solidFill>
                <a:latin typeface="More Sugar"/>
              </a:defRPr>
            </a:pPr>
            <a:r>
              <a:t>What we learned</a:t>
            </a:r>
          </a:p>
        </p:txBody>
      </p:sp>
      <p:sp>
        <p:nvSpPr>
          <p:cNvPr id="4" name="Slide number"/>
          <p:cNvSpPr/>
          <p:nvPr/>
        </p:nvSpPr>
        <p:spPr>
          <a:xfrm>
            <a:off x="16532351" y="9509760"/>
            <a:ext cx="822960" cy="707745"/>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6F251B"/>
                </a:solidFill>
                <a:latin typeface="More Sugar"/>
              </a:defRPr>
            </a:pPr>
            <a:r>
              <a:t>19</a:t>
            </a:r>
          </a:p>
        </p:txBody>
      </p:sp>
      <p:sp>
        <p:nvSpPr>
          <p:cNvPr id="5" name="Presentation date"/>
          <p:cNvSpPr txBox="1"/>
          <p:nvPr/>
        </p:nvSpPr>
        <p:spPr>
          <a:xfrm>
            <a:off x="1024128" y="9674352"/>
            <a:ext cx="5486400" cy="320040"/>
          </a:xfrm>
          <a:prstGeom prst="rect">
            <a:avLst/>
          </a:prstGeom>
          <a:noFill/>
        </p:spPr>
        <p:txBody>
          <a:bodyPr wrap="square" lIns="0" tIns="0" rIns="0" bIns="0">
            <a:spAutoFit/>
          </a:bodyPr>
          <a:lstStyle/>
          <a:p>
            <a:pPr>
              <a:lnSpc>
                <a:spcPct val="100000"/>
              </a:lnSpc>
              <a:spcBef>
                <a:spcPts val="0"/>
              </a:spcBef>
              <a:spcAft>
                <a:spcPts val="352"/>
              </a:spcAft>
              <a:defRPr sz="1600" b="0">
                <a:solidFill>
                  <a:srgbClr val="CB6C29"/>
                </a:solidFill>
                <a:latin typeface="DM Sans"/>
              </a:defRPr>
            </a:pPr>
            <a:r>
              <a:t>14 September 2026</a:t>
            </a:r>
          </a:p>
        </p:txBody>
      </p:sp>
      <p:sp>
        <p:nvSpPr>
          <p:cNvPr id="6" name="TextBox 5"/>
          <p:cNvSpPr txBox="1"/>
          <p:nvPr/>
        </p:nvSpPr>
        <p:spPr>
          <a:xfrm>
            <a:off x="5943600" y="9674352"/>
            <a:ext cx="6400800" cy="320040"/>
          </a:xfrm>
          <a:prstGeom prst="rect">
            <a:avLst/>
          </a:prstGeom>
          <a:noFill/>
        </p:spPr>
        <p:txBody>
          <a:bodyPr wrap="square" lIns="0" tIns="0" rIns="0" bIns="0">
            <a:spAutoFit/>
          </a:bodyPr>
          <a:lstStyle/>
          <a:p>
            <a:pPr algn="ctr">
              <a:lnSpc>
                <a:spcPct val="100000"/>
              </a:lnSpc>
              <a:spcBef>
                <a:spcPts val="0"/>
              </a:spcBef>
              <a:spcAft>
                <a:spcPts val="330"/>
              </a:spcAft>
              <a:defRPr sz="1500" b="0">
                <a:solidFill>
                  <a:srgbClr val="CB6C29"/>
                </a:solidFill>
                <a:latin typeface="DM Sans Bold"/>
              </a:defRPr>
            </a:pPr>
            <a:r>
              <a:t>ACKLEY  x  ARTIFICIAL BEE COLONY</a:t>
            </a:r>
          </a:p>
        </p:txBody>
      </p:sp>
      <p:sp>
        <p:nvSpPr>
          <p:cNvPr id="7" name="Template artwork - honeycomb"/>
          <p:cNvSpPr/>
          <p:nvPr/>
        </p:nvSpPr>
        <p:spPr>
          <a:xfrm>
            <a:off x="-2788920" y="7726679"/>
            <a:ext cx="6035040" cy="4206240"/>
          </a:xfrm>
          <a:custGeom>
            <a:avLst/>
            <a:gdLst/>
            <a:ahLst/>
            <a:cxnLst/>
            <a:rect l="l" t="t" r="r" b="b"/>
            <a:pathLst>
              <a:path w="7975531" h="5546173">
                <a:moveTo>
                  <a:pt x="0" y="0"/>
                </a:moveTo>
                <a:lnTo>
                  <a:pt x="7975531" y="0"/>
                </a:lnTo>
                <a:lnTo>
                  <a:pt x="7975531" y="5546173"/>
                </a:lnTo>
                <a:lnTo>
                  <a:pt x="0" y="55461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mplate artwork - hanging_hive"/>
          <p:cNvSpPr/>
          <p:nvPr/>
        </p:nvSpPr>
        <p:spPr>
          <a:xfrm>
            <a:off x="15361920" y="2103120"/>
            <a:ext cx="2606040" cy="4434840"/>
          </a:xfrm>
          <a:custGeom>
            <a:avLst/>
            <a:gdLst/>
            <a:ahLst/>
            <a:cxnLst/>
            <a:rect l="l" t="t" r="r" b="b"/>
            <a:pathLst>
              <a:path w="3178959" h="5413088">
                <a:moveTo>
                  <a:pt x="0" y="0"/>
                </a:moveTo>
                <a:lnTo>
                  <a:pt x="3178958" y="0"/>
                </a:lnTo>
                <a:lnTo>
                  <a:pt x="3178958" y="5413088"/>
                </a:lnTo>
                <a:lnTo>
                  <a:pt x="0" y="541308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mplate artwork - bee"/>
          <p:cNvSpPr/>
          <p:nvPr/>
        </p:nvSpPr>
        <p:spPr>
          <a:xfrm rot="-771037">
            <a:off x="15910559" y="365760"/>
            <a:ext cx="1005840" cy="896112"/>
          </a:xfrm>
          <a:custGeom>
            <a:avLst/>
            <a:gdLst/>
            <a:ahLst/>
            <a:cxnLst/>
            <a:rect l="l" t="t" r="r" b="b"/>
            <a:pathLst>
              <a:path w="1056559" h="943803">
                <a:moveTo>
                  <a:pt x="0" y="0"/>
                </a:moveTo>
                <a:lnTo>
                  <a:pt x="1056559" y="0"/>
                </a:lnTo>
                <a:lnTo>
                  <a:pt x="1056559" y="943803"/>
                </a:lnTo>
                <a:lnTo>
                  <a:pt x="0" y="94380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Hexagon 9"/>
          <p:cNvSpPr/>
          <p:nvPr/>
        </p:nvSpPr>
        <p:spPr>
          <a:xfrm>
            <a:off x="1024128" y="2724912"/>
            <a:ext cx="1115568" cy="959388"/>
          </a:xfrm>
          <a:prstGeom prst="hexagon">
            <a:avLst/>
          </a:prstGeom>
          <a:solidFill>
            <a:srgbClr val="FFC62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01</a:t>
            </a:r>
          </a:p>
        </p:txBody>
      </p:sp>
      <p:sp>
        <p:nvSpPr>
          <p:cNvPr id="11" name="TextBox 10"/>
          <p:cNvSpPr txBox="1"/>
          <p:nvPr/>
        </p:nvSpPr>
        <p:spPr>
          <a:xfrm>
            <a:off x="2505456" y="2679192"/>
            <a:ext cx="5486400" cy="502920"/>
          </a:xfrm>
          <a:prstGeom prst="rect">
            <a:avLst/>
          </a:prstGeom>
          <a:noFill/>
        </p:spPr>
        <p:txBody>
          <a:bodyPr wrap="square" lIns="0" tIns="0" rIns="0" bIns="0">
            <a:spAutoFit/>
          </a:bodyPr>
          <a:lstStyle/>
          <a:p>
            <a:pPr algn="l">
              <a:lnSpc>
                <a:spcPct val="100000"/>
              </a:lnSpc>
              <a:spcBef>
                <a:spcPts val="0"/>
              </a:spcBef>
              <a:spcAft>
                <a:spcPts val="594"/>
              </a:spcAft>
              <a:defRPr sz="2700" b="1">
                <a:solidFill>
                  <a:srgbClr val="6F251B"/>
                </a:solidFill>
                <a:latin typeface="DM Sans Bold"/>
              </a:defRPr>
            </a:pPr>
            <a:r>
              <a:t>Three simple roles are enough</a:t>
            </a:r>
          </a:p>
        </p:txBody>
      </p:sp>
      <p:sp>
        <p:nvSpPr>
          <p:cNvPr id="12" name="TextBox 11"/>
          <p:cNvSpPr txBox="1"/>
          <p:nvPr/>
        </p:nvSpPr>
        <p:spPr>
          <a:xfrm>
            <a:off x="2505456" y="3246120"/>
            <a:ext cx="5486400" cy="822960"/>
          </a:xfrm>
          <a:prstGeom prst="rect">
            <a:avLst/>
          </a:prstGeom>
          <a:noFill/>
        </p:spPr>
        <p:txBody>
          <a:bodyPr wrap="square" lIns="0" tIns="0" rIns="0" bIns="0">
            <a:spAutoFit/>
          </a:bodyPr>
          <a:lstStyle/>
          <a:p>
            <a:pPr algn="l">
              <a:lnSpc>
                <a:spcPct val="100000"/>
              </a:lnSpc>
              <a:spcBef>
                <a:spcPts val="0"/>
              </a:spcBef>
              <a:spcAft>
                <a:spcPts val="462"/>
              </a:spcAft>
              <a:defRPr sz="2100" b="0">
                <a:solidFill>
                  <a:srgbClr val="6F251B"/>
                </a:solidFill>
                <a:latin typeface="DM Sans"/>
              </a:defRPr>
            </a:pPr>
            <a:r>
              <a:t>Repeated 100 times, they reach 13 decimal places.</a:t>
            </a:r>
          </a:p>
        </p:txBody>
      </p:sp>
      <p:sp>
        <p:nvSpPr>
          <p:cNvPr id="13" name="Hexagon 12"/>
          <p:cNvSpPr/>
          <p:nvPr/>
        </p:nvSpPr>
        <p:spPr>
          <a:xfrm>
            <a:off x="8110728" y="2724912"/>
            <a:ext cx="1115568" cy="959388"/>
          </a:xfrm>
          <a:prstGeom prst="hexagon">
            <a:avLst/>
          </a:prstGeom>
          <a:solidFill>
            <a:srgbClr val="E37E03"/>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02</a:t>
            </a:r>
          </a:p>
        </p:txBody>
      </p:sp>
      <p:sp>
        <p:nvSpPr>
          <p:cNvPr id="14" name="TextBox 13"/>
          <p:cNvSpPr txBox="1"/>
          <p:nvPr/>
        </p:nvSpPr>
        <p:spPr>
          <a:xfrm>
            <a:off x="9592056" y="2679192"/>
            <a:ext cx="5486400" cy="502920"/>
          </a:xfrm>
          <a:prstGeom prst="rect">
            <a:avLst/>
          </a:prstGeom>
          <a:noFill/>
        </p:spPr>
        <p:txBody>
          <a:bodyPr wrap="square" lIns="0" tIns="0" rIns="0" bIns="0">
            <a:spAutoFit/>
          </a:bodyPr>
          <a:lstStyle/>
          <a:p>
            <a:pPr algn="l">
              <a:lnSpc>
                <a:spcPct val="100000"/>
              </a:lnSpc>
              <a:spcBef>
                <a:spcPts val="0"/>
              </a:spcBef>
              <a:spcAft>
                <a:spcPts val="594"/>
              </a:spcAft>
              <a:defRPr sz="2700" b="1">
                <a:solidFill>
                  <a:srgbClr val="6F251B"/>
                </a:solidFill>
                <a:latin typeface="DM Sans Bold"/>
              </a:defRPr>
            </a:pPr>
            <a:r>
              <a:t>The step size comes free</a:t>
            </a:r>
          </a:p>
        </p:txBody>
      </p:sp>
      <p:sp>
        <p:nvSpPr>
          <p:cNvPr id="15" name="TextBox 14"/>
          <p:cNvSpPr txBox="1"/>
          <p:nvPr/>
        </p:nvSpPr>
        <p:spPr>
          <a:xfrm>
            <a:off x="9592056" y="3246120"/>
            <a:ext cx="5486400" cy="822960"/>
          </a:xfrm>
          <a:prstGeom prst="rect">
            <a:avLst/>
          </a:prstGeom>
          <a:noFill/>
        </p:spPr>
        <p:txBody>
          <a:bodyPr wrap="square" lIns="0" tIns="0" rIns="0" bIns="0">
            <a:spAutoFit/>
          </a:bodyPr>
          <a:lstStyle/>
          <a:p>
            <a:pPr algn="l">
              <a:lnSpc>
                <a:spcPct val="100000"/>
              </a:lnSpc>
              <a:spcBef>
                <a:spcPts val="0"/>
              </a:spcBef>
              <a:spcAft>
                <a:spcPts val="462"/>
              </a:spcAft>
              <a:defRPr sz="2100" b="0">
                <a:solidFill>
                  <a:srgbClr val="6F251B"/>
                </a:solidFill>
                <a:latin typeface="DM Sans"/>
              </a:defRPr>
            </a:pPr>
            <a:r>
              <a:t>It is the distance between two bees, so it shrinks.</a:t>
            </a:r>
          </a:p>
        </p:txBody>
      </p:sp>
      <p:sp>
        <p:nvSpPr>
          <p:cNvPr id="16" name="Hexagon 15"/>
          <p:cNvSpPr/>
          <p:nvPr/>
        </p:nvSpPr>
        <p:spPr>
          <a:xfrm>
            <a:off x="1024128" y="4599432"/>
            <a:ext cx="1115568" cy="959388"/>
          </a:xfrm>
          <a:prstGeom prst="hexagon">
            <a:avLst/>
          </a:prstGeom>
          <a:solidFill>
            <a:srgbClr val="CB6C2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03</a:t>
            </a:r>
          </a:p>
        </p:txBody>
      </p:sp>
      <p:sp>
        <p:nvSpPr>
          <p:cNvPr id="17" name="TextBox 16"/>
          <p:cNvSpPr txBox="1"/>
          <p:nvPr/>
        </p:nvSpPr>
        <p:spPr>
          <a:xfrm>
            <a:off x="2505456" y="4553712"/>
            <a:ext cx="5486400" cy="502920"/>
          </a:xfrm>
          <a:prstGeom prst="rect">
            <a:avLst/>
          </a:prstGeom>
          <a:noFill/>
        </p:spPr>
        <p:txBody>
          <a:bodyPr wrap="square" lIns="0" tIns="0" rIns="0" bIns="0">
            <a:spAutoFit/>
          </a:bodyPr>
          <a:lstStyle/>
          <a:p>
            <a:pPr algn="l">
              <a:lnSpc>
                <a:spcPct val="100000"/>
              </a:lnSpc>
              <a:spcBef>
                <a:spcPts val="0"/>
              </a:spcBef>
              <a:spcAft>
                <a:spcPts val="594"/>
              </a:spcAft>
              <a:defRPr sz="2700" b="1">
                <a:solidFill>
                  <a:srgbClr val="6F251B"/>
                </a:solidFill>
                <a:latin typeface="DM Sans Bold"/>
              </a:defRPr>
            </a:pPr>
            <a:r>
              <a:t>Test it, do not trust the diagram</a:t>
            </a:r>
          </a:p>
        </p:txBody>
      </p:sp>
      <p:sp>
        <p:nvSpPr>
          <p:cNvPr id="18" name="TextBox 17"/>
          <p:cNvSpPr txBox="1"/>
          <p:nvPr/>
        </p:nvSpPr>
        <p:spPr>
          <a:xfrm>
            <a:off x="2505456" y="5120640"/>
            <a:ext cx="5486400" cy="822960"/>
          </a:xfrm>
          <a:prstGeom prst="rect">
            <a:avLst/>
          </a:prstGeom>
          <a:noFill/>
        </p:spPr>
        <p:txBody>
          <a:bodyPr wrap="square" lIns="0" tIns="0" rIns="0" bIns="0">
            <a:spAutoFit/>
          </a:bodyPr>
          <a:lstStyle/>
          <a:p>
            <a:pPr algn="l">
              <a:lnSpc>
                <a:spcPct val="100000"/>
              </a:lnSpc>
              <a:spcBef>
                <a:spcPts val="0"/>
              </a:spcBef>
              <a:spcAft>
                <a:spcPts val="462"/>
              </a:spcAft>
              <a:defRPr sz="2100" b="0">
                <a:solidFill>
                  <a:srgbClr val="6F251B"/>
                </a:solidFill>
                <a:latin typeface="DM Sans"/>
              </a:defRPr>
            </a:pPr>
            <a:r>
              <a:t>The scout phase never ran once on this problem.</a:t>
            </a:r>
          </a:p>
        </p:txBody>
      </p:sp>
      <p:sp>
        <p:nvSpPr>
          <p:cNvPr id="19" name="Hexagon 18"/>
          <p:cNvSpPr/>
          <p:nvPr/>
        </p:nvSpPr>
        <p:spPr>
          <a:xfrm>
            <a:off x="8110728" y="4599432"/>
            <a:ext cx="1115568" cy="959388"/>
          </a:xfrm>
          <a:prstGeom prst="hexagon">
            <a:avLst/>
          </a:prstGeom>
          <a:solidFill>
            <a:srgbClr val="6F251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defRPr sz="3400">
                <a:solidFill>
                  <a:srgbClr val="FFFFFF"/>
                </a:solidFill>
                <a:latin typeface="More Sugar"/>
              </a:defRPr>
            </a:pPr>
            <a:r>
              <a:t>04</a:t>
            </a:r>
          </a:p>
        </p:txBody>
      </p:sp>
      <p:sp>
        <p:nvSpPr>
          <p:cNvPr id="20" name="TextBox 19"/>
          <p:cNvSpPr txBox="1"/>
          <p:nvPr/>
        </p:nvSpPr>
        <p:spPr>
          <a:xfrm>
            <a:off x="9592056" y="4553712"/>
            <a:ext cx="5486400" cy="502920"/>
          </a:xfrm>
          <a:prstGeom prst="rect">
            <a:avLst/>
          </a:prstGeom>
          <a:noFill/>
        </p:spPr>
        <p:txBody>
          <a:bodyPr wrap="square" lIns="0" tIns="0" rIns="0" bIns="0">
            <a:spAutoFit/>
          </a:bodyPr>
          <a:lstStyle/>
          <a:p>
            <a:pPr algn="l">
              <a:lnSpc>
                <a:spcPct val="100000"/>
              </a:lnSpc>
              <a:spcBef>
                <a:spcPts val="0"/>
              </a:spcBef>
              <a:spcAft>
                <a:spcPts val="594"/>
              </a:spcAft>
              <a:defRPr sz="2700" b="1">
                <a:solidFill>
                  <a:srgbClr val="6F251B"/>
                </a:solidFill>
                <a:latin typeface="DM Sans Bold"/>
              </a:defRPr>
            </a:pPr>
            <a:r>
              <a:t>Say what you did not test</a:t>
            </a:r>
          </a:p>
        </p:txBody>
      </p:sp>
      <p:sp>
        <p:nvSpPr>
          <p:cNvPr id="21" name="TextBox 20"/>
          <p:cNvSpPr txBox="1"/>
          <p:nvPr/>
        </p:nvSpPr>
        <p:spPr>
          <a:xfrm>
            <a:off x="9592056" y="5120640"/>
            <a:ext cx="5486400" cy="822960"/>
          </a:xfrm>
          <a:prstGeom prst="rect">
            <a:avLst/>
          </a:prstGeom>
          <a:noFill/>
        </p:spPr>
        <p:txBody>
          <a:bodyPr wrap="square" lIns="0" tIns="0" rIns="0" bIns="0">
            <a:spAutoFit/>
          </a:bodyPr>
          <a:lstStyle/>
          <a:p>
            <a:pPr algn="l">
              <a:lnSpc>
                <a:spcPct val="100000"/>
              </a:lnSpc>
              <a:spcBef>
                <a:spcPts val="0"/>
              </a:spcBef>
              <a:spcAft>
                <a:spcPts val="462"/>
              </a:spcAft>
              <a:defRPr sz="2100" b="0">
                <a:solidFill>
                  <a:srgbClr val="6F251B"/>
                </a:solidFill>
                <a:latin typeface="DM Sans"/>
              </a:defRPr>
            </a:pPr>
            <a:r>
              <a:t>One function, two dimensions, 40 seeds.</a:t>
            </a:r>
          </a:p>
        </p:txBody>
      </p:sp>
      <p:sp>
        <p:nvSpPr>
          <p:cNvPr id="22" name="TextBox 21"/>
          <p:cNvSpPr txBox="1"/>
          <p:nvPr/>
        </p:nvSpPr>
        <p:spPr>
          <a:xfrm>
            <a:off x="1024128" y="6903720"/>
            <a:ext cx="12801600" cy="1280160"/>
          </a:xfrm>
          <a:prstGeom prst="rect">
            <a:avLst/>
          </a:prstGeom>
          <a:noFill/>
        </p:spPr>
        <p:txBody>
          <a:bodyPr wrap="square" lIns="0" tIns="0" rIns="0" bIns="0">
            <a:spAutoFit/>
          </a:bodyPr>
          <a:lstStyle/>
          <a:p>
            <a:pPr>
              <a:lnSpc>
                <a:spcPct val="100000"/>
              </a:lnSpc>
              <a:spcBef>
                <a:spcPts val="0"/>
              </a:spcBef>
              <a:spcAft>
                <a:spcPts val="1496"/>
              </a:spcAft>
              <a:defRPr sz="6800" b="0">
                <a:solidFill>
                  <a:srgbClr val="6F251B"/>
                </a:solidFill>
                <a:latin typeface="More Sugar"/>
              </a:defRPr>
            </a:pPr>
            <a:r>
              <a:t>Thank you.  Questions?</a:t>
            </a:r>
          </a:p>
        </p:txBody>
      </p:sp>
      <p:sp>
        <p:nvSpPr>
          <p:cNvPr id="23" name="TextBox 22"/>
          <p:cNvSpPr txBox="1"/>
          <p:nvPr/>
        </p:nvSpPr>
        <p:spPr>
          <a:xfrm>
            <a:off x="1024128" y="8275320"/>
            <a:ext cx="12801600" cy="457200"/>
          </a:xfrm>
          <a:prstGeom prst="rect">
            <a:avLst/>
          </a:prstGeom>
          <a:noFill/>
        </p:spPr>
        <p:txBody>
          <a:bodyPr wrap="square" lIns="0" tIns="0" rIns="0" bIns="0">
            <a:spAutoFit/>
          </a:bodyPr>
          <a:lstStyle/>
          <a:p>
            <a:pPr>
              <a:lnSpc>
                <a:spcPct val="100000"/>
              </a:lnSpc>
              <a:spcBef>
                <a:spcPts val="0"/>
              </a:spcBef>
              <a:spcAft>
                <a:spcPts val="484"/>
              </a:spcAft>
              <a:defRPr sz="2200" b="0">
                <a:solidFill>
                  <a:srgbClr val="CB6C29"/>
                </a:solidFill>
                <a:latin typeface="DM Sans"/>
              </a:defRPr>
            </a:pPr>
            <a:r>
              <a:t>2107001   ·   2107004   ·   2107009   ·   2107015   ·   2107024   ·   2107047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4781</Words>
  <Application>Microsoft Office PowerPoint</Application>
  <PresentationFormat>Custom</PresentationFormat>
  <Paragraphs>547</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the Global Minimum of the 2-D Ackley Function using the Artificial Bee Colony Algorithm</dc:title>
  <dc:subject>CSE 4111 - Machine Learning | 14 September 2026</dc:subject>
  <dc:creator>2107001, 2107004, 2107009, 2107015, 2107024, 2107047</dc:creator>
  <cp:keywords>Ackley, artificial bee colony, ABC, swarm intelligence, roulette selection, KUET</cp:keywords>
  <dc:description>Every number was reproduced from the notebook by review/experiments.py. Illustrations are the original template artwork.</dc:description>
  <cp:lastModifiedBy>Tawhidul Hasan</cp:lastModifiedBy>
  <cp:revision>2</cp:revision>
  <dcterms:created xsi:type="dcterms:W3CDTF">2006-08-16T00:00:00Z</dcterms:created>
  <dcterms:modified xsi:type="dcterms:W3CDTF">2026-10-04T17:32:44Z</dcterms:modified>
  <dc:identifier>DAHXDxFWDR0</dc:identifier>
</cp:coreProperties>
</file>