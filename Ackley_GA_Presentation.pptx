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Ackley value</c:v>
                </c:pt>
              </c:strCache>
            </c:strRef>
          </c:tx>
          <c:spPr>
            <a:ln w="28575" cap="flat">
              <a:solidFill>
                <a:srgbClr val="18385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9">
                  <c:v>10</c:v>
                </c:pt>
                <c:pt idx="19">
                  <c:v>20</c:v>
                </c:pt>
                <c:pt idx="29">
                  <c:v>30</c:v>
                </c:pt>
                <c:pt idx="39">
                  <c:v>40</c:v>
                </c:pt>
                <c:pt idx="49">
                  <c:v>50</c:v>
                </c:pt>
                <c:pt idx="59">
                  <c:v>60</c:v>
                </c:pt>
                <c:pt idx="69">
                  <c:v>70</c:v>
                </c:pt>
                <c:pt idx="79">
                  <c:v>80</c:v>
                </c:pt>
                <c:pt idx="89">
                  <c:v>90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3.7633749332226931</c:v>
                </c:pt>
                <c:pt idx="1">
                  <c:v>3.3193101457268601</c:v>
                </c:pt>
                <c:pt idx="2">
                  <c:v>3.3193101457268601</c:v>
                </c:pt>
                <c:pt idx="3">
                  <c:v>1.5935902435202718</c:v>
                </c:pt>
                <c:pt idx="4">
                  <c:v>0.70835666137243836</c:v>
                </c:pt>
                <c:pt idx="5">
                  <c:v>0.70835666137243836</c:v>
                </c:pt>
                <c:pt idx="6">
                  <c:v>0.70835666137243836</c:v>
                </c:pt>
                <c:pt idx="7">
                  <c:v>0.64591577397271793</c:v>
                </c:pt>
                <c:pt idx="8">
                  <c:v>0.64591577397271793</c:v>
                </c:pt>
                <c:pt idx="9">
                  <c:v>0.64591577397271793</c:v>
                </c:pt>
                <c:pt idx="10">
                  <c:v>0.23183001209778142</c:v>
                </c:pt>
                <c:pt idx="11">
                  <c:v>0.23183001209778142</c:v>
                </c:pt>
                <c:pt idx="12">
                  <c:v>0.18005306040490909</c:v>
                </c:pt>
                <c:pt idx="13">
                  <c:v>0.18005306040490909</c:v>
                </c:pt>
                <c:pt idx="14">
                  <c:v>0.16575354083721949</c:v>
                </c:pt>
                <c:pt idx="15">
                  <c:v>9.8674862451659795E-2</c:v>
                </c:pt>
                <c:pt idx="16">
                  <c:v>9.8674862451659795E-2</c:v>
                </c:pt>
                <c:pt idx="17">
                  <c:v>9.8674862451659795E-2</c:v>
                </c:pt>
                <c:pt idx="18">
                  <c:v>5.9845325551702633E-2</c:v>
                </c:pt>
                <c:pt idx="19">
                  <c:v>5.9845325551702633E-2</c:v>
                </c:pt>
                <c:pt idx="20">
                  <c:v>5.9845325551702633E-2</c:v>
                </c:pt>
                <c:pt idx="21">
                  <c:v>5.9845325551702633E-2</c:v>
                </c:pt>
                <c:pt idx="22">
                  <c:v>5.7389383546202044E-2</c:v>
                </c:pt>
                <c:pt idx="23">
                  <c:v>5.7297008309426634E-2</c:v>
                </c:pt>
                <c:pt idx="24">
                  <c:v>5.6586692603311395E-2</c:v>
                </c:pt>
                <c:pt idx="25">
                  <c:v>3.3362591805421449E-2</c:v>
                </c:pt>
                <c:pt idx="26">
                  <c:v>3.3362591805421449E-2</c:v>
                </c:pt>
                <c:pt idx="27">
                  <c:v>3.3362591805421449E-2</c:v>
                </c:pt>
                <c:pt idx="28">
                  <c:v>2.9522683480110334E-2</c:v>
                </c:pt>
                <c:pt idx="29">
                  <c:v>2.2308401214339302E-2</c:v>
                </c:pt>
                <c:pt idx="30">
                  <c:v>2.2308401214339302E-2</c:v>
                </c:pt>
                <c:pt idx="31">
                  <c:v>2.2308401214339302E-2</c:v>
                </c:pt>
                <c:pt idx="32">
                  <c:v>1.6646707868407606E-2</c:v>
                </c:pt>
                <c:pt idx="33">
                  <c:v>1.6646707868407606E-2</c:v>
                </c:pt>
                <c:pt idx="34">
                  <c:v>1.6646707868407606E-2</c:v>
                </c:pt>
                <c:pt idx="35">
                  <c:v>1.6646707868407606E-2</c:v>
                </c:pt>
                <c:pt idx="36">
                  <c:v>1.6646707868407606E-2</c:v>
                </c:pt>
                <c:pt idx="37">
                  <c:v>1.6646707868407606E-2</c:v>
                </c:pt>
                <c:pt idx="38">
                  <c:v>1.6646707868407606E-2</c:v>
                </c:pt>
                <c:pt idx="39">
                  <c:v>1.6646707868407606E-2</c:v>
                </c:pt>
                <c:pt idx="40">
                  <c:v>1.6646707868407606E-2</c:v>
                </c:pt>
                <c:pt idx="41">
                  <c:v>1.3099330110698748E-2</c:v>
                </c:pt>
                <c:pt idx="42">
                  <c:v>1.3099330110698748E-2</c:v>
                </c:pt>
                <c:pt idx="43">
                  <c:v>1.3099330110698748E-2</c:v>
                </c:pt>
                <c:pt idx="44">
                  <c:v>1.3099330110698748E-2</c:v>
                </c:pt>
                <c:pt idx="45">
                  <c:v>9.869634557223339E-3</c:v>
                </c:pt>
                <c:pt idx="46">
                  <c:v>9.869634557223339E-3</c:v>
                </c:pt>
                <c:pt idx="47">
                  <c:v>9.869634557223339E-3</c:v>
                </c:pt>
                <c:pt idx="48">
                  <c:v>9.869634557223339E-3</c:v>
                </c:pt>
                <c:pt idx="49">
                  <c:v>9.869634557223339E-3</c:v>
                </c:pt>
                <c:pt idx="50">
                  <c:v>9.869634557223339E-3</c:v>
                </c:pt>
                <c:pt idx="51">
                  <c:v>9.869634557223339E-3</c:v>
                </c:pt>
                <c:pt idx="52">
                  <c:v>9.869634557223339E-3</c:v>
                </c:pt>
                <c:pt idx="53">
                  <c:v>9.869634557223339E-3</c:v>
                </c:pt>
                <c:pt idx="54">
                  <c:v>9.869634557223339E-3</c:v>
                </c:pt>
                <c:pt idx="55">
                  <c:v>9.869634557223339E-3</c:v>
                </c:pt>
                <c:pt idx="56">
                  <c:v>9.869634557223339E-3</c:v>
                </c:pt>
                <c:pt idx="57">
                  <c:v>9.869634557223339E-3</c:v>
                </c:pt>
                <c:pt idx="58">
                  <c:v>9.869634557223339E-3</c:v>
                </c:pt>
                <c:pt idx="59">
                  <c:v>9.869634557223339E-3</c:v>
                </c:pt>
                <c:pt idx="60">
                  <c:v>8.6931052743399739E-3</c:v>
                </c:pt>
                <c:pt idx="61">
                  <c:v>8.6931052743399739E-3</c:v>
                </c:pt>
                <c:pt idx="62">
                  <c:v>8.6931052743399739E-3</c:v>
                </c:pt>
                <c:pt idx="63">
                  <c:v>8.0772350571476359E-3</c:v>
                </c:pt>
                <c:pt idx="64">
                  <c:v>8.0772350571476359E-3</c:v>
                </c:pt>
                <c:pt idx="65">
                  <c:v>8.0772350571476359E-3</c:v>
                </c:pt>
                <c:pt idx="66">
                  <c:v>8.0772350571476359E-3</c:v>
                </c:pt>
                <c:pt idx="67">
                  <c:v>8.0772350571476359E-3</c:v>
                </c:pt>
                <c:pt idx="68">
                  <c:v>8.0772350571476359E-3</c:v>
                </c:pt>
                <c:pt idx="69">
                  <c:v>8.0772350571476359E-3</c:v>
                </c:pt>
                <c:pt idx="70">
                  <c:v>8.0772350571476359E-3</c:v>
                </c:pt>
                <c:pt idx="71">
                  <c:v>8.0772350571476359E-3</c:v>
                </c:pt>
                <c:pt idx="72">
                  <c:v>8.0772350571476359E-3</c:v>
                </c:pt>
                <c:pt idx="73">
                  <c:v>8.0772350571476359E-3</c:v>
                </c:pt>
                <c:pt idx="74">
                  <c:v>8.0772350571476359E-3</c:v>
                </c:pt>
                <c:pt idx="75">
                  <c:v>8.0772350571476359E-3</c:v>
                </c:pt>
                <c:pt idx="76">
                  <c:v>8.0772350571476359E-3</c:v>
                </c:pt>
                <c:pt idx="77">
                  <c:v>8.0772350571476359E-3</c:v>
                </c:pt>
                <c:pt idx="78">
                  <c:v>3.3066792347793417E-3</c:v>
                </c:pt>
                <c:pt idx="79">
                  <c:v>3.3066792347793417E-3</c:v>
                </c:pt>
                <c:pt idx="80">
                  <c:v>3.3066792347793417E-3</c:v>
                </c:pt>
                <c:pt idx="81">
                  <c:v>3.3066792347793417E-3</c:v>
                </c:pt>
                <c:pt idx="82">
                  <c:v>3.3066792347793417E-3</c:v>
                </c:pt>
                <c:pt idx="83">
                  <c:v>3.3066792347793417E-3</c:v>
                </c:pt>
                <c:pt idx="84">
                  <c:v>3.3066792347793417E-3</c:v>
                </c:pt>
                <c:pt idx="85">
                  <c:v>3.3066792347793417E-3</c:v>
                </c:pt>
                <c:pt idx="86">
                  <c:v>3.3066792347793417E-3</c:v>
                </c:pt>
                <c:pt idx="87">
                  <c:v>3.3066792347793417E-3</c:v>
                </c:pt>
                <c:pt idx="88">
                  <c:v>3.3066792347793417E-3</c:v>
                </c:pt>
                <c:pt idx="89">
                  <c:v>3.3066792347793417E-3</c:v>
                </c:pt>
                <c:pt idx="90">
                  <c:v>3.3066792347793417E-3</c:v>
                </c:pt>
                <c:pt idx="91">
                  <c:v>3.3066792347793417E-3</c:v>
                </c:pt>
                <c:pt idx="92">
                  <c:v>3.3066792347793417E-3</c:v>
                </c:pt>
                <c:pt idx="93">
                  <c:v>3.3066792347793417E-3</c:v>
                </c:pt>
                <c:pt idx="94">
                  <c:v>3.3066792347793417E-3</c:v>
                </c:pt>
                <c:pt idx="95">
                  <c:v>3.3066792347793417E-3</c:v>
                </c:pt>
                <c:pt idx="96">
                  <c:v>3.3066792347793417E-3</c:v>
                </c:pt>
                <c:pt idx="97">
                  <c:v>3.3066792347793417E-3</c:v>
                </c:pt>
                <c:pt idx="98">
                  <c:v>3.3066792347793417E-3</c:v>
                </c:pt>
                <c:pt idx="99">
                  <c:v>3.3066792347793417E-3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0E-4510-BA1A-03BB29E02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5D7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D7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D6B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D7A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3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2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731520"/>
            <a:ext cx="548640" cy="54864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21824" y="420624"/>
            <a:ext cx="1170432" cy="1170432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0928" y="109728"/>
            <a:ext cx="1792224" cy="1792224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2" y="-201168"/>
            <a:ext cx="2414016" cy="2414016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89136" y="-512064"/>
            <a:ext cx="3035808" cy="3035808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5806440"/>
            <a:ext cx="457200" cy="45720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532120"/>
            <a:ext cx="1005840" cy="100584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257800"/>
            <a:ext cx="1554480" cy="155448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" y="4983480"/>
            <a:ext cx="2103120" cy="210312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781722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the Global Minimum of the</a:t>
            </a:r>
            <a:endParaRPr lang="en-US" sz="4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2-D Ackley Function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381922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D6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Solving a Classic, Multi-Modal Optimization Problem Using a Genetic Algorithm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3212053"/>
            <a:ext cx="1828800" cy="0"/>
          </a:xfrm>
          <a:prstGeom prst="line">
            <a:avLst/>
          </a:prstGeom>
          <a:noFill/>
          <a:ln w="12700">
            <a:solidFill>
              <a:srgbClr val="445D7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672C042-E6AA-41A4-91AF-70E819D76C00}"/>
              </a:ext>
            </a:extLst>
          </p:cNvPr>
          <p:cNvSpPr/>
          <p:nvPr/>
        </p:nvSpPr>
        <p:spPr>
          <a:xfrm>
            <a:off x="6487157" y="3890731"/>
            <a:ext cx="3054096" cy="33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100" dirty="0">
                <a:solidFill>
                  <a:srgbClr val="B89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B64D1C7-030B-48B2-8FE5-531D97410302}"/>
              </a:ext>
            </a:extLst>
          </p:cNvPr>
          <p:cNvSpPr/>
          <p:nvPr/>
        </p:nvSpPr>
        <p:spPr>
          <a:xfrm>
            <a:off x="6487157" y="4323791"/>
            <a:ext cx="3251320" cy="1337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Dr. Al-Mahmud</a:t>
            </a: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Professor</a:t>
            </a: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Department of Computer Science and Engineering</a:t>
            </a: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Khulna University of Engineering and Technology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6710358-2C5A-497D-A5C8-2E01105D685E}"/>
              </a:ext>
            </a:extLst>
          </p:cNvPr>
          <p:cNvSpPr/>
          <p:nvPr/>
        </p:nvSpPr>
        <p:spPr>
          <a:xfrm>
            <a:off x="2809088" y="3890731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100" dirty="0">
                <a:solidFill>
                  <a:srgbClr val="B89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3FC4290-1F7C-4FA2-8173-01B1177BEBA3}"/>
              </a:ext>
            </a:extLst>
          </p:cNvPr>
          <p:cNvSpPr/>
          <p:nvPr/>
        </p:nvSpPr>
        <p:spPr>
          <a:xfrm>
            <a:off x="2809088" y="427226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Afifa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Sultana – 2107087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839B860-C117-47E7-88B9-BA6A01BA751A}"/>
              </a:ext>
            </a:extLst>
          </p:cNvPr>
          <p:cNvSpPr/>
          <p:nvPr/>
        </p:nvSpPr>
        <p:spPr>
          <a:xfrm>
            <a:off x="2808935" y="4525076"/>
            <a:ext cx="3251320" cy="23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Sadia Mostafa – 2107095 </a:t>
            </a: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10E2EBE-FF95-4A99-B3B1-49B262029F09}"/>
              </a:ext>
            </a:extLst>
          </p:cNvPr>
          <p:cNvSpPr/>
          <p:nvPr/>
        </p:nvSpPr>
        <p:spPr>
          <a:xfrm>
            <a:off x="2808934" y="4788864"/>
            <a:ext cx="3285477" cy="267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Newaz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Mohammad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Hamim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–  2107106 </a:t>
            </a: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7DB232AD-8A85-42CE-8672-1613F9A1487C}"/>
              </a:ext>
            </a:extLst>
          </p:cNvPr>
          <p:cNvSpPr/>
          <p:nvPr/>
        </p:nvSpPr>
        <p:spPr>
          <a:xfrm>
            <a:off x="2809088" y="510096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Shormi Ghosh – 2107109</a:t>
            </a: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5AEFD26-C103-4A0E-B4EB-598593543CF2}"/>
              </a:ext>
            </a:extLst>
          </p:cNvPr>
          <p:cNvSpPr/>
          <p:nvPr/>
        </p:nvSpPr>
        <p:spPr>
          <a:xfrm>
            <a:off x="2809088" y="538837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Biposhyan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chakma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– 2107121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E8D6B6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E8D6B6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E8D6B6"/>
                </a:solidFill>
                <a:latin typeface="Times New Roman"/>
              </a:rPr>
              <a:t>Page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task is to use a Genetic Algorithm to find the global minimum of the two-dimensional Ackley function.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decision variables x₁ and x₂ must both lie inside the search interval [-5, 5].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genetic algorithm is never given the answer directly. It has to discover a point close to (0, 0) purely by repeatedly improving a population of candidate solutions, generation after generation.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52360" y="14173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8D6B6"/>
            </a:solidFill>
            <a:prstDash val="solid"/>
          </a:ln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16952" y="1527048"/>
            <a:ext cx="3785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RANGE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6952" y="1874520"/>
            <a:ext cx="3785616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x₁, x₂  ∈  [-5, 5]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2360" y="27432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8D6B6"/>
            </a:solidFill>
            <a:prstDash val="solid"/>
          </a:ln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16952" y="2852928"/>
            <a:ext cx="3785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KNOWN GLOBAL OPTIMUM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6952" y="3200400"/>
            <a:ext cx="3785616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(x₁, x₂) = (0, 0)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52360" y="40690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8D6B6"/>
            </a:solidFill>
            <a:prstDash val="solid"/>
          </a:ln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16952" y="4178808"/>
            <a:ext cx="3785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MINIMUM FUNCTION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4526280"/>
            <a:ext cx="3785616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f(0, 0) = 0</a:t>
            </a:r>
            <a:endParaRPr lang="en-US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Ackley Function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definition, then derived for this assignment's two-variable case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838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D6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n-dimensional form: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 = -a·exp[-b√((1/n)Σxᵢ²)]  -  exp[(1/n)Σcos(cxᵢ)]  +  a + 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852928"/>
            <a:ext cx="10405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 the assignment's constants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127248"/>
            <a:ext cx="10405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n = 2 (two variables), a = 20, b = 0.2, and c = 2π.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593592"/>
            <a:ext cx="365760" cy="365760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566160"/>
            <a:ext cx="10405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 the summation for two genes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10405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(1/n)Σxᵢ²  becomes  (x₁²+x₂²)/2,   and  (1/n)Σcos(cxᵢ)  becomes  (cos(2πx₁)+cos(2πx₂))/2.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365760" cy="365760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279392"/>
            <a:ext cx="10405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Substitute back into the general form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405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produces the exact two-dimensional Ackley function used in the code and in this project.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038344"/>
            <a:ext cx="10908792" cy="896112"/>
          </a:xfrm>
          <a:prstGeom prst="roundRect">
            <a:avLst>
              <a:gd name="adj" fmla="val 8163"/>
            </a:avLst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093208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Two-dimensional Ackley function used in this assignment: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385816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f(x₁,x₂) = -20·exp[-0.2√((x₁²+x₂²)/2)]  -  exp[(cos(2πx₁)+cos(2πx₂))/2]  +  20 + e</a:t>
            </a:r>
            <a:endParaRPr lang="en-US" sz="1700" dirty="0"/>
          </a:p>
        </p:txBody>
      </p:sp>
      <p:sp>
        <p:nvSpPr>
          <p:cNvPr id="25" name="TextBox 24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 Ackley Function Is a Hard Optimization Problem</a:t>
            </a:r>
            <a:endParaRPr lang="en-US" sz="3000" dirty="0"/>
          </a:p>
        </p:txBody>
      </p:sp>
      <p:pic>
        <p:nvPicPr>
          <p:cNvPr id="6" name="Image 0" descr="/home/claude/ackley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39496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463040"/>
            <a:ext cx="54406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exponential term creates one wide, smooth basin that generally points every candidate toward the origin.</a:t>
            </a:r>
            <a:endParaRPr lang="en-US" sz="18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cosine term layers many small ripples across that basin, so the whole surface is covered with local minima, visible above as the ring-like dips surrounding the centre.</a:t>
            </a:r>
            <a:endParaRPr lang="en-US" sz="18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hill-climbing or gradient-based search can easily settle inside one of these local dips and never reach the true minimum.</a:t>
            </a:r>
            <a:endParaRPr lang="en-US" sz="18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genetic algorithm instead keeps a whole population of candidate points spread across the search space, so it keeps exploring even while some individuals fall into local minima.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Representing a Solution: Chromosome Encoding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852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the problem has two variables, one chromosome contains exactly two genes.</a:t>
            </a:r>
            <a:endParaRPr lang="en-US" sz="18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real-value (value) encoding: the actual floating-point numbers are stored directly, never translated into binary strings.</a:t>
            </a:r>
            <a:endParaRPr lang="en-US" sz="18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gene must stay inside the boundary [-5, 5] throughout the entire search.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Chromosome = [ x₁, x₂ 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4088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8385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2354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445D7A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0" y="1828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2907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235440" y="2907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365760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8D6B6"/>
            </a:solidFill>
            <a:prstDash val="solid"/>
          </a:ln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3776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40416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[-4.0, 2.5]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23760" y="4526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means  x₁ = -4.0  and  x₂ = 2.5</a:t>
            </a:r>
            <a:endParaRPr lang="en-US" sz="1500"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 Parameter Settings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exact configuration used to run the genetic algorithm on the Ackley function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00200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size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1987" y="1600200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chromosomes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24328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1987" y="2624328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cycles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48456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Crossover probability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1987" y="3648456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0.80 (80%)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672584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Mutation probability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51987" y="4672584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 per gene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696712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696712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Elitism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1987" y="5696712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1 preserved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4496" y="1600200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1600200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range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66403" y="1600200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x₁, x₂ ∈ [-5, 5]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4496" y="2624328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2624328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66403" y="2624328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Real-value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3648456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3648456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Selection method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66403" y="3648456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Roulette wheel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4496" y="4672584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4672584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Crossover type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66403" y="4672584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1-point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54496" y="5696712"/>
            <a:ext cx="529437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D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5696712"/>
            <a:ext cx="307073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Mutation type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66403" y="5696712"/>
            <a:ext cx="227658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Solving Steps — Part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genetic algorithm actually finds the minimum (steps 1 to 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38912" cy="438912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61872" y="1655064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the initial population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1947672"/>
            <a:ext cx="10287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50 random chromosomes, each a point [x₁, x₂] scattered inside the search square [-5,5] × [-5,5].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438912" cy="438912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2587752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with the Ackley function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2880360"/>
            <a:ext cx="10287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Substitute each chromosome's two genes into f(x₁,x₂). A smaller value means a better candidate, since this is a minimization problem.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438912" cy="438912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61872" y="3520440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the objective value into fitness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1872" y="3813048"/>
            <a:ext cx="10287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Roulette-wheel selection needs higher fitness to mean better, so the code uses fitness = 1/(1+f), reversing the direction correctly.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438912" cy="438912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9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261872" y="445312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and preserve the elite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61872" y="4745736"/>
            <a:ext cx="10287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chromosome with the smallest Ackley value and copy it unchanged into the next generation, so it can never be lost.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0080" y="5422392"/>
            <a:ext cx="438912" cy="438912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22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261872" y="5385816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parents by roulette wheel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1872" y="5678424"/>
            <a:ext cx="10287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 fitness into probabilities. Stronger chromosomes are more likely to be chosen, but weaker ones still keep some chance, preserving diversity.</a:t>
            </a:r>
            <a:endParaRPr lang="en-US" sz="1550" dirty="0"/>
          </a:p>
        </p:txBody>
      </p:sp>
      <p:sp>
        <p:nvSpPr>
          <p:cNvPr id="27" name="TextBox 26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Solving Steps — Part 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genetic algorithm actually finds the minimum (steps 6 to 11)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1618488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one-point crossover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80% probability, cut both parents between gene 1 and gene 2 and swap the second parts: [a,b] and [c,d] give [a,d] and [c,b].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432304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404872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Gaussian mutation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07008" y="2660904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gene independently has a 5% chance of receiving a small, normally distributed random change, helping the search escape local minima.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191256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 the valid range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07008" y="3447288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mutation pushes a gene outside [-5, 5], clip it back to the nearest boundary, so every chromosome stays valid.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008" y="3977640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Rebuild a population of exactly 50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07008" y="4233672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elite slot plus 49 offspring keep the population size constant; elitism never grows it to 51.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4791456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7008" y="4764024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for 100 generations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07008" y="5020056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whole cycle of evaluation, selection, crossover, mutation, and elitism runs again, so good gene combinations keep getting more chances to survive.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384048" cy="384048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07008" y="5550408"/>
            <a:ext cx="10341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the best chromosome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07008" y="5806440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100 generations, report the best [x₁, x₂] found and its Ackley value, which should now sit very close to zero.</a:t>
            </a:r>
            <a:endParaRPr lang="en-US" sz="1450" dirty="0"/>
          </a:p>
        </p:txBody>
      </p:sp>
      <p:sp>
        <p:nvSpPr>
          <p:cNvPr id="31" name="TextBox 30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full evolutionary cycle, from a random start to the reported best solution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169164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6916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 50 chromosomes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0" y="220370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17320" y="242316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445D7A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423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Ackley value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108960" y="293522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315468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31546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value to fitness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108960" y="366674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17320" y="388620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445D7A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8862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best 1 (elitism)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108960" y="439826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17320" y="461772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46177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Roulette-wheel selection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108960" y="512978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17320" y="534924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445D7A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53492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1-point crossover (80%)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360920" y="205740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2057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mutation (5%)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052560" y="256946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278892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445D7A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27889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Clip genes to [-5, 5]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052560" y="330098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60920" y="352044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0" y="35204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next population of 50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052560" y="403250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60920" y="425196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445D7A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98080" y="42519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for 100 generations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9052560" y="4764024"/>
            <a:ext cx="0" cy="219456"/>
          </a:xfrm>
          <a:prstGeom prst="line">
            <a:avLst/>
          </a:prstGeom>
          <a:noFill/>
          <a:ln w="22225">
            <a:solidFill>
              <a:srgbClr val="445D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0920" y="4983480"/>
            <a:ext cx="3383280" cy="512064"/>
          </a:xfrm>
          <a:prstGeom prst="roundRect">
            <a:avLst>
              <a:gd name="adj" fmla="val 16071"/>
            </a:avLst>
          </a:prstGeom>
          <a:solidFill>
            <a:srgbClr val="18385F"/>
          </a:solidFill>
          <a:ln/>
          <a:effectLst>
            <a:outerShdw blurRad="50800" dist="127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98080" y="49834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best [x₁, x₂]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4800600" y="5605272"/>
            <a:ext cx="1280160" cy="0"/>
          </a:xfrm>
          <a:prstGeom prst="line">
            <a:avLst/>
          </a:prstGeom>
          <a:noFill/>
          <a:ln w="25400">
            <a:solidFill>
              <a:srgbClr val="E8D6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2313432"/>
            <a:ext cx="0" cy="3291840"/>
          </a:xfrm>
          <a:prstGeom prst="line">
            <a:avLst/>
          </a:prstGeom>
          <a:noFill/>
          <a:ln w="25400">
            <a:solidFill>
              <a:srgbClr val="E8D6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2313432"/>
            <a:ext cx="1280160" cy="0"/>
          </a:xfrm>
          <a:prstGeom prst="line">
            <a:avLst/>
          </a:prstGeom>
          <a:noFill/>
          <a:ln w="25400">
            <a:solidFill>
              <a:srgbClr val="E8D6B6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532120" y="3456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continues →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Numerical Walkthrough: One Generation Example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illustrative population of four chromosomes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Chromosome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Ackley value f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Fitness = 1/(1+f)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Quality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= [-4.0, 2.5]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0.0909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 = [1.0, -1.0]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0.2500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Better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 = [0.2, 0.1]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0.5556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of these four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 = [3.0, 2.0]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0.1111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79476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Chromosome C has the largest fitness because its Ackley value is the smallest, so it has the highest chance of becoming a parent.</a:t>
            </a:r>
            <a:endParaRPr lang="en-US" sz="1700" dirty="0"/>
          </a:p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Suppose roulette-wheel selection chooses C = [0.2, 0.1] and B = [1.0, -1.0]. One-point crossover can then produce [0.2, -1.0] and [1.0, 0.1], and mutation might turn a child into [1.0, 0.03].</a:t>
            </a:r>
            <a:endParaRPr lang="en-US" sz="1700" dirty="0"/>
          </a:p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7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later generations, this repeated selection, crossover, and mutation gradually produces values such as [0.2, 0.03] and [0.05, 0.03], moving ever closer to [0, 0].</a:t>
            </a:r>
            <a:endParaRPr lang="en-US" sz="170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Walkthrough — Core Building Blocks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line of thought behind each foundational function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166420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ackley_function(x)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61872" y="194767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Takes one chromosome and reads x[0] and x[1] as x₁ and x₂. term1 builds the exponential part with the squared variables, term2 builds the cosine part, and the function returns the Ackley value that must be minimized.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61872" y="285292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initialize_population()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61872" y="313639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np.random.uniform(-5, 5, (50, 2)) generates a 50×2 array. Each row is one chromosome [x₁, x₂], so the first generation contains 50 random candidate points.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8736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61872" y="404164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calculate_fitness(population)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61872" y="432511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the Ackley function for every chromosome to get real objective values, then applies fitness = 1/(1+value), so a lower Ackley value produces a higher fitness.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7608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61872" y="523036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roulette_selection(population, fitness)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61872" y="551383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Divides each fitness by the total to get selection probabilities, then np.random.choice picks an index. Stronger chromosomes are favoured, but selection stays stochastic.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Walkthrough — Genetic Operators and Main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operators combine into one evolutionary 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166420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crossover(parent1, parent2)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61872" y="194767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Children start as plain copies of the parents. With 80% probability the code cuts between gene 1 and gene 2 and uses np.concatenate to swap the tail sections between the two parents.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61872" y="285292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mutation(chromosome)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61872" y="313639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gene mutates independently with 5% probability by adding a small Gaussian value from np.random.normal(0, 0.1); np.clip then keeps every gene inside [-5, 5].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8736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61872" y="404164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create_new_population(...)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61872" y="432511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np.argsort(values) finds and copies the elite chromosome first. A loop then repeatedly selects, crosses, and mutates parents until the new population reaches exactly 50 members.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76088"/>
            <a:ext cx="420624" cy="420624"/>
          </a:xfrm>
          <a:prstGeom prst="ellipse">
            <a:avLst/>
          </a:prstGeom>
          <a:solidFill>
            <a:srgbClr val="E8D6B6"/>
          </a:solidFill>
          <a:ln w="12700">
            <a:solidFill>
              <a:srgbClr val="183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61872" y="523036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genetic_algorithm()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61872" y="5513832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evolutionary loop: it initializes the population, evaluates it every generation, tracks the best chromosome found so far, records it for the convergence curve, and builds the next generation for 100 rounds.</a:t>
            </a:r>
            <a:endParaRPr 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Combination of GA Operators Works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Operator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Does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9E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 Matters Here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8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8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Selection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Prefers chromosomes with larger fitness.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Pushes the population toward regions with lower Ackley values.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8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Crossover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Combines genes from two parents.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Reuses useful coordinates already discovered by the population.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8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Mutation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Adds small random changes.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Introduces new values and helps escape local minima.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8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Elitism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Copies the best chromosome unchanged.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Prevents the best solution found so far from being lost.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8385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Repeated generations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Runs the same evolutionary cycle again and again.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71A3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Gradually concentrates the search around the global optimum.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Expected vs Obtained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Comparing the theoretical global optimum with the genetic algorithm's actual run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1838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D6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THEORETICAL GLOBAL MINIMUM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x₁* = 0</a:t>
            </a:r>
            <a:endParaRPr lang="en-US" sz="2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x₂* = 0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f(x₁*, x₂*) = 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19379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8D6B6"/>
            </a:solidFill>
            <a:prstDash val="solid"/>
          </a:ln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OBTAINED BY THE GA (SEEDED RUN)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 ≈ -0.00113062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 ≈ 0.00024329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f(x₁, x₂) ≈ 0.00330668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9087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successful result: both coordinates and the function value are extremely close to zero, showing the population converged tightly around the true global optimum.</a:t>
            </a:r>
            <a:endParaRPr lang="en-US" sz="1700" dirty="0"/>
          </a:p>
          <a:p>
            <a:pPr marL="0" indent="0" algn="l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genetic algorithm is stochastic, so it does not have to return exactly [0, 0] on every run. The goal is to converge sufficiently close to the global optimum, which this run clearly achieves.</a:t>
            </a:r>
            <a:endParaRPr lang="en-US" sz="1700"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20040"/>
            <a:ext cx="365760" cy="365760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210544" y="100584"/>
            <a:ext cx="804672" cy="804672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91088" y="-118872"/>
            <a:ext cx="1243584" cy="1243584"/>
          </a:xfrm>
          <a:prstGeom prst="ellipse">
            <a:avLst/>
          </a:prstGeom>
          <a:ln w="13970">
            <a:solidFill>
              <a:srgbClr val="E8D6B6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8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Convergence Curve Across 100 Generations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45D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Best-so-far Ackley value plotted after every generation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00200"/>
          <a:ext cx="1090879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3387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071A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curve drops sharply within the first twenty generations and then flattens as the population settles near the global minimum. Because elitism always protects the best chromosome, this best-so-far curve never rises.</a:t>
            </a:r>
            <a:endParaRPr lang="en-US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45D7A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45D7A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2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445D7A"/>
                </a:solidFill>
                <a:latin typeface="Times New Roman"/>
              </a:rPr>
              <a:t>Page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806440"/>
            <a:ext cx="457200" cy="45720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52760" y="5532120"/>
            <a:ext cx="1005840" cy="100584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378440" y="5257800"/>
            <a:ext cx="1554480" cy="155448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104120" y="4983480"/>
            <a:ext cx="2103120" cy="210312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640080"/>
            <a:ext cx="365760" cy="36576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93776" y="402336"/>
            <a:ext cx="841248" cy="841248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64592"/>
            <a:ext cx="1316736" cy="1316736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Understanding of the Whole Solution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962863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genetic algorithm begins with no knowledge of where the optimum lies. It only knows the search range and the Ackley function itself.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fitness transformation makes low Ackley values desirable for roulette selection, so selection repeatedly gives better chromosomes more opportunities to reproduce.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Crossover combines coordinates from selected parents, mutation creates new nearby coordinates, and elitism keeps the best point safe from every generation onward.</a:t>
            </a:r>
            <a:endParaRPr lang="en-US" sz="180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many generations, these mechanisms shift the population toward the region that consistently produces the smallest objective values — centred at (0, 0) — so the best chromosome approaches [0, 0] and its function value approaches 0.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E8D6B6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E8D6B6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4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E8D6B6"/>
                </a:solidFill>
                <a:latin typeface="Times New Roman"/>
              </a:rPr>
              <a:t>Page 16 of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806440"/>
            <a:ext cx="457200" cy="45720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52760" y="5532120"/>
            <a:ext cx="1005840" cy="100584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378440" y="5257800"/>
            <a:ext cx="1554480" cy="155448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104120" y="4983480"/>
            <a:ext cx="2103120" cy="2103120"/>
          </a:xfrm>
          <a:prstGeom prst="ellipse">
            <a:avLst/>
          </a:prstGeom>
          <a:ln w="13970">
            <a:solidFill>
              <a:srgbClr val="E8D6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640080"/>
            <a:ext cx="365760" cy="365760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93776" y="402336"/>
            <a:ext cx="841248" cy="841248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64592"/>
            <a:ext cx="1316736" cy="1316736"/>
          </a:xfrm>
          <a:prstGeom prst="ellipse">
            <a:avLst/>
          </a:prstGeom>
          <a:ln w="13970">
            <a:solidFill>
              <a:srgbClr val="445D7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988570" y="3017520"/>
            <a:ext cx="421168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9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E8D6B6"/>
                </a:solidFill>
                <a:latin typeface="Times New Roman"/>
              </a:rPr>
              <a:t>CSE 4111 -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5612" y="6547104"/>
            <a:ext cx="36576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E8D6B6"/>
                </a:solidFill>
                <a:latin typeface="Times New Roman"/>
              </a:rPr>
              <a:t>September 13,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465" y="6547104"/>
            <a:ext cx="38404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E8D6B6"/>
                </a:solidFill>
                <a:latin typeface="Times New Roman"/>
              </a:rPr>
              <a:t>Page 16 of 16</a:t>
            </a:r>
          </a:p>
        </p:txBody>
      </p:sp>
    </p:spTree>
    <p:extLst>
      <p:ext uri="{BB962C8B-B14F-4D97-AF65-F5344CB8AC3E}">
        <p14:creationId xmlns:p14="http://schemas.microsoft.com/office/powerpoint/2010/main" val="254021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2336</Words>
  <Application>Microsoft Office PowerPoint</Application>
  <PresentationFormat>Custom</PresentationFormat>
  <Paragraphs>290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Shormi</cp:lastModifiedBy>
  <cp:revision>3</cp:revision>
  <dcterms:created xsi:type="dcterms:W3CDTF">2026-09-12T16:08:01Z</dcterms:created>
  <dcterms:modified xsi:type="dcterms:W3CDTF">2026-09-12T16:34:51Z</dcterms:modified>
</cp:coreProperties>
</file>