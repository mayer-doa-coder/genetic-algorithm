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7"/>
  </p:notesMasterIdLst>
  <p:handoutMasterIdLst>
    <p:handoutMasterId r:id="rId38"/>
  </p:handoutMasterIdLst>
  <p:sldIdLst>
    <p:sldId id="256" r:id="rId2"/>
    <p:sldId id="287" r:id="rId3"/>
    <p:sldId id="257" r:id="rId4"/>
    <p:sldId id="286" r:id="rId5"/>
    <p:sldId id="303" r:id="rId6"/>
    <p:sldId id="304" r:id="rId7"/>
    <p:sldId id="305" r:id="rId8"/>
    <p:sldId id="306" r:id="rId9"/>
    <p:sldId id="292" r:id="rId10"/>
    <p:sldId id="294" r:id="rId11"/>
    <p:sldId id="295" r:id="rId12"/>
    <p:sldId id="296" r:id="rId13"/>
    <p:sldId id="297" r:id="rId14"/>
    <p:sldId id="298" r:id="rId15"/>
    <p:sldId id="300" r:id="rId16"/>
    <p:sldId id="307" r:id="rId17"/>
    <p:sldId id="271" r:id="rId18"/>
    <p:sldId id="262" r:id="rId19"/>
    <p:sldId id="259" r:id="rId20"/>
    <p:sldId id="291" r:id="rId21"/>
    <p:sldId id="264" r:id="rId22"/>
    <p:sldId id="265" r:id="rId23"/>
    <p:sldId id="284" r:id="rId24"/>
    <p:sldId id="308" r:id="rId25"/>
    <p:sldId id="268" r:id="rId26"/>
    <p:sldId id="309" r:id="rId27"/>
    <p:sldId id="310" r:id="rId28"/>
    <p:sldId id="285" r:id="rId29"/>
    <p:sldId id="311" r:id="rId30"/>
    <p:sldId id="266" r:id="rId31"/>
    <p:sldId id="269" r:id="rId32"/>
    <p:sldId id="312" r:id="rId33"/>
    <p:sldId id="302" r:id="rId34"/>
    <p:sldId id="313" r:id="rId35"/>
    <p:sldId id="314" r:id="rId36"/>
  </p:sldIdLst>
  <p:sldSz cx="9144000" cy="6858000" type="screen4x3"/>
  <p:notesSz cx="6858000" cy="9144000"/>
  <p:defaultTextStyle>
    <a:defPPr>
      <a:defRPr lang="th-TH"/>
    </a:defPPr>
    <a:lvl1pPr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1pPr>
    <a:lvl2pPr marL="4572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2pPr>
    <a:lvl3pPr marL="9144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3pPr>
    <a:lvl4pPr marL="13716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4pPr>
    <a:lvl5pPr marL="1828800" algn="l" rtl="0" fontAlgn="base">
      <a:spcBef>
        <a:spcPct val="0"/>
      </a:spcBef>
      <a:spcAft>
        <a:spcPct val="0"/>
      </a:spcAft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Arial" charset="0"/>
        <a:ea typeface="+mn-ea"/>
        <a:cs typeface="Angsana New" pitchFamily="18" charset="-34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FF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98" autoAdjust="0"/>
  </p:normalViewPr>
  <p:slideViewPr>
    <p:cSldViewPr>
      <p:cViewPr varScale="1">
        <p:scale>
          <a:sx n="103" d="100"/>
          <a:sy n="103" d="100"/>
        </p:scale>
        <p:origin x="1854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36F6CF0D-66DD-4724-91A3-C67305F0C6F7}" type="datetimeFigureOut">
              <a:rPr lang="th-TH"/>
              <a:pPr>
                <a:defRPr/>
              </a:pPr>
              <a:t>01/12/68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C31D1DFF-09B3-4CB0-9014-5377C5B60484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5972258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9E30B4A4-4B68-417E-AAA2-693775471659}" type="datetimeFigureOut">
              <a:rPr lang="th-TH"/>
              <a:pPr>
                <a:defRPr/>
              </a:pPr>
              <a:t>01/12/68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th-TH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th-TH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49678E9A-E03C-49A3-AF0B-EB3D13188889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3907145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D18E6FE-9AEE-4C61-8FBE-46D772074FC5}" type="slidenum">
              <a:rPr lang="en-GB"/>
              <a:pPr/>
              <a:t>9</a:t>
            </a:fld>
            <a:endParaRPr lang="en-GB"/>
          </a:p>
        </p:txBody>
      </p:sp>
      <p:sp>
        <p:nvSpPr>
          <p:cNvPr id="2293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93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0A8E20F-DA80-4826-92DD-BD742DDEF0C7}" type="slidenum">
              <a:rPr lang="en-GB"/>
              <a:pPr/>
              <a:t>10</a:t>
            </a:fld>
            <a:endParaRPr lang="en-GB"/>
          </a:p>
        </p:txBody>
      </p:sp>
      <p:sp>
        <p:nvSpPr>
          <p:cNvPr id="2529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2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DCC518-F462-4D1D-8E3D-919E8DB6F301}" type="slidenum">
              <a:rPr lang="en-GB"/>
              <a:pPr/>
              <a:t>11</a:t>
            </a:fld>
            <a:endParaRPr lang="en-GB"/>
          </a:p>
        </p:txBody>
      </p:sp>
      <p:sp>
        <p:nvSpPr>
          <p:cNvPr id="2314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14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FF07361-4448-4091-A09F-1F860DBD75D6}" type="slidenum">
              <a:rPr lang="en-GB"/>
              <a:pPr/>
              <a:t>12</a:t>
            </a:fld>
            <a:endParaRPr lang="en-GB"/>
          </a:p>
        </p:txBody>
      </p:sp>
      <p:sp>
        <p:nvSpPr>
          <p:cNvPr id="2570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70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793D40F-D451-4EF6-9D74-26053CE8A37E}" type="slidenum">
              <a:rPr lang="en-GB"/>
              <a:pPr/>
              <a:t>13</a:t>
            </a:fld>
            <a:endParaRPr lang="en-GB"/>
          </a:p>
        </p:txBody>
      </p:sp>
      <p:sp>
        <p:nvSpPr>
          <p:cNvPr id="2355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5CA6F11-846C-48F6-8EA5-8BAC02E53CC7}" type="slidenum">
              <a:rPr lang="en-GB"/>
              <a:pPr/>
              <a:t>14</a:t>
            </a:fld>
            <a:endParaRPr lang="en-GB"/>
          </a:p>
        </p:txBody>
      </p:sp>
      <p:sp>
        <p:nvSpPr>
          <p:cNvPr id="2590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9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48A98F0-5755-4413-A3FB-4B8BB1AA48C6}" type="slidenum">
              <a:rPr lang="en-GB"/>
              <a:pPr/>
              <a:t>15</a:t>
            </a:fld>
            <a:endParaRPr lang="en-GB"/>
          </a:p>
        </p:txBody>
      </p:sp>
      <p:sp>
        <p:nvSpPr>
          <p:cNvPr id="2611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1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i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49678E9A-E03C-49A3-AF0B-EB3D13188889}" type="slidenum">
              <a:rPr lang="th-TH" smtClean="0"/>
              <a:pPr>
                <a:defRPr/>
              </a:pPr>
              <a:t>30</a:t>
            </a:fld>
            <a:endParaRPr lang="th-TH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49678E9A-E03C-49A3-AF0B-EB3D13188889}" type="slidenum">
              <a:rPr lang="th-TH" smtClean="0"/>
              <a:pPr>
                <a:defRPr/>
              </a:pPr>
              <a:t>33</a:t>
            </a:fld>
            <a:endParaRPr lang="th-TH"/>
          </a:p>
        </p:txBody>
      </p:sp>
    </p:spTree>
    <p:extLst>
      <p:ext uri="{BB962C8B-B14F-4D97-AF65-F5344CB8AC3E}">
        <p14:creationId xmlns:p14="http://schemas.microsoft.com/office/powerpoint/2010/main" val="24998291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4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ภาพนิ่งชื่อเรื่อ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สามเหลี่ยมมุมฉาก 10"/>
          <p:cNvSpPr/>
          <p:nvPr/>
        </p:nvSpPr>
        <p:spPr>
          <a:xfrm>
            <a:off x="0" y="4664075"/>
            <a:ext cx="9150350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grpSp>
        <p:nvGrpSpPr>
          <p:cNvPr id="5" name="กลุ่ม 15"/>
          <p:cNvGrpSpPr>
            <a:grpSpLocks/>
          </p:cNvGrpSpPr>
          <p:nvPr/>
        </p:nvGrpSpPr>
        <p:grpSpPr bwMode="auto">
          <a:xfrm>
            <a:off x="-3175" y="4953000"/>
            <a:ext cx="9147175" cy="1911350"/>
            <a:chOff x="-3765" y="4832896"/>
            <a:chExt cx="9147765" cy="2032192"/>
          </a:xfrm>
        </p:grpSpPr>
        <p:sp>
          <p:nvSpPr>
            <p:cNvPr id="6" name="รูปแบบอิสระ 16"/>
            <p:cNvSpPr>
              <a:spLocks/>
            </p:cNvSpPr>
            <p:nvPr/>
          </p:nvSpPr>
          <p:spPr bwMode="auto">
            <a:xfrm>
              <a:off x="1687032" y="4832896"/>
              <a:ext cx="7456968" cy="51817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7" name="รูปแบบอิสระ 18"/>
            <p:cNvSpPr>
              <a:spLocks/>
            </p:cNvSpPr>
            <p:nvPr/>
          </p:nvSpPr>
          <p:spPr bwMode="auto">
            <a:xfrm>
              <a:off x="35926" y="5135025"/>
              <a:ext cx="9108074" cy="838869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latin typeface="+mn-lt"/>
                <a:cs typeface="+mn-cs"/>
              </a:endParaRPr>
            </a:p>
          </p:txBody>
        </p:sp>
        <p:sp>
          <p:nvSpPr>
            <p:cNvPr id="8" name="รูปแบบอิสระ 19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 cstate="print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/>
            </a:p>
          </p:txBody>
        </p:sp>
        <p:cxnSp>
          <p:nvCxnSpPr>
            <p:cNvPr id="10" name="ตัวเชื่อมต่อตรง 20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" name="ชื่อเรื่อง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anchor="b"/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17" name="ชื่อเรื่องรอง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lang="th-TH"/>
              <a:t>คลิกเพื่อแก้ไขลักษณะชื่อเรื่องรองต้นแบบ</a:t>
            </a:r>
            <a:endParaRPr lang="en-US"/>
          </a:p>
        </p:txBody>
      </p:sp>
      <p:sp>
        <p:nvSpPr>
          <p:cNvPr id="11" name="ตัวยึดวันที่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814F1819-0F57-4AC7-98CD-9CF0955540B2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12" name="ตัวยึดท้ายกระดาษ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13" name="ตัวยึดหมายเลขภาพนิ่ง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pPr>
              <a:defRPr/>
            </a:pPr>
            <a:fld id="{9F07FF2D-F3A0-4689-938D-5AC600B601C1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ชื่อเรื่องและเนื้อห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ยึดเนื้อหา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ชื่อเรื่อง 6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4" name="ตัวยึดวันที่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DC79BC-6CF9-46DA-B21C-3952A9703519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5" name="ตัวยึดท้ายกระดาษ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6" name="ตัวยึดหมายเลขภาพนิ่ง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68CE7AF-8CF8-44FC-950C-AE2FBB0EAC76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ส่วนหัวของส่วน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เครื่องหมายบั้ง 10"/>
          <p:cNvSpPr/>
          <p:nvPr/>
        </p:nvSpPr>
        <p:spPr>
          <a:xfrm>
            <a:off x="3636963" y="3005138"/>
            <a:ext cx="182562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5" name="เครื่องหมายบั้ง 15"/>
          <p:cNvSpPr/>
          <p:nvPr/>
        </p:nvSpPr>
        <p:spPr>
          <a:xfrm>
            <a:off x="3449638" y="3005138"/>
            <a:ext cx="18415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anchor="b"/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6" name="ตัวยึดวันที่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5E466954-CC8F-4E3C-8015-61404CA060C9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7" name="ตัวยึดท้ายกระดา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8" name="ตัวยึดหมายเลขภาพนิ่ง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D979072-F631-479F-AB5F-E0244BCCD78F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เนื้อหา 2 ส่วน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ตัวยึดเนื้อหา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8" name="ชื่อเรื่อง 7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47D665F4-36C1-4D8A-A09F-F65618BD8C6A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346F5BC-8836-4C45-8AB0-E1A5BD8511CD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การเปรียบเทียบ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/>
          <a:lstStyle>
            <a:lvl1pPr>
              <a:defRPr/>
            </a:lvl1pPr>
            <a:extLst/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5" name="ตัวยึดเนื้อหา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6" name="ตัวยึดเนื้อหา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7" name="ตัวยึดวันที่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C2AF9F51-5B2D-4C6C-96B3-ED895A15F9C8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8" name="ตัวยึดท้ายกระดาษ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9" name="ตัวยึดหมายเลขภาพนิ่ง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913D3410-FFF9-4C8E-BAA7-FAC20B98B8CE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เฉพาะชื่อเรื่อ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ชื่อเรื่อง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ยึดวันที่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8DA0A87F-A835-450C-ACAD-2E0C47D91878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4" name="ตัวยึดท้ายกระดาษ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5" name="ตัวยึดหมายเลขภาพนิ่ง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F84478E0-B690-483D-B4A6-A83B47487CD0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ว่างเปล่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วันที่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3BDF78-3901-49AA-8A28-A163D6526158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3" name="ตัวยึดท้ายกระดาษ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4" name="ตัวยึดหมายเลขภาพนิ่ง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56B441-A678-434D-A4D9-84D84585AA86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เนื้อหาพร้อมคำอธิบายภาพ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ยึดข้อความ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4" name="ตัวยึดเนื้อหา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5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E2597593-953E-4E93-AFE4-5A07A2548249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6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7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pPr>
              <a:defRPr/>
            </a:pPr>
            <a:fld id="{6B586340-F993-431D-87BF-65BFA027BBC2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รูปภาพพร้อมคำอธิบายภาพ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รูปแบบอิสระ 10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6" name="รูปแบบอิสระ 15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7" name="สามเหลี่ยมมุมฉาก 16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8" name="ตัวเชื่อมต่อตรง 18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เครื่องหมายบั้ง 19"/>
          <p:cNvSpPr/>
          <p:nvPr/>
        </p:nvSpPr>
        <p:spPr>
          <a:xfrm>
            <a:off x="8664575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10" name="เครื่องหมายบั้ง 20"/>
          <p:cNvSpPr/>
          <p:nvPr/>
        </p:nvSpPr>
        <p:spPr>
          <a:xfrm>
            <a:off x="8477250" y="4987925"/>
            <a:ext cx="182563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sp>
        <p:nvSpPr>
          <p:cNvPr id="4" name="ตัวยึดข้อความ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tIns="0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/>
            <a:r>
              <a:rPr lang="th-TH"/>
              <a:t>คลิกเพื่อแก้ไขลักษณะของข้อความต้นแบบ</a:t>
            </a:r>
          </a:p>
        </p:txBody>
      </p:sp>
      <p:sp>
        <p:nvSpPr>
          <p:cNvPr id="3" name="ตัวยึดรูปภาพ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extLst/>
          </a:lstStyle>
          <a:p>
            <a:pPr lvl="0"/>
            <a:r>
              <a:rPr lang="th-TH" noProof="0"/>
              <a:t>คลิกไอคอนเพื่อเพิ่มรูปภาพ</a:t>
            </a:r>
            <a:endParaRPr lang="en-US" noProof="0" dirty="0"/>
          </a:p>
        </p:txBody>
      </p:sp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11" name="ตัวยึดวันที่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0D0083ED-2BD9-4F47-9637-4DE1E9FDEEC7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12" name="ตัวยึดท้ายกระดาษ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13" name="ตัวยึดหมายเลขภาพนิ่ง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pPr>
              <a:defRPr/>
            </a:pPr>
            <a:fld id="{1F0712BD-5625-4ABF-8163-1A9BE006B743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ชื่อเรื่องและข้อความ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ยึดวันที่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986A12-2DDB-4CD5-9934-BF7137AD36C7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5" name="ตัวยึดท้ายกระดาษ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6" name="ตัวยึดหมายเลขภาพนิ่ง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391F7A-5B56-4DDE-8AFA-560ED9AAAEE1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ข้อความและชื่อเรื่องแนวตั้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แนวตั้ง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3" name="ตัวยึดข้อความแนวตั้ง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4" name="ตัวยึดวันที่ 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E8B1F00-08C6-4FED-858B-9E30E0140425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5" name="ตัวยึดท้ายกระดาษ 21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6" name="ตัวยึดหมายเลขภาพนิ่ง 1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54627A-D5C5-48E3-AA00-E249EE6BEBF7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รูปแบบอิสระ 12"/>
          <p:cNvSpPr>
            <a:spLocks/>
          </p:cNvSpPr>
          <p:nvPr/>
        </p:nvSpPr>
        <p:spPr bwMode="auto">
          <a:xfrm>
            <a:off x="500063" y="5945188"/>
            <a:ext cx="4940300" cy="9207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2" name="รูปแบบอิสระ 11"/>
          <p:cNvSpPr>
            <a:spLocks/>
          </p:cNvSpPr>
          <p:nvPr/>
        </p:nvSpPr>
        <p:spPr bwMode="auto">
          <a:xfrm>
            <a:off x="485775" y="5938838"/>
            <a:ext cx="3690938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>
              <a:latin typeface="+mn-lt"/>
              <a:cs typeface="+mn-cs"/>
            </a:endParaRPr>
          </a:p>
        </p:txBody>
      </p:sp>
      <p:sp>
        <p:nvSpPr>
          <p:cNvPr id="14" name="สามเหลี่ยมมุมฉาก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3" cstate="print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/>
          </a:p>
        </p:txBody>
      </p:sp>
      <p:cxnSp>
        <p:nvCxnSpPr>
          <p:cNvPr id="15" name="ตัวเชื่อมต่อตรง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ตัวยึดชื่อเรื่อง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lang="th-TH"/>
              <a:t>คลิกเพื่อแก้ไขลักษณะชื่อเรื่องต้นแบบ</a:t>
            </a:r>
            <a:endParaRPr lang="en-US"/>
          </a:p>
        </p:txBody>
      </p:sp>
      <p:sp>
        <p:nvSpPr>
          <p:cNvPr id="7177" name="ตัวยึดข้อความ 29"/>
          <p:cNvSpPr>
            <a:spLocks noGrp="1"/>
          </p:cNvSpPr>
          <p:nvPr>
            <p:ph type="body" idx="1"/>
          </p:nvPr>
        </p:nvSpPr>
        <p:spPr bwMode="auto">
          <a:xfrm>
            <a:off x="457200" y="1481138"/>
            <a:ext cx="8229600" cy="4525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h-TH"/>
              <a:t>คลิกเพื่อแก้ไขลักษณะของข้อความต้นแบบ</a:t>
            </a:r>
          </a:p>
          <a:p>
            <a:pPr lvl="1"/>
            <a:r>
              <a:rPr lang="th-TH"/>
              <a:t>ระดับที่สอง</a:t>
            </a:r>
          </a:p>
          <a:p>
            <a:pPr lvl="2"/>
            <a:r>
              <a:rPr lang="th-TH"/>
              <a:t>ระดับที่สาม</a:t>
            </a:r>
          </a:p>
          <a:p>
            <a:pPr lvl="3"/>
            <a:r>
              <a:rPr lang="th-TH"/>
              <a:t>ระดับที่สี่</a:t>
            </a:r>
          </a:p>
          <a:p>
            <a:pPr lvl="4"/>
            <a:r>
              <a:rPr lang="th-TH"/>
              <a:t>ระดับที่ห้า</a:t>
            </a:r>
            <a:endParaRPr lang="en-US"/>
          </a:p>
        </p:txBody>
      </p:sp>
      <p:sp>
        <p:nvSpPr>
          <p:cNvPr id="10" name="ตัวยึดวันที่ 9"/>
          <p:cNvSpPr>
            <a:spLocks noGrp="1"/>
          </p:cNvSpPr>
          <p:nvPr>
            <p:ph type="dt" sz="half" idx="2"/>
          </p:nvPr>
        </p:nvSpPr>
        <p:spPr>
          <a:xfrm>
            <a:off x="6727825" y="6408738"/>
            <a:ext cx="1919288" cy="365125"/>
          </a:xfrm>
          <a:prstGeom prst="rect">
            <a:avLst/>
          </a:prstGeom>
        </p:spPr>
        <p:txBody>
          <a:bodyPr vert="horz" anchor="b"/>
          <a:lstStyle>
            <a:lvl1pPr algn="l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1FAF90EF-CD7B-446B-BD96-CF78042D94D8}" type="datetime1">
              <a:rPr lang="th-TH" smtClean="0"/>
              <a:pPr>
                <a:defRPr/>
              </a:pPr>
              <a:t>01/12/68</a:t>
            </a:fld>
            <a:endParaRPr lang="th-TH"/>
          </a:p>
        </p:txBody>
      </p:sp>
      <p:sp>
        <p:nvSpPr>
          <p:cNvPr id="22" name="ตัวยึดท้ายกระดาษ 21"/>
          <p:cNvSpPr>
            <a:spLocks noGrp="1"/>
          </p:cNvSpPr>
          <p:nvPr>
            <p:ph type="ftr" sz="quarter" idx="3"/>
          </p:nvPr>
        </p:nvSpPr>
        <p:spPr>
          <a:xfrm>
            <a:off x="4379913" y="6408738"/>
            <a:ext cx="2351087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r>
              <a:rPr lang="en-CA"/>
              <a:t>Masaryk University, Brno, Czech Republic , Wed 08 Apr 2009 </a:t>
            </a:r>
            <a:endParaRPr lang="th-TH"/>
          </a:p>
        </p:txBody>
      </p:sp>
      <p:sp>
        <p:nvSpPr>
          <p:cNvPr id="18" name="ตัวยึดหมายเลขภาพนิ่ง 17"/>
          <p:cNvSpPr>
            <a:spLocks noGrp="1"/>
          </p:cNvSpPr>
          <p:nvPr>
            <p:ph type="sldNum" sz="quarter" idx="4"/>
          </p:nvPr>
        </p:nvSpPr>
        <p:spPr>
          <a:xfrm>
            <a:off x="8647113" y="6408738"/>
            <a:ext cx="366712" cy="365125"/>
          </a:xfrm>
          <a:prstGeom prst="rect">
            <a:avLst/>
          </a:prstGeom>
        </p:spPr>
        <p:txBody>
          <a:bodyPr vert="horz" anchor="b"/>
          <a:lstStyle>
            <a:lvl1pPr algn="r" eaLnBrk="1" fontAlgn="auto" latinLnBrk="0" hangingPunct="1">
              <a:spcBef>
                <a:spcPts val="0"/>
              </a:spcBef>
              <a:spcAft>
                <a:spcPts val="0"/>
              </a:spcAft>
              <a:defRPr kumimoji="0" sz="1000" b="0">
                <a:solidFill>
                  <a:schemeClr val="tx1"/>
                </a:solidFill>
                <a:latin typeface="+mn-lt"/>
                <a:cs typeface="+mn-cs"/>
              </a:defRPr>
            </a:lvl1pPr>
            <a:extLst/>
          </a:lstStyle>
          <a:p>
            <a:pPr>
              <a:defRPr/>
            </a:pPr>
            <a:fld id="{435A74E4-D93B-4D3D-B5FF-50426AFC33DD}" type="slidenum">
              <a:rPr lang="th-TH"/>
              <a:pPr>
                <a:defRPr/>
              </a:pPr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9" r:id="rId1"/>
    <p:sldLayoutId id="2147483715" r:id="rId2"/>
    <p:sldLayoutId id="2147483720" r:id="rId3"/>
    <p:sldLayoutId id="2147483721" r:id="rId4"/>
    <p:sldLayoutId id="2147483722" r:id="rId5"/>
    <p:sldLayoutId id="2147483723" r:id="rId6"/>
    <p:sldLayoutId id="2147483716" r:id="rId7"/>
    <p:sldLayoutId id="2147483724" r:id="rId8"/>
    <p:sldLayoutId id="2147483725" r:id="rId9"/>
    <p:sldLayoutId id="2147483717" r:id="rId10"/>
    <p:sldLayoutId id="2147483718" r:id="rId11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5pPr>
      <a:lvl6pPr marL="4572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6pPr>
      <a:lvl7pPr marL="9144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7pPr>
      <a:lvl8pPr marL="13716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8pPr>
      <a:lvl9pPr marL="1828800" algn="l" rtl="0" fontAlgn="base">
        <a:spcBef>
          <a:spcPct val="0"/>
        </a:spcBef>
        <a:spcAft>
          <a:spcPct val="0"/>
        </a:spcAft>
        <a:defRPr sz="4100" b="1">
          <a:solidFill>
            <a:schemeClr val="tx2"/>
          </a:solidFill>
          <a:latin typeface="Lucida Sans Unicode" pitchFamily="34" charset="0"/>
          <a:cs typeface="Cordia New" pitchFamily="34" charset="-34"/>
        </a:defRPr>
      </a:lvl9pPr>
      <a:extLst/>
    </p:titleStyle>
    <p:bodyStyle>
      <a:lvl1pPr marL="365125" indent="-255588" algn="l" rtl="0" eaLnBrk="0" fontAlgn="base" hangingPunct="0">
        <a:spcBef>
          <a:spcPts val="400"/>
        </a:spcBef>
        <a:spcAft>
          <a:spcPct val="0"/>
        </a:spcAft>
        <a:buClr>
          <a:schemeClr val="accent1"/>
        </a:buClr>
        <a:buSzPct val="68000"/>
        <a:buFont typeface="Wingdings 3" pitchFamily="18" charset="2"/>
        <a:buChar char=""/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0713" indent="-228600" algn="l" rtl="0" eaLnBrk="0" fontAlgn="base" hangingPunct="0">
        <a:spcBef>
          <a:spcPts val="325"/>
        </a:spcBef>
        <a:spcAft>
          <a:spcPct val="0"/>
        </a:spcAft>
        <a:buClr>
          <a:schemeClr val="accent1"/>
        </a:buClr>
        <a:buFont typeface="Verdana" pitchFamily="34" charset="0"/>
        <a:buChar char="◦"/>
        <a:defRPr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8838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SzPct val="100000"/>
        <a:buFont typeface="Wingdings 2" pitchFamily="18" charset="2"/>
        <a:buChar char="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0" fontAlgn="base" hangingPunct="0">
        <a:spcBef>
          <a:spcPts val="350"/>
        </a:spcBef>
        <a:spcAft>
          <a:spcPct val="0"/>
        </a:spcAft>
        <a:buClr>
          <a:schemeClr val="accent2"/>
        </a:buClr>
        <a:buFont typeface="Wingdings 2" pitchFamily="18" charset="2"/>
        <a:buChar char="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.bin"/><Relationship Id="rId3" Type="http://schemas.openxmlformats.org/officeDocument/2006/relationships/image" Target="../media/image26.wmf"/><Relationship Id="rId7" Type="http://schemas.openxmlformats.org/officeDocument/2006/relationships/image" Target="../media/image28.wmf"/><Relationship Id="rId2" Type="http://schemas.openxmlformats.org/officeDocument/2006/relationships/oleObject" Target="../embeddings/oleObject2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4.bin"/><Relationship Id="rId11" Type="http://schemas.openxmlformats.org/officeDocument/2006/relationships/image" Target="../media/image30.wmf"/><Relationship Id="rId5" Type="http://schemas.openxmlformats.org/officeDocument/2006/relationships/image" Target="../media/image27.wmf"/><Relationship Id="rId10" Type="http://schemas.openxmlformats.org/officeDocument/2006/relationships/oleObject" Target="../embeddings/oleObject6.bin"/><Relationship Id="rId4" Type="http://schemas.openxmlformats.org/officeDocument/2006/relationships/oleObject" Target="../embeddings/oleObject3.bin"/><Relationship Id="rId9" Type="http://schemas.openxmlformats.org/officeDocument/2006/relationships/image" Target="../media/image29.w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7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8.bin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wmf"/><Relationship Id="rId2" Type="http://schemas.openxmlformats.org/officeDocument/2006/relationships/oleObject" Target="../embeddings/oleObject9.bin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wmf"/><Relationship Id="rId2" Type="http://schemas.openxmlformats.org/officeDocument/2006/relationships/oleObject" Target="../embeddings/oleObject10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wmf"/><Relationship Id="rId4" Type="http://schemas.openxmlformats.org/officeDocument/2006/relationships/oleObject" Target="../embeddings/oleObject11.bin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pn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ชื่อเรื่อง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918648" cy="1829761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Artificial Bee Colony (ABC) Algorithm</a:t>
            </a:r>
            <a:endParaRPr lang="th-TH" dirty="0"/>
          </a:p>
        </p:txBody>
      </p:sp>
      <p:sp>
        <p:nvSpPr>
          <p:cNvPr id="15363" name="ชื่อเรื่องรอง 3"/>
          <p:cNvSpPr>
            <a:spLocks noGrp="1"/>
          </p:cNvSpPr>
          <p:nvPr>
            <p:ph type="subTitle" idx="1"/>
          </p:nvPr>
        </p:nvSpPr>
        <p:spPr>
          <a:xfrm>
            <a:off x="685800" y="3611563"/>
            <a:ext cx="7772400" cy="1200150"/>
          </a:xfrm>
        </p:spPr>
        <p:txBody>
          <a:bodyPr/>
          <a:lstStyle/>
          <a:p>
            <a:pPr marR="0" eaLnBrk="1" hangingPunct="1"/>
            <a:endParaRPr lang="en-US">
              <a:cs typeface="Cordia New" pitchFamily="34" charset="-34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F07FF2D-F3A0-4689-938D-5AC600B601C1}" type="slidenum">
              <a:rPr lang="th-TH" smtClean="0"/>
              <a:pPr>
                <a:defRPr/>
              </a:pPr>
              <a:t>1</a:t>
            </a:fld>
            <a:endParaRPr lang="th-TH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1752600" y="304800"/>
            <a:ext cx="7391400" cy="685800"/>
          </a:xfrm>
        </p:spPr>
        <p:txBody>
          <a:bodyPr/>
          <a:lstStyle/>
          <a:p>
            <a:pPr>
              <a:defRPr/>
            </a:pPr>
            <a:r>
              <a:rPr lang="en-US" sz="3200" dirty="0">
                <a:latin typeface="Book Antiqua" pitchFamily="18" charset="0"/>
              </a:rPr>
              <a:t>Artificial Bee Colony (ABC) </a:t>
            </a:r>
            <a:r>
              <a:rPr lang="en-US" sz="2000" dirty="0">
                <a:solidFill>
                  <a:srgbClr val="FF0000"/>
                </a:solidFill>
                <a:latin typeface="Book Antiqua" pitchFamily="18" charset="0"/>
              </a:rPr>
              <a:t>(History)</a:t>
            </a:r>
          </a:p>
        </p:txBody>
      </p:sp>
      <p:sp>
        <p:nvSpPr>
          <p:cNvPr id="16387" name="Rectangle 8"/>
          <p:cNvSpPr>
            <a:spLocks noChangeArrowheads="1"/>
          </p:cNvSpPr>
          <p:nvPr/>
        </p:nvSpPr>
        <p:spPr bwMode="auto">
          <a:xfrm>
            <a:off x="0" y="1143000"/>
            <a:ext cx="525780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Arial" charset="0"/>
              <a:buChar char="•"/>
            </a:pPr>
            <a:r>
              <a:rPr lang="en-US" sz="3200" dirty="0">
                <a:solidFill>
                  <a:srgbClr val="0070C0"/>
                </a:solidFill>
                <a:latin typeface="Book Antiqua" pitchFamily="18" charset="0"/>
              </a:rPr>
              <a:t> Artificial Bee Colony (ABC) is one of the most recently defined algorithms by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Book Antiqua" pitchFamily="18" charset="0"/>
              </a:rPr>
              <a:t>Dervis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 </a:t>
            </a:r>
            <a:r>
              <a:rPr lang="en-US" sz="3200" dirty="0" err="1">
                <a:solidFill>
                  <a:srgbClr val="FF0000"/>
                </a:solidFill>
                <a:latin typeface="Book Antiqua" pitchFamily="18" charset="0"/>
              </a:rPr>
              <a:t>Karaboga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Book Antiqua" pitchFamily="18" charset="0"/>
              </a:rPr>
              <a:t>in 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2005</a:t>
            </a:r>
            <a:r>
              <a:rPr lang="en-US" sz="3200" dirty="0">
                <a:solidFill>
                  <a:srgbClr val="0070C0"/>
                </a:solidFill>
                <a:latin typeface="Book Antiqua" pitchFamily="18" charset="0"/>
              </a:rPr>
              <a:t>, motivated by the intelligent behavior of </a:t>
            </a:r>
            <a:r>
              <a:rPr lang="en-US" sz="3200" dirty="0">
                <a:solidFill>
                  <a:srgbClr val="FF0000"/>
                </a:solidFill>
                <a:latin typeface="Book Antiqua" pitchFamily="18" charset="0"/>
              </a:rPr>
              <a:t>honey bees.</a:t>
            </a:r>
          </a:p>
          <a:p>
            <a:pPr algn="just"/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</p:txBody>
      </p:sp>
      <p:pic>
        <p:nvPicPr>
          <p:cNvPr id="7" name="Picture 6" descr="karboga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486400" y="1219200"/>
            <a:ext cx="3200400" cy="46482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2</a:t>
            </a:fld>
            <a:endParaRPr lang="th-TH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Artificial Bee Colony</a:t>
            </a:r>
            <a:endParaRPr lang="th-TH" dirty="0"/>
          </a:p>
        </p:txBody>
      </p:sp>
      <p:sp>
        <p:nvSpPr>
          <p:cNvPr id="17411" name="Rectangle 5"/>
          <p:cNvSpPr>
            <a:spLocks noChangeArrowheads="1"/>
          </p:cNvSpPr>
          <p:nvPr/>
        </p:nvSpPr>
        <p:spPr bwMode="auto">
          <a:xfrm>
            <a:off x="0" y="1143000"/>
            <a:ext cx="5257800" cy="526297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The ABC algorithm is a </a:t>
            </a: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swarm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based </a:t>
            </a: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meta-heuristics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algorithm.</a:t>
            </a:r>
          </a:p>
          <a:p>
            <a:pPr algn="just"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 algn="just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It based on the </a:t>
            </a: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foraging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behavior of </a:t>
            </a: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honey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bee colonies.</a:t>
            </a:r>
          </a:p>
          <a:p>
            <a:pPr algn="just"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 algn="just"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The artificial bee colony contains </a:t>
            </a: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three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groups of bee: </a:t>
            </a:r>
          </a:p>
          <a:p>
            <a:pPr algn="just"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Employed bees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Onlookers</a:t>
            </a:r>
          </a:p>
          <a:p>
            <a:pPr algn="just">
              <a:buFont typeface="Wingdings" pitchFamily="2" charset="2"/>
              <a:buChar char="Ø"/>
            </a:pPr>
            <a:r>
              <a:rPr lang="en-US" sz="2400" dirty="0">
                <a:solidFill>
                  <a:srgbClr val="FF0000"/>
                </a:solidFill>
                <a:latin typeface="Book Antiqua" pitchFamily="18" charset="0"/>
              </a:rPr>
              <a:t>Scouts</a:t>
            </a:r>
          </a:p>
          <a:p>
            <a:pPr algn="just"/>
            <a:endParaRPr lang="en-US" sz="2400" dirty="0">
              <a:solidFill>
                <a:srgbClr val="FF0000"/>
              </a:solidFill>
              <a:latin typeface="Book Antiqua" pitchFamily="18" charset="0"/>
            </a:endParaRPr>
          </a:p>
          <a:p>
            <a:pPr algn="just"/>
            <a:endParaRPr lang="en-US" sz="2400" dirty="0">
              <a:latin typeface="Book Antiqua" pitchFamily="18" charset="0"/>
            </a:endParaRPr>
          </a:p>
        </p:txBody>
      </p:sp>
      <p:pic>
        <p:nvPicPr>
          <p:cNvPr id="8" name="Picture 7" descr="6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562600" y="1676400"/>
            <a:ext cx="2971800" cy="3581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3</a:t>
            </a:fld>
            <a:endParaRPr lang="th-TH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63924658-9A06-401D-9C67-AEEA10F3DAEB}" type="slidenum">
              <a:rPr lang="en-US" altLang="zh-TW"/>
              <a:pPr>
                <a:defRPr/>
              </a:pPr>
              <a:t>4</a:t>
            </a:fld>
            <a:endParaRPr lang="en-US" altLang="zh-TW"/>
          </a:p>
        </p:txBody>
      </p:sp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zh-TW" dirty="0"/>
              <a:t>Artificial Bee Colony (ABC) </a:t>
            </a:r>
          </a:p>
        </p:txBody>
      </p:sp>
      <p:sp>
        <p:nvSpPr>
          <p:cNvPr id="1843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914400" y="1600200"/>
            <a:ext cx="7772400" cy="4708525"/>
          </a:xfrm>
        </p:spPr>
        <p:txBody>
          <a:bodyPr/>
          <a:lstStyle/>
          <a:p>
            <a:r>
              <a:rPr lang="en-US" altLang="zh-TW" sz="2400" dirty="0">
                <a:solidFill>
                  <a:schemeClr val="accent2"/>
                </a:solidFill>
                <a:cs typeface="Cordia New" pitchFamily="34" charset="-34"/>
              </a:rPr>
              <a:t>The Employed Bee</a:t>
            </a:r>
            <a:r>
              <a:rPr lang="en-US" altLang="zh-TW" sz="2400" dirty="0">
                <a:cs typeface="Cordia New" pitchFamily="34" charset="-34"/>
              </a:rPr>
              <a:t>:</a:t>
            </a:r>
            <a:br>
              <a:rPr lang="en-US" altLang="zh-TW" sz="2400" dirty="0">
                <a:cs typeface="Cordia New" pitchFamily="34" charset="-34"/>
              </a:rPr>
            </a:br>
            <a:r>
              <a:rPr lang="en-US" altLang="zh-TW" sz="2400" dirty="0">
                <a:cs typeface="Cordia New" pitchFamily="34" charset="-34"/>
              </a:rPr>
              <a:t>It stays on a food source and provides the neighborhood of the source in its memory.</a:t>
            </a:r>
          </a:p>
          <a:p>
            <a:r>
              <a:rPr lang="en-US" altLang="zh-TW" sz="2400" dirty="0">
                <a:solidFill>
                  <a:srgbClr val="00FF00"/>
                </a:solidFill>
                <a:cs typeface="Cordia New" pitchFamily="34" charset="-34"/>
              </a:rPr>
              <a:t>The Onlooker Bee</a:t>
            </a:r>
            <a:r>
              <a:rPr lang="en-US" altLang="zh-TW" sz="2400" dirty="0">
                <a:cs typeface="Cordia New" pitchFamily="34" charset="-34"/>
              </a:rPr>
              <a:t>:</a:t>
            </a:r>
            <a:br>
              <a:rPr lang="en-US" altLang="zh-TW" sz="2400" dirty="0">
                <a:cs typeface="Cordia New" pitchFamily="34" charset="-34"/>
              </a:rPr>
            </a:br>
            <a:r>
              <a:rPr lang="en-US" altLang="zh-TW" sz="2400" dirty="0">
                <a:cs typeface="Cordia New" pitchFamily="34" charset="-34"/>
              </a:rPr>
              <a:t>It gets the information of food sources from the employed bees in the hive and select food sources to gathers the nectar.</a:t>
            </a:r>
          </a:p>
          <a:p>
            <a:r>
              <a:rPr lang="en-US" altLang="zh-TW" sz="2400" dirty="0">
                <a:solidFill>
                  <a:srgbClr val="0033CC"/>
                </a:solidFill>
                <a:cs typeface="Cordia New" pitchFamily="34" charset="-34"/>
              </a:rPr>
              <a:t>The Scout</a:t>
            </a:r>
            <a:r>
              <a:rPr lang="en-US" altLang="zh-TW" sz="2400" dirty="0">
                <a:cs typeface="Cordia New" pitchFamily="34" charset="-34"/>
              </a:rPr>
              <a:t>:</a:t>
            </a:r>
            <a:br>
              <a:rPr lang="en-US" altLang="zh-TW" sz="2400" dirty="0">
                <a:cs typeface="Cordia New" pitchFamily="34" charset="-34"/>
              </a:rPr>
            </a:br>
            <a:r>
              <a:rPr lang="en-US" sz="2400" dirty="0"/>
              <a:t>The employed bee whose food source has been abandoned becomes a scout and starts to search for finding a new food source.</a:t>
            </a:r>
            <a:endParaRPr lang="en-US" altLang="zh-TW" sz="2400" dirty="0">
              <a:cs typeface="Cordia New" pitchFamily="34" charset="-3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1DD7934-C541-ABD7-BFFD-82CD91190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5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456C96F-F426-70A9-01FB-B82287D71A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03334"/>
            <a:ext cx="9144000" cy="4651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3016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3C076B0-E282-5BDA-1596-D697103AC7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6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242019-1799-7402-50AB-4E2259B907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2431"/>
            <a:ext cx="9144000" cy="47131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579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3B015E2-4487-4B5D-4818-7E1FD6F69E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7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1AF47C9-6EEA-E975-6491-346AF67885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284731"/>
            <a:ext cx="9144000" cy="4288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52476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2D0552-CAFF-2041-580D-14F87A462F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8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2CA6C5-4F22-CF62-EA1C-5911FBD084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94534"/>
            <a:ext cx="9144000" cy="30689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3492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734ECA-CBB6-4148-8EC7-185654AE3928}" type="slidenum">
              <a:rPr lang="en-GB"/>
              <a:pPr/>
              <a:t>9</a:t>
            </a:fld>
            <a:endParaRPr lang="en-GB"/>
          </a:p>
        </p:txBody>
      </p:sp>
      <p:sp>
        <p:nvSpPr>
          <p:cNvPr id="228354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2835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5040313"/>
          </a:xfrm>
        </p:spPr>
        <p:txBody>
          <a:bodyPr/>
          <a:lstStyle/>
          <a:p>
            <a:pPr marL="615950" indent="-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b="0" i="0" dirty="0">
                <a:solidFill>
                  <a:srgbClr val="3366CC"/>
                </a:solidFill>
                <a:latin typeface="Arial" charset="0"/>
              </a:rPr>
              <a:t> </a:t>
            </a:r>
            <a:r>
              <a:rPr lang="en-US" sz="3000" i="0" dirty="0">
                <a:solidFill>
                  <a:srgbClr val="3366CC"/>
                </a:solidFill>
                <a:latin typeface="Arial" charset="0"/>
              </a:rPr>
              <a:t>A colony of honey bees</a:t>
            </a:r>
            <a:r>
              <a:rPr lang="en-US" sz="3000" b="0" i="0" dirty="0">
                <a:latin typeface="Arial" charset="0"/>
              </a:rPr>
              <a:t> can extend itself over long distances in multiple directions (more than 10 km). </a:t>
            </a:r>
            <a:endParaRPr lang="en-US" b="0" dirty="0">
              <a:latin typeface="Arial" charset="0"/>
            </a:endParaRPr>
          </a:p>
        </p:txBody>
      </p:sp>
      <p:pic>
        <p:nvPicPr>
          <p:cNvPr id="228357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908175" y="2616200"/>
            <a:ext cx="5472113" cy="347345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567AF1-7D0C-4446-BE0D-F53A556001BA}" type="slidenum">
              <a:rPr lang="en-GB"/>
              <a:pPr/>
              <a:t>10</a:t>
            </a:fld>
            <a:endParaRPr lang="en-GB"/>
          </a:p>
        </p:txBody>
      </p:sp>
      <p:sp>
        <p:nvSpPr>
          <p:cNvPr id="251906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519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5040313"/>
          </a:xfrm>
        </p:spPr>
        <p:txBody>
          <a:bodyPr/>
          <a:lstStyle/>
          <a:p>
            <a:pPr marL="615950" indent="-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200" dirty="0">
                <a:latin typeface="Arial" pitchFamily="34" charset="0"/>
                <a:cs typeface="Arial" pitchFamily="34" charset="0"/>
              </a:rPr>
              <a:t>Employed bees go to their food source.</a:t>
            </a:r>
            <a:endParaRPr lang="en-US" sz="3000" b="0" i="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251908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476375" y="2420938"/>
            <a:ext cx="5888038" cy="357981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ADEDEF-AB91-4D1F-8EF3-6D8E11C54163}" type="slidenum">
              <a:rPr lang="en-GB"/>
              <a:pPr/>
              <a:t>11</a:t>
            </a:fld>
            <a:endParaRPr lang="en-GB"/>
          </a:p>
        </p:txBody>
      </p:sp>
      <p:sp>
        <p:nvSpPr>
          <p:cNvPr id="2304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304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5040313"/>
          </a:xfrm>
        </p:spPr>
        <p:txBody>
          <a:bodyPr/>
          <a:lstStyle/>
          <a:p>
            <a:pPr marL="615950" indent="-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b="0" i="0" dirty="0">
                <a:latin typeface="Arial" charset="0"/>
              </a:rPr>
              <a:t>The employed bees who return to the hive,  </a:t>
            </a:r>
            <a:r>
              <a:rPr lang="en-US" sz="3000" i="0" dirty="0">
                <a:solidFill>
                  <a:srgbClr val="3366CC"/>
                </a:solidFill>
                <a:latin typeface="Arial" charset="0"/>
              </a:rPr>
              <a:t>evaluate</a:t>
            </a:r>
            <a:r>
              <a:rPr lang="en-US" sz="3000" b="0" i="0" dirty="0">
                <a:latin typeface="Arial" charset="0"/>
              </a:rPr>
              <a:t> the different patches depending on certain quality threshold (measured as a combination of some elements, such as sugar content).</a:t>
            </a:r>
          </a:p>
        </p:txBody>
      </p:sp>
      <p:pic>
        <p:nvPicPr>
          <p:cNvPr id="230406" name="Picture 6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67175" y="3213100"/>
            <a:ext cx="4792663" cy="3044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2919D2-8460-45F8-BCE2-5935D3CB5490}" type="slidenum">
              <a:rPr lang="en-GB"/>
              <a:pPr/>
              <a:t>12</a:t>
            </a:fld>
            <a:endParaRPr lang="en-GB"/>
          </a:p>
        </p:txBody>
      </p:sp>
      <p:sp>
        <p:nvSpPr>
          <p:cNvPr id="256002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5600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5040313"/>
          </a:xfrm>
        </p:spPr>
        <p:txBody>
          <a:bodyPr/>
          <a:lstStyle/>
          <a:p>
            <a:pPr marL="615950" indent="-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b="0" i="0" dirty="0">
                <a:latin typeface="Arial" charset="0"/>
              </a:rPr>
              <a:t>They go to the </a:t>
            </a:r>
            <a:r>
              <a:rPr lang="en-US" sz="3000" b="0" i="0" dirty="0">
                <a:latin typeface="Times New Roman"/>
              </a:rPr>
              <a:t>“</a:t>
            </a:r>
            <a:r>
              <a:rPr lang="en-US" sz="3000" i="0" dirty="0">
                <a:solidFill>
                  <a:srgbClr val="3366CC"/>
                </a:solidFill>
                <a:latin typeface="Arial" charset="0"/>
              </a:rPr>
              <a:t>dance floor</a:t>
            </a:r>
            <a:r>
              <a:rPr lang="en-US" sz="3000" b="0" i="0" dirty="0">
                <a:latin typeface="Times New Roman"/>
              </a:rPr>
              <a:t>”</a:t>
            </a:r>
            <a:r>
              <a:rPr lang="en-US" sz="3000" b="0" i="0" dirty="0">
                <a:latin typeface="Arial" charset="0"/>
              </a:rPr>
              <a:t> to perform a </a:t>
            </a:r>
            <a:r>
              <a:rPr lang="en-US" sz="3000" b="0" i="0" dirty="0">
                <a:latin typeface="Times New Roman"/>
              </a:rPr>
              <a:t>“</a:t>
            </a:r>
            <a:r>
              <a:rPr lang="en-US" sz="3000" b="0" i="0" dirty="0">
                <a:latin typeface="Arial" charset="0"/>
              </a:rPr>
              <a:t>waggle dance</a:t>
            </a:r>
            <a:r>
              <a:rPr lang="en-US" sz="3000" b="0" i="0" dirty="0">
                <a:latin typeface="Times New Roman"/>
              </a:rPr>
              <a:t>”</a:t>
            </a:r>
            <a:endParaRPr lang="en-US" sz="3000" b="0" i="0" dirty="0">
              <a:latin typeface="Arial" charset="0"/>
            </a:endParaRPr>
          </a:p>
        </p:txBody>
      </p:sp>
      <p:pic>
        <p:nvPicPr>
          <p:cNvPr id="25600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331913" y="2781300"/>
            <a:ext cx="6305550" cy="334168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D18905-3A36-456F-885F-C960165D6900}" type="slidenum">
              <a:rPr lang="en-GB"/>
              <a:pPr/>
              <a:t>13</a:t>
            </a:fld>
            <a:endParaRPr lang="en-GB"/>
          </a:p>
        </p:txBody>
      </p:sp>
      <p:sp>
        <p:nvSpPr>
          <p:cNvPr id="2344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344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5040313"/>
          </a:xfrm>
        </p:spPr>
        <p:txBody>
          <a:bodyPr/>
          <a:lstStyle/>
          <a:p>
            <a:pPr marL="615950" indent="-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b="0" i="0" dirty="0">
                <a:latin typeface="Arial" charset="0"/>
              </a:rPr>
              <a:t>Bees </a:t>
            </a:r>
            <a:r>
              <a:rPr lang="en-US" sz="3000" i="0" dirty="0">
                <a:solidFill>
                  <a:srgbClr val="3366CC"/>
                </a:solidFill>
                <a:latin typeface="Arial" charset="0"/>
              </a:rPr>
              <a:t>communicate</a:t>
            </a:r>
            <a:r>
              <a:rPr lang="en-US" sz="3000" b="0" i="0" dirty="0">
                <a:latin typeface="Arial" charset="0"/>
              </a:rPr>
              <a:t> through this </a:t>
            </a:r>
            <a:r>
              <a:rPr lang="en-US" sz="3000" b="0" i="0" dirty="0">
                <a:solidFill>
                  <a:srgbClr val="C00000"/>
                </a:solidFill>
                <a:latin typeface="Arial" charset="0"/>
              </a:rPr>
              <a:t>waggle dance</a:t>
            </a:r>
            <a:r>
              <a:rPr lang="en-US" sz="3000" b="0" i="0" dirty="0">
                <a:latin typeface="Arial" charset="0"/>
              </a:rPr>
              <a:t> which contains the following information: </a:t>
            </a:r>
          </a:p>
          <a:p>
            <a:pPr marL="2957513" lvl="2" indent="-457200" algn="just">
              <a:spcBef>
                <a:spcPct val="0"/>
              </a:spcBef>
              <a:buFontTx/>
              <a:buAutoNum type="arabicPeriod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3366CC"/>
                </a:solidFill>
              </a:rPr>
              <a:t>direction</a:t>
            </a:r>
            <a:r>
              <a:rPr lang="en-US" sz="2800" dirty="0"/>
              <a:t> of flower patches (angle between the sun and the flower patch)</a:t>
            </a:r>
          </a:p>
          <a:p>
            <a:pPr marL="2957513" lvl="2" indent="-457200" algn="just">
              <a:spcBef>
                <a:spcPct val="0"/>
              </a:spcBef>
              <a:buFontTx/>
              <a:buAutoNum type="arabicPeriod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3366CC"/>
                </a:solidFill>
              </a:rPr>
              <a:t>distance</a:t>
            </a:r>
            <a:r>
              <a:rPr lang="en-US" sz="2800" dirty="0"/>
              <a:t> from the hive (duration of the dance)</a:t>
            </a:r>
          </a:p>
          <a:p>
            <a:pPr marL="2957513" lvl="2" indent="-457200" algn="just">
              <a:spcBef>
                <a:spcPct val="0"/>
              </a:spcBef>
              <a:buFontTx/>
              <a:buAutoNum type="arabicPeriod"/>
            </a:pPr>
            <a:r>
              <a:rPr lang="en-US" sz="2800" dirty="0"/>
              <a:t>The </a:t>
            </a:r>
            <a:r>
              <a:rPr lang="en-US" sz="2800" b="1" dirty="0">
                <a:solidFill>
                  <a:srgbClr val="3366CC"/>
                </a:solidFill>
              </a:rPr>
              <a:t>quality</a:t>
            </a:r>
            <a:r>
              <a:rPr lang="en-US" sz="2800" dirty="0"/>
              <a:t> rating (fitness) (frequency of the dance)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9FF75-4291-4959-A38B-E4708B0B1676}" type="slidenum">
              <a:rPr lang="en-GB"/>
              <a:pPr/>
              <a:t>14</a:t>
            </a:fld>
            <a:endParaRPr lang="en-GB"/>
          </a:p>
        </p:txBody>
      </p:sp>
      <p:sp>
        <p:nvSpPr>
          <p:cNvPr id="258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58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2736081"/>
          </a:xfrm>
        </p:spPr>
        <p:txBody>
          <a:bodyPr/>
          <a:lstStyle/>
          <a:p>
            <a:pPr marL="615950" indent="-615950" defTabSz="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b="0" i="0" dirty="0">
                <a:latin typeface="Arial" charset="0"/>
              </a:rPr>
              <a:t>These information helps the colony to send its bees precisely</a:t>
            </a:r>
          </a:p>
          <a:p>
            <a:pPr marL="615950" indent="-615950" defTabSz="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i="0" dirty="0">
                <a:solidFill>
                  <a:srgbClr val="3366CC"/>
                </a:solidFill>
                <a:latin typeface="Arial" charset="0"/>
              </a:rPr>
              <a:t>Follower bees (onlooker bees)</a:t>
            </a:r>
            <a:r>
              <a:rPr lang="en-US" sz="3000" b="0" i="0" dirty="0">
                <a:latin typeface="Arial" charset="0"/>
              </a:rPr>
              <a:t> go after the dancer bee (employed bees) to the patch to gather food efficiently and quickly</a:t>
            </a:r>
            <a:endParaRPr lang="en-US" sz="3000" b="0" dirty="0">
              <a:latin typeface="Arial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D2785E-12AA-443F-8FED-043FA5E578DE}" type="slidenum">
              <a:rPr lang="en-GB"/>
              <a:pPr/>
              <a:t>15</a:t>
            </a:fld>
            <a:endParaRPr lang="en-GB"/>
          </a:p>
        </p:txBody>
      </p:sp>
      <p:sp>
        <p:nvSpPr>
          <p:cNvPr id="260098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43000"/>
          </a:xfrm>
        </p:spPr>
        <p:txBody>
          <a:bodyPr/>
          <a:lstStyle/>
          <a:p>
            <a:r>
              <a:rPr lang="en-GB"/>
              <a:t>Bees in Nature</a:t>
            </a:r>
          </a:p>
        </p:txBody>
      </p:sp>
      <p:sp>
        <p:nvSpPr>
          <p:cNvPr id="260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23850" y="1196975"/>
            <a:ext cx="8424863" cy="5040313"/>
          </a:xfrm>
        </p:spPr>
        <p:txBody>
          <a:bodyPr/>
          <a:lstStyle/>
          <a:p>
            <a:pPr marL="615950" indent="-61595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b="0" i="0" dirty="0">
                <a:latin typeface="Arial" charset="0"/>
              </a:rPr>
              <a:t>Thus, according to the fitness, patches can be </a:t>
            </a:r>
            <a:r>
              <a:rPr lang="en-US" sz="3000" b="0" i="0" dirty="0">
                <a:solidFill>
                  <a:srgbClr val="C00000"/>
                </a:solidFill>
                <a:latin typeface="Arial" charset="0"/>
              </a:rPr>
              <a:t>visited by more bees or may be abandoned</a:t>
            </a:r>
          </a:p>
          <a:p>
            <a:pPr marL="615950" indent="-615950" algn="just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US" sz="3000" dirty="0">
                <a:latin typeface="Arial" pitchFamily="34" charset="0"/>
                <a:cs typeface="Arial" pitchFamily="34" charset="0"/>
              </a:rPr>
              <a:t>The </a:t>
            </a:r>
            <a:r>
              <a:rPr lang="en-US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employed bee 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whose food source has been </a:t>
            </a:r>
            <a:r>
              <a:rPr lang="en-US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abandoned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becomes a </a:t>
            </a:r>
            <a:r>
              <a:rPr lang="en-US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scout</a:t>
            </a:r>
            <a:r>
              <a:rPr lang="en-US" sz="3000" dirty="0">
                <a:latin typeface="Arial" pitchFamily="34" charset="0"/>
                <a:cs typeface="Arial" pitchFamily="34" charset="0"/>
              </a:rPr>
              <a:t> and starts to search for finding a </a:t>
            </a:r>
            <a:r>
              <a:rPr lang="en-US" sz="30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new food source</a:t>
            </a:r>
            <a:endParaRPr lang="en-US" sz="3000" b="0" i="0" dirty="0">
              <a:solidFill>
                <a:srgbClr val="C00000"/>
              </a:solidFill>
              <a:latin typeface="Arial" pitchFamily="34" charset="0"/>
              <a:cs typeface="Arial" pitchFamily="34" charset="0"/>
            </a:endParaRPr>
          </a:p>
        </p:txBody>
      </p:sp>
      <p:pic>
        <p:nvPicPr>
          <p:cNvPr id="260100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14282" y="4143380"/>
            <a:ext cx="8532813" cy="17875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E00222-E07A-463F-390E-4B9056410E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16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8FD690A-454F-2A07-66BC-7258767F8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534" y="27383"/>
            <a:ext cx="9144000" cy="383366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78C1947-FA97-DA25-08A5-ACF7D9603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534" y="3645024"/>
            <a:ext cx="9144000" cy="3212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680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/>
              <a:t>Bees in Nature</a:t>
            </a:r>
            <a:endParaRPr lang="th-TH" sz="2000" dirty="0"/>
          </a:p>
        </p:txBody>
      </p:sp>
      <p:sp>
        <p:nvSpPr>
          <p:cNvPr id="20483" name="TextBox 3"/>
          <p:cNvSpPr txBox="1">
            <a:spLocks noChangeArrowheads="1"/>
          </p:cNvSpPr>
          <p:nvPr/>
        </p:nvSpPr>
        <p:spPr bwMode="auto">
          <a:xfrm>
            <a:off x="1187450" y="6540500"/>
            <a:ext cx="7848600" cy="24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r"/>
            <a:r>
              <a:rPr lang="en-US" sz="1000">
                <a:latin typeface="Lucida Sans Unicode" pitchFamily="34" charset="0"/>
                <a:cs typeface="Cordia New" pitchFamily="34" charset="-34"/>
              </a:rPr>
              <a:t>Picture form www.acclaimclipart.com , www.computerclipart.com</a:t>
            </a:r>
            <a:endParaRPr lang="th-TH" sz="1000">
              <a:latin typeface="Lucida Sans Unicode" pitchFamily="34" charset="0"/>
              <a:cs typeface="Cordia New" pitchFamily="34" charset="-34"/>
            </a:endParaRPr>
          </a:p>
        </p:txBody>
      </p:sp>
      <p:grpSp>
        <p:nvGrpSpPr>
          <p:cNvPr id="20484" name="Group 7"/>
          <p:cNvGrpSpPr>
            <a:grpSpLocks/>
          </p:cNvGrpSpPr>
          <p:nvPr/>
        </p:nvGrpSpPr>
        <p:grpSpPr bwMode="auto">
          <a:xfrm>
            <a:off x="3000375" y="2071688"/>
            <a:ext cx="2643188" cy="2643187"/>
            <a:chOff x="3000364" y="2071678"/>
            <a:chExt cx="2643206" cy="2643206"/>
          </a:xfrm>
        </p:grpSpPr>
        <p:sp>
          <p:nvSpPr>
            <p:cNvPr id="5" name="Rounded Rectangle 4"/>
            <p:cNvSpPr/>
            <p:nvPr/>
          </p:nvSpPr>
          <p:spPr>
            <a:xfrm>
              <a:off x="3143240" y="2214554"/>
              <a:ext cx="2500330" cy="2500330"/>
            </a:xfrm>
            <a:prstGeom prst="roundRect">
              <a:avLst/>
            </a:prstGeom>
          </p:spPr>
          <p:style>
            <a:lnRef idx="2">
              <a:schemeClr val="accent3"/>
            </a:lnRef>
            <a:fillRef idx="1">
              <a:schemeClr val="lt1"/>
            </a:fillRef>
            <a:effectRef idx="0">
              <a:schemeClr val="accent3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/>
            </a:p>
          </p:txBody>
        </p:sp>
        <p:sp>
          <p:nvSpPr>
            <p:cNvPr id="7" name="Rectangle 6"/>
            <p:cNvSpPr/>
            <p:nvPr/>
          </p:nvSpPr>
          <p:spPr>
            <a:xfrm>
              <a:off x="3000364" y="2071678"/>
              <a:ext cx="785818" cy="35719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3"/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sz="2000" dirty="0"/>
                <a:t>Hive</a:t>
              </a:r>
              <a:endParaRPr lang="th-TH" sz="2000" dirty="0"/>
            </a:p>
          </p:txBody>
        </p:sp>
      </p:grpSp>
      <p:sp>
        <p:nvSpPr>
          <p:cNvPr id="9" name="Oval 8"/>
          <p:cNvSpPr/>
          <p:nvPr/>
        </p:nvSpPr>
        <p:spPr>
          <a:xfrm>
            <a:off x="3357563" y="2428875"/>
            <a:ext cx="2071687" cy="2071688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cxnSp>
        <p:nvCxnSpPr>
          <p:cNvPr id="11" name="Straight Connector 10"/>
          <p:cNvCxnSpPr>
            <a:stCxn id="9" idx="2"/>
            <a:endCxn id="9" idx="6"/>
          </p:cNvCxnSpPr>
          <p:nvPr/>
        </p:nvCxnSpPr>
        <p:spPr>
          <a:xfrm rot="10800000" flipH="1">
            <a:off x="3357563" y="3465513"/>
            <a:ext cx="2071687" cy="1587"/>
          </a:xfrm>
          <a:prstGeom prst="line">
            <a:avLst/>
          </a:prstGeom>
          <a:ln w="38100"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20487" name="TextBox 11"/>
          <p:cNvSpPr txBox="1">
            <a:spLocks noChangeArrowheads="1"/>
          </p:cNvSpPr>
          <p:nvPr/>
        </p:nvSpPr>
        <p:spPr bwMode="auto">
          <a:xfrm>
            <a:off x="3857625" y="2786063"/>
            <a:ext cx="1285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Lucida Sans Unicode" pitchFamily="34" charset="0"/>
                <a:cs typeface="Cordia New" pitchFamily="34" charset="-34"/>
              </a:rPr>
              <a:t>Dancing area for A</a:t>
            </a:r>
            <a:endParaRPr lang="th-TH" sz="160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20488" name="TextBox 12"/>
          <p:cNvSpPr txBox="1">
            <a:spLocks noChangeArrowheads="1"/>
          </p:cNvSpPr>
          <p:nvPr/>
        </p:nvSpPr>
        <p:spPr bwMode="auto">
          <a:xfrm>
            <a:off x="3857625" y="3630613"/>
            <a:ext cx="1285875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Lucida Sans Unicode" pitchFamily="34" charset="0"/>
                <a:cs typeface="Cordia New" pitchFamily="34" charset="-34"/>
              </a:rPr>
              <a:t>Dancing area for B</a:t>
            </a:r>
            <a:endParaRPr lang="th-TH" sz="1600">
              <a:latin typeface="Lucida Sans Unicode" pitchFamily="34" charset="0"/>
              <a:cs typeface="Cordia New" pitchFamily="34" charset="-34"/>
            </a:endParaRPr>
          </a:p>
        </p:txBody>
      </p:sp>
      <p:pic>
        <p:nvPicPr>
          <p:cNvPr id="20489" name="Picture 3" descr="D:\study\PSO\flower_0071-0905-2918-2708_TN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86563" y="928688"/>
            <a:ext cx="1270000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0" name="Picture 4" descr="D:\study\PSO\flower_0071-0905-2918-2709_TN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063" y="928688"/>
            <a:ext cx="1270000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1" name="Picture 5" descr="D:\study\PSO\flower_0071-0905-2918-2706_TN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2938" y="5286375"/>
            <a:ext cx="1270000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492" name="Picture 6" descr="D:\study\PSO\flower_0071-0905-2918-2710_TN.jpg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072188" y="4929188"/>
            <a:ext cx="1270000" cy="123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7" name="Picture 7" descr="D:\study\PSO\black_and_white_be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2439988" y="2714625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1" descr="D:\study\PSO\brightly_colored_cartoon_honey_bee_on_the_wing_0071-0905-2616-0022_T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072313" y="1143000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7" descr="D:\study\PSO\black_and_white_bee.JPG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511800" y="3571875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1" descr="D:\study\PSO\brightly_colored_cartoon_honey_bee_on_the_wing_0071-0905-2616-0022_TN.jpg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6357938" y="5214938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3" descr="D:\study\PSO\sweet_cute_cartoon_honey_bee_buzzing_around_0071-0905-2616-0023_TN.jpg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401888" y="3571875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2" descr="D:\study\PSO\cartoon_honey_bee_flying_around_0071-0905-2616-0020_TN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143250" y="3929063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2" descr="D:\study\PSO\cartoon_honey_bee_flying_around_0071-0905-2616-0020_TN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000625" y="2071688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2" descr="D:\study\PSO\cartoon_honey_bee_flying_around_0071-0905-2616-0020_TN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4071938" y="1785938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2" descr="D:\study\PSO\cartoon_honey_bee_flying_around_0071-0905-2616-0020_TN.jpg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3929063" y="4214813"/>
            <a:ext cx="669925" cy="72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17</a:t>
            </a:fld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11 0.00116 C 0.02049 -0.0081 -0.00121 0.00116 -0.02118 -0.00741 C -0.02951 -0.01482 -0.03559 -0.02477 -0.04548 -0.02894 C -0.04653 -0.03102 -0.04722 -0.0338 -0.04861 -0.03542 C -0.05156 -0.03889 -0.05833 -0.04398 -0.05833 -0.04398 C -0.0618 -0.05116 -0.06597 -0.0544 -0.06962 -0.06134 C -0.0717 -0.07014 -0.07534 -0.07338 -0.0809 -0.07847 C -0.08194 -0.0831 -0.08559 -0.08657 -0.08576 -0.09144 C -0.08698 -0.1169 -0.08403 -0.15718 -0.06632 -0.17315 C -0.06163 -0.18611 -0.05225 -0.19444 -0.04219 -0.19884 C -0.03837 -0.20232 -0.03489 -0.20671 -0.0309 -0.20972 C -0.02934 -0.21088 -0.0276 -0.21088 -0.02604 -0.21181 C -0.02378 -0.21296 -0.0217 -0.21458 -0.01962 -0.2162 C -0.01232 -0.22222 -0.00729 -0.2294 -0.00017 -0.23542 C 0.00087 -0.2375 0.00209 -0.23958 0.00295 -0.2419 C 0.00365 -0.24398 0.00295 -0.24745 0.00452 -0.24838 C 0.00608 -0.24931 0.00781 -0.24699 0.00938 -0.2463 C 0.01736 -0.23935 0.0217 -0.23403 0.03038 -0.23125 C 0.03976 -0.21875 0.0533 -0.21829 0.0658 -0.2162 C 0.075 -0.2169 0.0842 -0.21597 0.09323 -0.21829 C 0.10018 -0.22014 0.10591 -0.22662 0.11268 -0.22894 C 0.12726 -0.23889 0.14479 -0.24537 0.16111 -0.24838 C 0.16684 -0.25093 0.17882 -0.25486 0.17882 -0.25486 C 0.21354 -0.25255 0.20313 -0.25671 0.2224 -0.24398 C 0.23125 -0.22847 0.24584 -0.21991 0.25938 -0.21389 C 0.26528 -0.21134 0.27726 -0.20741 0.27726 -0.20741 C 0.28507 -0.20046 0.29479 -0.19838 0.30295 -0.19236 C 0.31268 -0.18519 0.32118 -0.17454 0.33195 -0.17107 C 0.34323 -0.16088 0.33837 -0.16505 0.34653 -0.1581 C 0.35209 -0.15324 0.35643 -0.14444 0.3625 -0.14074 C 0.36667 -0.13843 0.37118 -0.13843 0.37552 -0.13657 C 0.39202 -0.1419 0.40677 -0.14537 0.42396 -0.14722 C 0.43281 -0.15139 0.43125 -0.16042 0.44011 -0.16458 C 0.44757 -0.17222 0.45434 -0.17477 0.46268 -0.17963 C 0.46841 -0.18287 0.47292 -0.18773 0.47882 -0.19028 C 0.48212 -0.19306 0.48577 -0.19514 0.48854 -0.19884 C 0.49011 -0.20093 0.49132 -0.20394 0.49323 -0.20532 C 0.49514 -0.20671 0.49757 -0.20671 0.49983 -0.20741 C 0.50712 -0.22222 0.50625 -0.21528 0.50625 -0.22685 " pathEditMode="relative" ptsTypes="ffffffffffffffffffffffffffffffffffffffA">
                                      <p:cBhvr>
                                        <p:cTn id="6" dur="3000" fill="hold"/>
                                        <p:tgtEl>
                                          <p:spTgt spid="51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3941 -0.00347 C -0.00833 -0.00278 0.04705 -0.01551 0.07986 0.01366 C 0.0809 0.01574 0.08299 0.01759 0.08316 0.02014 C 0.08368 0.0294 0.08194 0.03889 0.0816 0.04815 C 0.0809 0.06389 0.08125 0.07963 0.07986 0.09537 C 0.07934 0.10069 0.07708 0.10579 0.07517 0.11042 C 0.07326 0.11505 0.06858 0.12338 0.06858 0.12338 C 0.06441 0.14028 0.06302 0.16412 0.07517 0.175 C 0.07569 0.17708 0.07622 0.1794 0.07674 0.18148 C 0.07726 0.18426 0.0776 0.18727 0.0783 0.19005 C 0.07934 0.19444 0.0816 0.20301 0.0816 0.20301 C 0.08316 0.22893 0.07847 0.2331 0.09601 0.2331 " pathEditMode="relative" ptsTypes="fffffffffffA">
                                      <p:cBhvr>
                                        <p:cTn id="8" dur="3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2" dur="500"/>
                                        <p:tgtEl>
                                          <p:spTgt spid="51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1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C -0.0125 0.00325 -0.01527 0.00996 -0.02569 0.01713 C -0.03177 0.02917 -0.03906 0.03959 -0.04514 0.05162 C -0.04809 0.06343 -0.05746 0.07524 -0.06284 0.08588 C -0.07482 0.10996 -0.08559 0.125 -0.10156 0.14399 C -0.11371 0.15857 -0.11284 0.16019 -0.12569 0.16991 C -0.13402 0.17616 -0.14062 0.18403 -0.15 0.18704 C -0.19288 0.22385 -0.25503 0.20417 -0.3 0.20417 " pathEditMode="relative" ptsTypes="fffffffA">
                                      <p:cBhvr>
                                        <p:cTn id="2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88889E-6 -2.96296E-6 C -0.0283 0.00718 -0.05399 0.02709 -0.08246 0.03426 C -0.09271 0.04352 -0.1059 0.04931 -0.11771 0.05371 C -0.13264 0.05926 -0.13889 0.06412 -0.15503 0.06667 C -0.16649 0.07639 -0.19583 0.0794 -0.20972 0.08172 C -0.26615 0.08056 -0.30521 0.07871 -0.35642 0.07523 C -0.35972 0.07662 -0.36285 0.07801 -0.36615 0.0794 C -0.36944 0.08079 -0.37274 0.07662 -0.37587 0.07523 C -0.38281 0.07223 -0.38958 0.06898 -0.39687 0.06667 C -0.41059 0.05741 -0.39496 0.06667 -0.41285 0.06019 C -0.43212 0.05301 -0.45104 0.04491 -0.47101 0.04074 C -0.55816 0.04352 -0.5184 0.04306 -0.59028 0.04306 " pathEditMode="relative" ptsTypes="fffffffffffA">
                                      <p:cBhvr>
                                        <p:cTn id="3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2.59259E-6 C -0.00382 -0.00069 -0.00764 -0.00162 -0.01146 -0.00208 C -0.02222 -0.00301 -0.03299 -0.00301 -0.04358 -0.00416 C -0.04809 -0.00463 -0.05226 -0.00764 -0.0566 -0.00856 C -0.08281 -0.01435 -0.06962 -0.01041 -0.08403 -0.01504 C -0.09063 -0.02106 -0.09583 -0.02685 -0.1033 -0.03009 C -0.10851 -0.03472 -0.11111 -0.04028 -0.11615 -0.04514 C -0.11962 -0.05208 -0.12431 -0.05717 -0.12743 -0.06458 C -0.13229 -0.07592 -0.13663 -0.08819 -0.14201 -0.09884 C -0.14479 -0.10972 -0.1474 -0.12037 -0.15 -0.13125 C -0.15122 -0.13611 -0.1566 -0.14398 -0.1566 -0.14398 C -0.15764 -0.14838 -0.15868 -0.15254 -0.15972 -0.15694 C -0.16024 -0.15903 -0.16146 -0.16342 -0.16146 -0.16342 C -0.16198 -0.18703 -0.16215 -0.21088 -0.16302 -0.23449 C -0.1632 -0.23866 -0.16406 -0.25046 -0.16615 -0.25578 C -0.17014 -0.2662 -0.17483 -0.27592 -0.17917 -0.28611 C -0.18229 -0.29328 -0.18177 -0.29514 -0.18559 -0.30116 C -0.19063 -0.30903 -0.19028 -0.30486 -0.19358 -0.31389 C -0.19931 -0.3294 -0.1901 -0.30995 -0.19844 -0.32893 C -0.20035 -0.33333 -0.20278 -0.3375 -0.20486 -0.3419 C -0.2059 -0.34398 -0.20816 -0.34838 -0.20816 -0.34838 " pathEditMode="relative" ptsTypes="ffffffffffffffffffffA">
                                      <p:cBhvr>
                                        <p:cTn id="36" dur="2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59027 0.04306 C -0.58593 0.02547 -0.58142 0.02084 -0.57413 0.0044 C -0.5585 -0.03055 -0.53211 -0.05717 -0.50312 -0.06874 C -0.49288 -0.07291 -0.48125 -0.0736 -0.471 -0.07731 C -0.46128 -0.08078 -0.45156 -0.08286 -0.44184 -0.0861 C -0.43854 -0.08726 -0.43559 -0.08981 -0.43229 -0.09027 C -0.42187 -0.09166 -0.41597 -0.09189 -0.40642 -0.09467 C -0.39704 -0.09745 -0.38941 -0.1037 -0.38055 -0.1074 C -0.37534 -0.11805 -0.36875 -0.1236 -0.36128 -0.13124 C -0.35763 -0.14675 -0.35225 -0.16041 -0.34357 -0.17198 C -0.34149 -0.17985 -0.33993 -0.18333 -0.34184 -0.19143 C -0.33767 -0.19999 -0.33437 -0.20393 -0.32743 -0.20856 C -0.32257 -0.21805 -0.31961 -0.21527 -0.31284 -0.22152 C -0.30243 -0.24305 -0.27829 -0.23865 -0.26284 -0.24953 " pathEditMode="relative" ptsTypes="fffffffffffffA">
                                      <p:cBhvr>
                                        <p:cTn id="4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3 0.20417 C -0.30209 0.19561 -0.30486 0.19121 -0.30955 0.18473 C -0.31163 0.17454 -0.31441 0.16505 -0.32084 0.15903 C -0.32743 0.17616 -0.32726 0.1963 -0.33056 0.21505 C -0.33334 0.20371 -0.33403 0.19514 -0.33872 0.18473 C -0.33924 0.18195 -0.3382 0.17686 -0.34028 0.17616 C -0.34254 0.17547 -0.34375 0.1801 -0.34514 0.18264 C -0.34775 0.18751 -0.34896 0.19399 -0.35 0.19977 C -0.3507 0.20348 -0.35157 0.21065 -0.35157 0.21065 C -0.35209 0.20556 -0.35243 0.20047 -0.35313 0.19561 C -0.35347 0.19329 -0.35313 0.18959 -0.35486 0.18913 C -0.35729 0.18843 -0.3592 0.19214 -0.36129 0.19352 C -0.36354 0.20278 -0.36493 0.21181 -0.36615 0.2213 C -0.36667 0.20996 -0.3658 0.19815 -0.36771 0.18704 C -0.36806 0.1845 -0.37014 0.19121 -0.37084 0.19352 C -0.3717 0.1963 -0.37205 0.19931 -0.37257 0.20209 C -0.37413 0.21042 -0.37709 0.2176 -0.379 0.2257 C -0.38143 0.16852 -0.38091 0.18635 -0.38386 0.20857 C -0.38403 0.20764 -0.38559 0.19352 -0.38872 0.19352 C -0.39063 0.19352 -0.39097 0.19746 -0.39184 0.19977 C -0.39584 0.21019 -0.39827 0.22501 -0.39827 0.23635 " pathEditMode="relative" ptsTypes="ffffffffffffffffffffA">
                                      <p:cBhvr>
                                        <p:cTn id="58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5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6284 -0.24953 C -0.26023 -0.2581 -0.25867 -0.26666 -0.25624 -0.27523 C -0.2552 -0.26296 -0.25485 -0.25069 -0.25312 -0.23865 C -0.2526 -0.23541 -0.25208 -0.23102 -0.24982 -0.23009 C -0.24826 -0.2294 -0.24878 -0.23449 -0.24826 -0.23657 C -0.24374 -0.25879 -0.24721 -0.24768 -0.24183 -0.2625 C -0.23645 -0.29537 -0.24513 -0.24699 -0.23853 -0.22592 C -0.23628 -0.21875 -0.23211 -0.24745 -0.23211 -0.24745 C -0.23159 -0.25092 -0.23142 -0.25463 -0.23055 -0.2581 C -0.22968 -0.2618 -0.22794 -0.27268 -0.22725 -0.26898 C -0.22499 -0.25625 -0.22621 -0.24305 -0.22569 -0.23009 C -0.22152 -0.24097 -0.21944 -0.25185 -0.2144 -0.2625 C -0.21388 -0.26527 -0.21197 -0.27361 -0.21284 -0.27106 C -0.21423 -0.2669 -0.21596 -0.2581 -0.21596 -0.2581 C -0.21648 -0.24815 -0.21666 -0.23796 -0.21753 -0.22801 C -0.2177 -0.225 -0.22048 -0.2169 -0.21926 -0.21944 C -0.21579 -0.22662 -0.21371 -0.23518 -0.2111 -0.24305 C -0.20989 -0.24652 -0.20885 -0.25023 -0.20798 -0.25393 C -0.20728 -0.25671 -0.20624 -0.26551 -0.20624 -0.2625 C -0.20624 -0.2574 -0.20746 -0.25254 -0.20798 -0.24745 C -0.2085 -0.23449 -0.20954 -0.22152 -0.20954 -0.20856 C -0.20954 -0.20625 -0.20867 -0.21296 -0.20798 -0.21504 C -0.20017 -0.23912 -0.20954 -0.2044 -0.20138 -0.23657 C -0.19947 -0.24398 -0.20138 -0.22083 -0.20138 -0.21296 " pathEditMode="relative" ptsTypes="fffffffffffffffffffffffA">
                                      <p:cBhvr>
                                        <p:cTn id="60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6 5.18519E-6 C 0.00851 -0.00925 0.01771 -0.01342 0.02813 -0.01805 C 0.04688 -0.02638 0.06667 -0.03263 0.08646 -0.03471 C 0.11719 -0.0324 0.13264 -0.0324 0.15834 -0.01527 C 0.16389 -0.00416 0.15781 -0.01596 0.15834 -0.01666 C 0.16007 -0.01828 0.1625 -0.01573 0.16459 -0.01527 C 0.16962 -0.00647 0.17327 0.00047 0.17709 0.00973 C 0.18021 0.01714 0.17847 0.01575 0.18021 0.02362 C 0.18316 0.03635 0.18611 0.04908 0.19063 0.06112 C 0.19202 0.07779 0.19653 0.09885 0.20417 0.11251 C 0.20625 0.12107 0.20799 0.1264 0.20938 0.13612 C 0.20972 0.13843 0.21042 0.14306 0.21042 0.14306 C 0.21181 0.16413 0.21007 0.15441 0.21459 0.17223 C 0.21528 0.17501 0.21667 0.18056 0.21667 0.18056 C 0.21771 0.19492 0.21945 0.20857 0.22292 0.22223 C 0.22361 0.23612 0.22483 0.25047 0.22813 0.2639 C 0.22882 0.31853 0.22379 0.35649 0.24063 0.4014 C 0.24202 0.41297 0.24618 0.42292 0.25 0.43334 C 0.25174 0.44468 0.25347 0.45487 0.25729 0.46529 C 0.25938 0.47964 0.25278 0.50579 0.26354 0.50834 C 0.27969 0.51204 0.30625 0.4764 0.30625 0.4764 " pathEditMode="relative" ptsTypes="ffffffffffffffffffffA">
                                      <p:cBhvr>
                                        <p:cTn id="64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5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-3.7037E-6 C 0.02327 0.02084 0.04688 0.0375 0.07188 0.05417 C 0.08177 0.06088 0.09028 0.06644 0.10104 0.07084 C 0.10955 0.07801 0.11788 0.08079 0.12709 0.08611 C 0.14584 0.09676 0.15955 0.10486 0.18021 0.10834 C 0.18247 0.10949 0.19584 0.11783 0.19688 0.11806 C 0.20139 0.11875 0.2059 0.11806 0.21042 0.11806 " pathEditMode="relative" ptsTypes="ffffffA">
                                      <p:cBhvr>
                                        <p:cTn id="66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6.2963E-6 C 0.00243 -0.00485 0.00504 -0.01018 0.00729 -0.01527 C 0.01111 -0.02407 0.01233 -0.0331 0.01875 -0.03888 C 0.02361 -0.05161 0.01719 -0.0368 0.03021 -0.05416 C 0.03976 -0.06689 0.05209 -0.07546 0.06354 -0.08472 C 0.08507 -0.10231 0.10556 -0.12106 0.12813 -0.1361 C 0.13611 -0.14143 0.14323 -0.15115 0.15209 -0.15416 C 0.15643 -0.15763 0.16111 -0.16226 0.16563 -0.16527 C 0.17031 -0.16828 0.1757 -0.17013 0.18021 -0.1736 C 0.18594 -0.17777 0.19045 -0.18263 0.19688 -0.18472 C 0.19757 -0.1861 0.19792 -0.18796 0.19896 -0.18888 C 0.20087 -0.1905 0.20521 -0.19166 0.20521 -0.19166 C 0.21389 -0.20022 0.22431 -0.2074 0.23438 -0.21249 C 0.23924 -0.21481 0.24306 -0.21967 0.24792 -0.22222 C 0.25938 -0.22823 0.27049 -0.23634 0.28229 -0.24166 C 0.2882 -0.24814 0.29462 -0.25439 0.30209 -0.25694 C 0.30556 -0.26388 0.31493 -0.27175 0.32084 -0.27499 C 0.32847 -0.28518 0.33785 -0.29189 0.34688 -0.29999 C 0.34827 -0.30138 0.34879 -0.30393 0.35 -0.30555 C 0.35191 -0.3081 0.35504 -0.30925 0.35729 -0.3111 C 0.36302 -0.31597 0.36858 -0.32083 0.37396 -0.32638 C 0.37865 -0.33101 0.38368 -0.33448 0.38854 -0.33888 C 0.38976 -0.34004 0.39045 -0.34212 0.39167 -0.34305 C 0.39358 -0.34444 0.39792 -0.34583 0.39792 -0.34583 C 0.40278 -0.35231 0.39983 -0.34884 0.40729 -0.35555 C 0.40834 -0.35647 0.41042 -0.35833 0.41042 -0.35833 C 0.41181 -0.3611 0.41285 -0.36435 0.41459 -0.36666 C 0.41563 -0.36805 0.41771 -0.37083 0.41771 -0.37083 " pathEditMode="relative" ptsTypes="fffffffffffffffffffffffffffA">
                                      <p:cBhvr>
                                        <p:cTn id="68" dur="2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69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2.59259E-6 C 0.00989 0.00139 0.01753 0.00579 0.02708 0.00834 C 0.03628 0.01366 0.04618 0.01528 0.05521 0.02084 C 0.06389 0.02616 0.07413 0.03588 0.08333 0.03889 C 0.08628 0.04144 0.08993 0.04283 0.09271 0.04584 C 0.09757 0.05116 0.10034 0.05625 0.10416 0.0625 C 0.10659 0.07222 0.11284 0.08264 0.11666 0.09167 C 0.11788 0.09445 0.11857 0.09722 0.11979 0.1 C 0.121 0.10301 0.12396 0.10834 0.12396 0.10834 C 0.12534 0.11597 0.12934 0.12153 0.13125 0.12917 C 0.13055 0.13102 0.12916 0.13264 0.12916 0.13472 C 0.12916 0.13727 0.13246 0.14236 0.13333 0.14445 C 0.13437 0.14746 0.13489 0.15278 0.13541 0.15556 C 0.1368 0.16389 0.13854 0.17384 0.14062 0.18195 C 0.14218 0.1882 0.14479 0.19352 0.14583 0.2 C 0.14809 0.21389 0.14861 0.22801 0.15208 0.24167 C 0.14861 0.28611 0.15347 0.33125 0.14687 0.375 C 0.14722 0.37871 0.14739 0.38241 0.14791 0.38611 C 0.14896 0.39259 0.15208 0.39884 0.15208 0.40556 " pathEditMode="relative" ptsTypes="ffffffffffffffffffA">
                                      <p:cBhvr>
                                        <p:cTn id="70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1268761"/>
            <a:ext cx="8229600" cy="3456384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Step 1: Assign control parameters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Step 2: Initialize solutions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Step 3: Repeat until </a:t>
            </a:r>
            <a:r>
              <a:rPr lang="en-US" dirty="0">
                <a:solidFill>
                  <a:srgbClr val="C00000"/>
                </a:solidFill>
              </a:rPr>
              <a:t>stopping criteria </a:t>
            </a:r>
            <a:r>
              <a:rPr lang="en-US" dirty="0"/>
              <a:t>is met</a:t>
            </a:r>
          </a:p>
          <a:p>
            <a:pPr lvl="5">
              <a:defRPr/>
            </a:pPr>
            <a:r>
              <a:rPr lang="en-US" dirty="0"/>
              <a:t>Send the employed bee and calculate fitness</a:t>
            </a:r>
          </a:p>
          <a:p>
            <a:pPr lvl="5">
              <a:defRPr/>
            </a:pPr>
            <a:r>
              <a:rPr lang="en-US" dirty="0"/>
              <a:t>Send the onlookers and calculate fitness</a:t>
            </a:r>
          </a:p>
          <a:p>
            <a:pPr lvl="5">
              <a:defRPr/>
            </a:pPr>
            <a:r>
              <a:rPr lang="en-US" dirty="0"/>
              <a:t>Send the scout bees and calculate fitness</a:t>
            </a:r>
          </a:p>
          <a:p>
            <a:pPr lvl="5">
              <a:defRPr/>
            </a:pPr>
            <a:r>
              <a:rPr lang="en-US" dirty="0"/>
              <a:t>Memorize the best solution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dirty="0"/>
              <a:t>Step 4: Stop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None/>
              <a:defRPr/>
            </a:pP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ABC Algorithm</a:t>
            </a:r>
            <a:endParaRPr lang="th-TH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18</a:t>
            </a:fld>
            <a:endParaRPr lang="th-TH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ABC Algorithm</a:t>
            </a:r>
            <a:endParaRPr lang="th-TH" dirty="0"/>
          </a:p>
        </p:txBody>
      </p:sp>
      <p:sp>
        <p:nvSpPr>
          <p:cNvPr id="4" name="คอร์ด 3"/>
          <p:cNvSpPr/>
          <p:nvPr/>
        </p:nvSpPr>
        <p:spPr>
          <a:xfrm>
            <a:off x="3328988" y="2036763"/>
            <a:ext cx="2390775" cy="2471737"/>
          </a:xfrm>
          <a:prstGeom prst="chord">
            <a:avLst>
              <a:gd name="adj1" fmla="val 5442527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6" name="คอร์ด 5"/>
          <p:cNvSpPr/>
          <p:nvPr/>
        </p:nvSpPr>
        <p:spPr>
          <a:xfrm rot="10800000">
            <a:off x="3333750" y="2038350"/>
            <a:ext cx="2390775" cy="2471738"/>
          </a:xfrm>
          <a:prstGeom prst="chord">
            <a:avLst>
              <a:gd name="adj1" fmla="val 5442527"/>
              <a:gd name="adj2" fmla="val 1620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25605" name="TextBox 6"/>
          <p:cNvSpPr txBox="1">
            <a:spLocks noChangeArrowheads="1"/>
          </p:cNvSpPr>
          <p:nvPr/>
        </p:nvSpPr>
        <p:spPr bwMode="auto">
          <a:xfrm>
            <a:off x="3295650" y="1268413"/>
            <a:ext cx="2449513" cy="523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>
                <a:latin typeface="Lucida Sans Unicode" pitchFamily="34" charset="0"/>
                <a:cs typeface="Cordia New" pitchFamily="34" charset="-34"/>
              </a:rPr>
              <a:t>Foraging bee</a:t>
            </a:r>
            <a:endParaRPr lang="th-TH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14652" y="2244122"/>
            <a:ext cx="1522512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sz="2000" dirty="0">
                <a:latin typeface="Lucida Sans Unicode" pitchFamily="34" charset="0"/>
                <a:cs typeface="Cordia New" pitchFamily="34" charset="-34"/>
              </a:rPr>
              <a:t>employed </a:t>
            </a:r>
            <a:endParaRPr lang="th-TH" sz="2000" dirty="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7308850" y="3573463"/>
            <a:ext cx="2159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>
                <a:latin typeface="Lucida Sans Unicode" pitchFamily="34" charset="0"/>
                <a:cs typeface="Cordia New" pitchFamily="34" charset="-34"/>
              </a:rPr>
              <a:t>Scout</a:t>
            </a:r>
            <a:endParaRPr lang="th-TH" sz="200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12" name="วงรี 11"/>
          <p:cNvSpPr/>
          <p:nvPr/>
        </p:nvSpPr>
        <p:spPr>
          <a:xfrm>
            <a:off x="6804025" y="3573463"/>
            <a:ext cx="360363" cy="360362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5485455" y="2244122"/>
            <a:ext cx="21590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2000" dirty="0">
                <a:latin typeface="Lucida Sans Unicode" pitchFamily="34" charset="0"/>
                <a:cs typeface="Cordia New" pitchFamily="34" charset="-34"/>
              </a:rPr>
              <a:t>onlooker</a:t>
            </a:r>
            <a:endParaRPr lang="th-TH" sz="2000" dirty="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19</a:t>
            </a:fld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66667E-6 -3.33333E-6 L -0.12864 -3.33333E-6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4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1" grpId="0"/>
      <p:bldP spid="12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6" name="Rectangle 4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274638"/>
            <a:ext cx="8229600" cy="1143000"/>
          </a:xfrm>
        </p:spPr>
        <p:txBody>
          <a:bodyPr/>
          <a:lstStyle/>
          <a:p>
            <a:pPr>
              <a:defRPr/>
            </a:pPr>
            <a:r>
              <a:rPr lang="en-US" sz="3200">
                <a:solidFill>
                  <a:srgbClr val="0070C0"/>
                </a:solidFill>
                <a:latin typeface="Book Antiqua" pitchFamily="18" charset="0"/>
              </a:rPr>
              <a:t> </a:t>
            </a:r>
            <a:r>
              <a:rPr lang="en-US" sz="3200" dirty="0">
                <a:solidFill>
                  <a:srgbClr val="0070C0"/>
                </a:solidFill>
                <a:latin typeface="Book Antiqua" pitchFamily="18" charset="0"/>
              </a:rPr>
              <a:t>ABC control parameters </a:t>
            </a:r>
          </a:p>
        </p:txBody>
      </p:sp>
      <p:sp>
        <p:nvSpPr>
          <p:cNvPr id="26627" name="Rectangle 2"/>
          <p:cNvSpPr>
            <a:spLocks noChangeArrowheads="1"/>
          </p:cNvSpPr>
          <p:nvPr/>
        </p:nvSpPr>
        <p:spPr bwMode="auto">
          <a:xfrm>
            <a:off x="152400" y="1447800"/>
            <a:ext cx="4779640" cy="452431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Swarm size (Total solutions)</a:t>
            </a:r>
          </a:p>
          <a:p>
            <a:pPr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Employed bees (50% of swarm)</a:t>
            </a:r>
          </a:p>
          <a:p>
            <a:pPr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Onlookers (50% of swarm)</a:t>
            </a:r>
          </a:p>
          <a:p>
            <a:pPr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Scouts (1 or can be more than 1)</a:t>
            </a:r>
          </a:p>
          <a:p>
            <a:pPr>
              <a:buFont typeface="Arial" charset="0"/>
              <a:buChar char="•"/>
            </a:pPr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Limit (for becoming a scout from an employed bee)</a:t>
            </a:r>
          </a:p>
          <a:p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				</a:t>
            </a:r>
          </a:p>
          <a:p>
            <a:pPr>
              <a:buFont typeface="Arial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Dimension of the problem</a:t>
            </a:r>
          </a:p>
        </p:txBody>
      </p:sp>
      <p:pic>
        <p:nvPicPr>
          <p:cNvPr id="4" name="Picture 3" descr="4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334000" y="1447800"/>
            <a:ext cx="3200400" cy="39624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20</a:t>
            </a:fld>
            <a:endParaRPr lang="th-TH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Food source initialization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(Number of solutions = Employed bees)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	</a:t>
            </a:r>
          </a:p>
          <a:p>
            <a:pPr eaLnBrk="1" hangingPunct="1">
              <a:buFont typeface="Wingdings 3" pitchFamily="18" charset="2"/>
              <a:buNone/>
            </a:pPr>
            <a:endParaRPr lang="en-US" dirty="0">
              <a:cs typeface="Cordia New" pitchFamily="34" charset="-34"/>
            </a:endParaRPr>
          </a:p>
          <a:p>
            <a:pPr eaLnBrk="1" hangingPunct="1">
              <a:buFont typeface="Wingdings 3" pitchFamily="18" charset="2"/>
              <a:buNone/>
            </a:pPr>
            <a:endParaRPr lang="en-US" dirty="0">
              <a:cs typeface="Cordia New" pitchFamily="34" charset="-34"/>
            </a:endParaRPr>
          </a:p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Where, 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		</a:t>
            </a:r>
            <a:r>
              <a:rPr lang="en-US" dirty="0" err="1">
                <a:cs typeface="Cordia New" pitchFamily="34" charset="-34"/>
              </a:rPr>
              <a:t>i</a:t>
            </a:r>
            <a:r>
              <a:rPr lang="en-US" dirty="0">
                <a:cs typeface="Cordia New" pitchFamily="34" charset="-34"/>
              </a:rPr>
              <a:t>  = 1,2,…,n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		n = Food source</a:t>
            </a:r>
          </a:p>
          <a:p>
            <a:pPr eaLnBrk="1" hangingPunct="1">
              <a:buFont typeface="Wingdings 3" pitchFamily="18" charset="2"/>
              <a:buNone/>
            </a:pPr>
            <a:r>
              <a:rPr lang="en-US" dirty="0">
                <a:cs typeface="Cordia New" pitchFamily="34" charset="-34"/>
              </a:rPr>
              <a:t>		j  = Dimension</a:t>
            </a:r>
          </a:p>
          <a:p>
            <a:pPr eaLnBrk="1" hangingPunct="1">
              <a:buFont typeface="Wingdings 3" pitchFamily="18" charset="2"/>
              <a:buNone/>
            </a:pPr>
            <a:endParaRPr lang="en-US" dirty="0">
              <a:cs typeface="Cordia New" pitchFamily="34" charset="-34"/>
            </a:endParaRPr>
          </a:p>
          <a:p>
            <a:pPr eaLnBrk="1" hangingPunct="1">
              <a:buFont typeface="Wingdings 3" pitchFamily="18" charset="2"/>
              <a:buNone/>
            </a:pPr>
            <a:endParaRPr lang="en-US" dirty="0">
              <a:cs typeface="Cordia New" pitchFamily="34" charset="-34"/>
            </a:endParaRPr>
          </a:p>
          <a:p>
            <a:pPr lvl="1" eaLnBrk="1" hangingPunct="1"/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Initial Solutions</a:t>
            </a:r>
            <a:endParaRPr lang="th-TH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116013" y="2513013"/>
          <a:ext cx="6551612" cy="700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260440" imgH="241200" progId="Equation.3">
                  <p:embed/>
                </p:oleObj>
              </mc:Choice>
              <mc:Fallback>
                <p:oleObj name="Equation" r:id="rId2" imgW="226044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6013" y="2513013"/>
                        <a:ext cx="6551612" cy="700087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21</a:t>
            </a:fld>
            <a:endParaRPr lang="th-TH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5113337"/>
          </a:xfrm>
        </p:spPr>
        <p:txBody>
          <a:bodyPr/>
          <a:lstStyle/>
          <a:p>
            <a:pPr eaLnBrk="1" hangingPunct="1"/>
            <a:r>
              <a:rPr lang="en-US" sz="2400" dirty="0">
                <a:cs typeface="Cordia New" pitchFamily="34" charset="-34"/>
              </a:rPr>
              <a:t>Send each employed bee to solutions/positions of flowers (Initial Solutions)</a:t>
            </a:r>
          </a:p>
          <a:p>
            <a:pPr lvl="1" eaLnBrk="1" hangingPunct="1"/>
            <a:r>
              <a:rPr lang="en-US" sz="2000" dirty="0">
                <a:solidFill>
                  <a:srgbClr val="C00000"/>
                </a:solidFill>
                <a:cs typeface="Cordia New" pitchFamily="34" charset="-34"/>
              </a:rPr>
              <a:t>Number of solutions = Employed bees = 5 (in this example)</a:t>
            </a:r>
          </a:p>
          <a:p>
            <a:pPr lvl="1" eaLnBrk="1" hangingPunct="1"/>
            <a:r>
              <a:rPr lang="en-US" sz="2000" dirty="0">
                <a:solidFill>
                  <a:srgbClr val="C00000"/>
                </a:solidFill>
                <a:cs typeface="Cordia New" pitchFamily="34" charset="-34"/>
              </a:rPr>
              <a:t>1 dimension (in this example)</a:t>
            </a:r>
          </a:p>
          <a:p>
            <a:pPr eaLnBrk="1" hangingPunct="1"/>
            <a:endParaRPr lang="en-US" sz="2400" dirty="0">
              <a:cs typeface="Cordia New" pitchFamily="34" charset="-34"/>
            </a:endParaRPr>
          </a:p>
          <a:p>
            <a:pPr marL="109537" indent="0" eaLnBrk="1" hangingPunct="1">
              <a:buNone/>
            </a:pPr>
            <a:endParaRPr lang="en-US" sz="2400" dirty="0">
              <a:cs typeface="Cordia New" pitchFamily="34" charset="-34"/>
            </a:endParaRPr>
          </a:p>
          <a:p>
            <a:pPr eaLnBrk="1" hangingPunct="1"/>
            <a:r>
              <a:rPr lang="en-US" sz="2400" dirty="0">
                <a:cs typeface="Cordia New" pitchFamily="34" charset="-34"/>
              </a:rPr>
              <a:t>Calculate fitness</a:t>
            </a:r>
          </a:p>
          <a:p>
            <a:pPr lvl="1" eaLnBrk="1" hangingPunct="1"/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Employed bee Phase</a:t>
            </a:r>
            <a:endParaRPr lang="th-TH" dirty="0"/>
          </a:p>
        </p:txBody>
      </p:sp>
      <p:sp>
        <p:nvSpPr>
          <p:cNvPr id="6" name="สี่เหลี่ยมผืนผ้า 5"/>
          <p:cNvSpPr/>
          <p:nvPr/>
        </p:nvSpPr>
        <p:spPr>
          <a:xfrm>
            <a:off x="2339752" y="2780928"/>
            <a:ext cx="432048" cy="432048"/>
          </a:xfrm>
          <a:prstGeom prst="rect">
            <a:avLst/>
          </a:prstGeom>
          <a:solidFill>
            <a:srgbClr val="92D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2771800" y="2780928"/>
            <a:ext cx="432048" cy="432048"/>
          </a:xfrm>
          <a:prstGeom prst="rect">
            <a:avLst/>
          </a:prstGeom>
          <a:solidFill>
            <a:srgbClr val="92D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3203848" y="2780928"/>
            <a:ext cx="432048" cy="432048"/>
          </a:xfrm>
          <a:prstGeom prst="rect">
            <a:avLst/>
          </a:prstGeom>
          <a:solidFill>
            <a:srgbClr val="92D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3635896" y="2780928"/>
            <a:ext cx="432048" cy="432048"/>
          </a:xfrm>
          <a:prstGeom prst="rect">
            <a:avLst/>
          </a:prstGeom>
          <a:solidFill>
            <a:srgbClr val="92D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4067944" y="2780928"/>
            <a:ext cx="432048" cy="432048"/>
          </a:xfrm>
          <a:prstGeom prst="rect">
            <a:avLst/>
          </a:prstGeom>
          <a:solidFill>
            <a:srgbClr val="92D050"/>
          </a:solidFill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grpSp>
        <p:nvGrpSpPr>
          <p:cNvPr id="4" name="กลุ่ม 34"/>
          <p:cNvGrpSpPr>
            <a:grpSpLocks/>
          </p:cNvGrpSpPr>
          <p:nvPr/>
        </p:nvGrpSpPr>
        <p:grpSpPr bwMode="auto">
          <a:xfrm>
            <a:off x="2195513" y="4076700"/>
            <a:ext cx="2376487" cy="1800225"/>
            <a:chOff x="2195736" y="4077072"/>
            <a:chExt cx="2376264" cy="1800200"/>
          </a:xfrm>
        </p:grpSpPr>
        <p:sp>
          <p:nvSpPr>
            <p:cNvPr id="11" name="สี่เหลี่ยมผืนผ้า 10"/>
            <p:cNvSpPr/>
            <p:nvPr/>
          </p:nvSpPr>
          <p:spPr>
            <a:xfrm>
              <a:off x="2339752" y="4077072"/>
              <a:ext cx="432048" cy="432048"/>
            </a:xfrm>
            <a:prstGeom prst="rect">
              <a:avLst/>
            </a:prstGeom>
            <a:solidFill>
              <a:srgbClr val="92D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 dirty="0"/>
            </a:p>
          </p:txBody>
        </p:sp>
        <p:sp>
          <p:nvSpPr>
            <p:cNvPr id="12" name="สี่เหลี่ยมผืนผ้า 11"/>
            <p:cNvSpPr/>
            <p:nvPr/>
          </p:nvSpPr>
          <p:spPr>
            <a:xfrm>
              <a:off x="2771800" y="4077072"/>
              <a:ext cx="432048" cy="432048"/>
            </a:xfrm>
            <a:prstGeom prst="rect">
              <a:avLst/>
            </a:prstGeom>
            <a:solidFill>
              <a:srgbClr val="92D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 dirty="0"/>
            </a:p>
          </p:txBody>
        </p:sp>
        <p:sp>
          <p:nvSpPr>
            <p:cNvPr id="13" name="สี่เหลี่ยมผืนผ้า 12"/>
            <p:cNvSpPr/>
            <p:nvPr/>
          </p:nvSpPr>
          <p:spPr>
            <a:xfrm>
              <a:off x="3203848" y="4077072"/>
              <a:ext cx="432048" cy="432048"/>
            </a:xfrm>
            <a:prstGeom prst="rect">
              <a:avLst/>
            </a:prstGeom>
            <a:solidFill>
              <a:srgbClr val="92D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 dirty="0"/>
            </a:p>
          </p:txBody>
        </p:sp>
        <p:sp>
          <p:nvSpPr>
            <p:cNvPr id="14" name="สี่เหลี่ยมผืนผ้า 13"/>
            <p:cNvSpPr/>
            <p:nvPr/>
          </p:nvSpPr>
          <p:spPr>
            <a:xfrm>
              <a:off x="3635896" y="4077072"/>
              <a:ext cx="432048" cy="432048"/>
            </a:xfrm>
            <a:prstGeom prst="rect">
              <a:avLst/>
            </a:prstGeom>
            <a:solidFill>
              <a:srgbClr val="92D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 dirty="0"/>
            </a:p>
          </p:txBody>
        </p:sp>
        <p:sp>
          <p:nvSpPr>
            <p:cNvPr id="15" name="สี่เหลี่ยมผืนผ้า 14"/>
            <p:cNvSpPr/>
            <p:nvPr/>
          </p:nvSpPr>
          <p:spPr>
            <a:xfrm>
              <a:off x="4067944" y="4077072"/>
              <a:ext cx="432048" cy="432048"/>
            </a:xfrm>
            <a:prstGeom prst="rect">
              <a:avLst/>
            </a:prstGeom>
            <a:solidFill>
              <a:srgbClr val="92D050"/>
            </a:solidFill>
          </p:spPr>
          <p:style>
            <a:lnRef idx="0">
              <a:schemeClr val="accent1"/>
            </a:lnRef>
            <a:fillRef idx="3">
              <a:schemeClr val="accent1"/>
            </a:fillRef>
            <a:effectRef idx="3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th-TH" dirty="0"/>
            </a:p>
          </p:txBody>
        </p:sp>
        <p:graphicFrame>
          <p:nvGraphicFramePr>
            <p:cNvPr id="2050" name="Object 4"/>
            <p:cNvGraphicFramePr>
              <a:graphicFrameLocks noChangeAspect="1"/>
            </p:cNvGraphicFramePr>
            <p:nvPr/>
          </p:nvGraphicFramePr>
          <p:xfrm>
            <a:off x="2195736" y="4653136"/>
            <a:ext cx="600075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380880" imgH="215640" progId="Equation.3">
                    <p:embed/>
                  </p:oleObj>
                </mc:Choice>
                <mc:Fallback>
                  <p:oleObj name="Equation" r:id="rId2" imgW="380880" imgH="215640" progId="Equation.3">
                    <p:embed/>
                    <p:pic>
                      <p:nvPicPr>
                        <p:cNvPr id="0" name="Object 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95736" y="4653136"/>
                          <a:ext cx="600075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1" name="Object 5"/>
            <p:cNvGraphicFramePr>
              <a:graphicFrameLocks noChangeAspect="1"/>
            </p:cNvGraphicFramePr>
            <p:nvPr/>
          </p:nvGraphicFramePr>
          <p:xfrm>
            <a:off x="2617788" y="4868863"/>
            <a:ext cx="620712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393480" imgH="215640" progId="Equation.3">
                    <p:embed/>
                  </p:oleObj>
                </mc:Choice>
                <mc:Fallback>
                  <p:oleObj name="Equation" r:id="rId4" imgW="393480" imgH="215640" progId="Equation.3">
                    <p:embed/>
                    <p:pic>
                      <p:nvPicPr>
                        <p:cNvPr id="0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7788" y="4868863"/>
                          <a:ext cx="620712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2" name="Object 6"/>
            <p:cNvGraphicFramePr>
              <a:graphicFrameLocks noChangeAspect="1"/>
            </p:cNvGraphicFramePr>
            <p:nvPr/>
          </p:nvGraphicFramePr>
          <p:xfrm>
            <a:off x="3491880" y="5301208"/>
            <a:ext cx="620713" cy="33972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393480" imgH="215640" progId="Equation.3">
                    <p:embed/>
                  </p:oleObj>
                </mc:Choice>
                <mc:Fallback>
                  <p:oleObj name="Equation" r:id="rId6" imgW="393480" imgH="215640" progId="Equation.3">
                    <p:embed/>
                    <p:pic>
                      <p:nvPicPr>
                        <p:cNvPr id="0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91880" y="5301208"/>
                          <a:ext cx="620713" cy="33972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3" name="Object 7"/>
            <p:cNvGraphicFramePr>
              <a:graphicFrameLocks noChangeAspect="1"/>
            </p:cNvGraphicFramePr>
            <p:nvPr/>
          </p:nvGraphicFramePr>
          <p:xfrm>
            <a:off x="3952875" y="5516910"/>
            <a:ext cx="619125" cy="36036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8" imgW="393480" imgH="228600" progId="Equation.3">
                    <p:embed/>
                  </p:oleObj>
                </mc:Choice>
                <mc:Fallback>
                  <p:oleObj name="Equation" r:id="rId8" imgW="393480" imgH="228600" progId="Equation.3">
                    <p:embed/>
                    <p:pic>
                      <p:nvPicPr>
                        <p:cNvPr id="0" name="Object 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952875" y="5516910"/>
                          <a:ext cx="619125" cy="36036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054" name="Object 8"/>
            <p:cNvGraphicFramePr>
              <a:graphicFrameLocks noChangeAspect="1"/>
            </p:cNvGraphicFramePr>
            <p:nvPr/>
          </p:nvGraphicFramePr>
          <p:xfrm>
            <a:off x="3059832" y="5085184"/>
            <a:ext cx="619125" cy="3587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0" imgW="393480" imgH="228600" progId="Equation.3">
                    <p:embed/>
                  </p:oleObj>
                </mc:Choice>
                <mc:Fallback>
                  <p:oleObj name="Equation" r:id="rId10" imgW="393480" imgH="228600" progId="Equation.3">
                    <p:embed/>
                    <p:pic>
                      <p:nvPicPr>
                        <p:cNvPr id="0" name="Object 8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059832" y="5085184"/>
                          <a:ext cx="619125" cy="35877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chemeClr val="accent1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chemeClr val="tx1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chemeClr val="bg2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cxnSp>
          <p:nvCxnSpPr>
            <p:cNvPr id="24" name="ลูกศรเชื่อมต่อแบบตรง 23"/>
            <p:cNvCxnSpPr>
              <a:stCxn id="0" idx="2"/>
            </p:cNvCxnSpPr>
            <p:nvPr/>
          </p:nvCxnSpPr>
          <p:spPr>
            <a:xfrm rot="5400000">
              <a:off x="2413191" y="4653327"/>
              <a:ext cx="287333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ลูกศรเชื่อมต่อแบบตรง 27"/>
            <p:cNvCxnSpPr/>
            <p:nvPr/>
          </p:nvCxnSpPr>
          <p:spPr>
            <a:xfrm rot="5400000">
              <a:off x="2737002" y="4761276"/>
              <a:ext cx="503230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ลูกศรเชื่อมต่อแบบตรง 29"/>
            <p:cNvCxnSpPr>
              <a:stCxn id="0" idx="2"/>
            </p:cNvCxnSpPr>
            <p:nvPr/>
          </p:nvCxnSpPr>
          <p:spPr>
            <a:xfrm rot="5400000">
              <a:off x="3060813" y="4869224"/>
              <a:ext cx="719127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ลูกศรเชื่อมต่อแบบตรง 31"/>
            <p:cNvCxnSpPr>
              <a:stCxn id="0" idx="2"/>
            </p:cNvCxnSpPr>
            <p:nvPr/>
          </p:nvCxnSpPr>
          <p:spPr>
            <a:xfrm rot="5400000">
              <a:off x="3384624" y="4977173"/>
              <a:ext cx="935024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ลูกศรเชื่อมต่อแบบตรง 33"/>
            <p:cNvCxnSpPr>
              <a:stCxn id="0" idx="2"/>
            </p:cNvCxnSpPr>
            <p:nvPr/>
          </p:nvCxnSpPr>
          <p:spPr>
            <a:xfrm rot="5400000">
              <a:off x="3744154" y="5049403"/>
              <a:ext cx="1079485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5" name="Slide Number Placeholder 2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22</a:t>
            </a:fld>
            <a:endParaRPr lang="th-TH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1268413"/>
            <a:ext cx="5410200" cy="504825"/>
          </a:xfrm>
        </p:spPr>
        <p:txBody>
          <a:bodyPr/>
          <a:lstStyle/>
          <a:p>
            <a:pPr eaLnBrk="1" hangingPunct="1"/>
            <a:r>
              <a:rPr lang="en-US" sz="2400" dirty="0">
                <a:cs typeface="Cordia New" pitchFamily="34" charset="-34"/>
              </a:rPr>
              <a:t>Evolve solution to neighborhood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Employed bee Phase </a:t>
            </a:r>
            <a:r>
              <a:rPr lang="en-US" sz="2000" dirty="0"/>
              <a:t>(Cont.)</a:t>
            </a:r>
            <a:endParaRPr lang="th-TH" sz="2000" dirty="0"/>
          </a:p>
        </p:txBody>
      </p:sp>
      <p:graphicFrame>
        <p:nvGraphicFramePr>
          <p:cNvPr id="3074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78683759"/>
              </p:ext>
            </p:extLst>
          </p:nvPr>
        </p:nvGraphicFramePr>
        <p:xfrm>
          <a:off x="1619672" y="1672226"/>
          <a:ext cx="3240088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41200" progId="Equation.3">
                  <p:embed/>
                </p:oleObj>
              </mc:Choice>
              <mc:Fallback>
                <p:oleObj name="Equation" r:id="rId2" imgW="12952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672" y="1672226"/>
                        <a:ext cx="3240088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5" name="Object 3"/>
          <p:cNvGraphicFramePr>
            <a:graphicFrameLocks noChangeAspect="1"/>
          </p:cNvGraphicFramePr>
          <p:nvPr/>
        </p:nvGraphicFramePr>
        <p:xfrm>
          <a:off x="6300788" y="1495425"/>
          <a:ext cx="287337" cy="4206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41200" progId="Equation.3">
                  <p:embed/>
                </p:oleObj>
              </mc:Choice>
              <mc:Fallback>
                <p:oleObj name="Equation" r:id="rId4" imgW="164880" imgH="2412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1495425"/>
                        <a:ext cx="287337" cy="4206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สี่เหลี่ยมผืนผ้า 5"/>
          <p:cNvSpPr/>
          <p:nvPr/>
        </p:nvSpPr>
        <p:spPr>
          <a:xfrm>
            <a:off x="1619672" y="3645024"/>
            <a:ext cx="43204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sp>
        <p:nvSpPr>
          <p:cNvPr id="7" name="สี่เหลี่ยมผืนผ้า 6"/>
          <p:cNvSpPr/>
          <p:nvPr/>
        </p:nvSpPr>
        <p:spPr>
          <a:xfrm>
            <a:off x="1619672" y="3212976"/>
            <a:ext cx="43204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 dirty="0"/>
          </a:p>
        </p:txBody>
      </p:sp>
      <p:sp>
        <p:nvSpPr>
          <p:cNvPr id="8" name="สี่เหลี่ยมผืนผ้า 7"/>
          <p:cNvSpPr/>
          <p:nvPr/>
        </p:nvSpPr>
        <p:spPr>
          <a:xfrm>
            <a:off x="1619672" y="4077072"/>
            <a:ext cx="43204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9" name="สี่เหลี่ยมผืนผ้า 8"/>
          <p:cNvSpPr/>
          <p:nvPr/>
        </p:nvSpPr>
        <p:spPr>
          <a:xfrm>
            <a:off x="1619672" y="4509120"/>
            <a:ext cx="43204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0" name="สี่เหลี่ยมผืนผ้า 9"/>
          <p:cNvSpPr/>
          <p:nvPr/>
        </p:nvSpPr>
        <p:spPr>
          <a:xfrm>
            <a:off x="1619672" y="4941168"/>
            <a:ext cx="43204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1" name="สี่เหลี่ยมผืนผ้า 10"/>
          <p:cNvSpPr/>
          <p:nvPr/>
        </p:nvSpPr>
        <p:spPr>
          <a:xfrm>
            <a:off x="1619672" y="5373216"/>
            <a:ext cx="432048" cy="432048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3096" name="TextBox 11"/>
          <p:cNvSpPr txBox="1">
            <a:spLocks noChangeArrowheads="1"/>
          </p:cNvSpPr>
          <p:nvPr/>
        </p:nvSpPr>
        <p:spPr bwMode="auto">
          <a:xfrm>
            <a:off x="6265863" y="1284288"/>
            <a:ext cx="2592387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3"/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Where,</a:t>
            </a:r>
          </a:p>
          <a:p>
            <a:pPr marL="0" lvl="3"/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   = rand(-1, 1)</a:t>
            </a:r>
          </a:p>
          <a:p>
            <a:r>
              <a:rPr lang="en-US" sz="1600" dirty="0" err="1">
                <a:latin typeface="Lucida Sans Unicode" pitchFamily="34" charset="0"/>
                <a:cs typeface="Cordia New" pitchFamily="34" charset="-34"/>
              </a:rPr>
              <a:t>i</a:t>
            </a:r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  = 1,2,…,n</a:t>
            </a:r>
          </a:p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n = Food source</a:t>
            </a:r>
          </a:p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j  = Dimension</a:t>
            </a:r>
          </a:p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k = rand(1, n) != </a:t>
            </a:r>
            <a:r>
              <a:rPr lang="en-US" sz="1600" dirty="0" err="1">
                <a:latin typeface="Lucida Sans Unicode" pitchFamily="34" charset="0"/>
                <a:cs typeface="Cordia New" pitchFamily="34" charset="-34"/>
              </a:rPr>
              <a:t>i</a:t>
            </a:r>
            <a:endParaRPr lang="en-US" sz="1600" dirty="0">
              <a:latin typeface="Lucida Sans Unicode" pitchFamily="34" charset="0"/>
              <a:cs typeface="Cordia New" pitchFamily="34" charset="-34"/>
            </a:endParaRPr>
          </a:p>
          <a:p>
            <a:endParaRPr lang="th-TH" dirty="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3097" name="TextBox 12"/>
          <p:cNvSpPr txBox="1">
            <a:spLocks noChangeArrowheads="1"/>
          </p:cNvSpPr>
          <p:nvPr/>
        </p:nvSpPr>
        <p:spPr bwMode="auto">
          <a:xfrm>
            <a:off x="1331913" y="2636838"/>
            <a:ext cx="1079500" cy="58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>
                <a:latin typeface="Lucida Sans Unicode" pitchFamily="34" charset="0"/>
                <a:cs typeface="Cordia New" pitchFamily="34" charset="-34"/>
              </a:rPr>
              <a:t>Solution</a:t>
            </a:r>
          </a:p>
          <a:p>
            <a:pPr algn="ctr"/>
            <a:r>
              <a:rPr lang="en-US" sz="1600">
                <a:latin typeface="Lucida Sans Unicode" pitchFamily="34" charset="0"/>
                <a:cs typeface="Cordia New" pitchFamily="34" charset="-34"/>
              </a:rPr>
              <a:t>X</a:t>
            </a:r>
            <a:r>
              <a:rPr lang="en-US" sz="1600" baseline="-25000">
                <a:latin typeface="Lucida Sans Unicode" pitchFamily="34" charset="0"/>
                <a:cs typeface="Cordia New" pitchFamily="34" charset="-34"/>
              </a:rPr>
              <a:t>i</a:t>
            </a:r>
            <a:endParaRPr lang="th-TH" sz="1600" baseline="-2500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3098" name="TextBox 13"/>
          <p:cNvSpPr txBox="1">
            <a:spLocks noChangeArrowheads="1"/>
          </p:cNvSpPr>
          <p:nvPr/>
        </p:nvSpPr>
        <p:spPr bwMode="auto">
          <a:xfrm>
            <a:off x="6322992" y="3936189"/>
            <a:ext cx="1081087" cy="338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j=6</a:t>
            </a:r>
            <a:endParaRPr lang="th-TH" sz="1600" dirty="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15" name="สี่เหลี่ยมผืนผ้า 14"/>
          <p:cNvSpPr/>
          <p:nvPr/>
        </p:nvSpPr>
        <p:spPr>
          <a:xfrm>
            <a:off x="3491880" y="3645024"/>
            <a:ext cx="432048" cy="43204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6" name="สี่เหลี่ยมผืนผ้า 15"/>
          <p:cNvSpPr/>
          <p:nvPr/>
        </p:nvSpPr>
        <p:spPr>
          <a:xfrm>
            <a:off x="3491880" y="3212976"/>
            <a:ext cx="432048" cy="43204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7" name="สี่เหลี่ยมผืนผ้า 16"/>
          <p:cNvSpPr/>
          <p:nvPr/>
        </p:nvSpPr>
        <p:spPr>
          <a:xfrm>
            <a:off x="3491880" y="4077072"/>
            <a:ext cx="432048" cy="43204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8" name="สี่เหลี่ยมผืนผ้า 17"/>
          <p:cNvSpPr/>
          <p:nvPr/>
        </p:nvSpPr>
        <p:spPr>
          <a:xfrm>
            <a:off x="3491880" y="4509120"/>
            <a:ext cx="432048" cy="43204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19" name="สี่เหลี่ยมผืนผ้า 18"/>
          <p:cNvSpPr/>
          <p:nvPr/>
        </p:nvSpPr>
        <p:spPr>
          <a:xfrm>
            <a:off x="3491880" y="4941168"/>
            <a:ext cx="432048" cy="43204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20" name="สี่เหลี่ยมผืนผ้า 19"/>
          <p:cNvSpPr/>
          <p:nvPr/>
        </p:nvSpPr>
        <p:spPr>
          <a:xfrm>
            <a:off x="3491880" y="5373216"/>
            <a:ext cx="432048" cy="432048"/>
          </a:xfrm>
          <a:prstGeom prst="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th-TH"/>
          </a:p>
        </p:txBody>
      </p:sp>
      <p:sp>
        <p:nvSpPr>
          <p:cNvPr id="3117" name="TextBox 20"/>
          <p:cNvSpPr txBox="1">
            <a:spLocks noChangeArrowheads="1"/>
          </p:cNvSpPr>
          <p:nvPr/>
        </p:nvSpPr>
        <p:spPr bwMode="auto">
          <a:xfrm>
            <a:off x="3059113" y="2492375"/>
            <a:ext cx="122555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sz="1400">
                <a:latin typeface="Lucida Sans Unicode" pitchFamily="34" charset="0"/>
                <a:cs typeface="Cordia New" pitchFamily="34" charset="-34"/>
              </a:rPr>
              <a:t>Evolved Solution</a:t>
            </a:r>
          </a:p>
          <a:p>
            <a:pPr algn="ctr"/>
            <a:r>
              <a:rPr lang="en-US" sz="1400">
                <a:latin typeface="Lucida Sans Unicode" pitchFamily="34" charset="0"/>
                <a:cs typeface="Cordia New" pitchFamily="34" charset="-34"/>
              </a:rPr>
              <a:t>V</a:t>
            </a:r>
            <a:r>
              <a:rPr lang="en-US" sz="1400" baseline="-25000">
                <a:latin typeface="Lucida Sans Unicode" pitchFamily="34" charset="0"/>
                <a:cs typeface="Cordia New" pitchFamily="34" charset="-34"/>
              </a:rPr>
              <a:t>i</a:t>
            </a:r>
            <a:endParaRPr lang="th-TH" sz="1400" baseline="-25000">
              <a:latin typeface="Lucida Sans Unicode" pitchFamily="34" charset="0"/>
              <a:cs typeface="Cordia New" pitchFamily="34" charset="-34"/>
            </a:endParaRPr>
          </a:p>
        </p:txBody>
      </p:sp>
      <p:cxnSp>
        <p:nvCxnSpPr>
          <p:cNvPr id="23" name="ลูกศรเชื่อมต่อแบบตรง 22"/>
          <p:cNvCxnSpPr>
            <a:stCxn id="0" idx="3"/>
            <a:endCxn id="0" idx="1"/>
          </p:cNvCxnSpPr>
          <p:nvPr/>
        </p:nvCxnSpPr>
        <p:spPr>
          <a:xfrm>
            <a:off x="2051050" y="3429000"/>
            <a:ext cx="14414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ลูกศรเชื่อมต่อแบบตรง 24"/>
          <p:cNvCxnSpPr>
            <a:stCxn id="0" idx="3"/>
            <a:endCxn id="0" idx="1"/>
          </p:cNvCxnSpPr>
          <p:nvPr/>
        </p:nvCxnSpPr>
        <p:spPr>
          <a:xfrm>
            <a:off x="2051050" y="3860800"/>
            <a:ext cx="14414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ลูกศรเชื่อมต่อแบบตรง 26"/>
          <p:cNvCxnSpPr>
            <a:stCxn id="0" idx="3"/>
            <a:endCxn id="0" idx="1"/>
          </p:cNvCxnSpPr>
          <p:nvPr/>
        </p:nvCxnSpPr>
        <p:spPr>
          <a:xfrm>
            <a:off x="2051050" y="4292600"/>
            <a:ext cx="14414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ลูกศรเชื่อมต่อแบบตรง 28"/>
          <p:cNvCxnSpPr>
            <a:stCxn id="0" idx="3"/>
            <a:endCxn id="0" idx="1"/>
          </p:cNvCxnSpPr>
          <p:nvPr/>
        </p:nvCxnSpPr>
        <p:spPr>
          <a:xfrm>
            <a:off x="2051050" y="4724400"/>
            <a:ext cx="144145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ลูกศรเชื่อมต่อแบบตรง 32"/>
          <p:cNvCxnSpPr>
            <a:stCxn id="0" idx="3"/>
            <a:endCxn id="0" idx="1"/>
          </p:cNvCxnSpPr>
          <p:nvPr/>
        </p:nvCxnSpPr>
        <p:spPr>
          <a:xfrm>
            <a:off x="2051050" y="5157788"/>
            <a:ext cx="144145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ลูกศรเชื่อมต่อแบบตรง 34"/>
          <p:cNvCxnSpPr>
            <a:endCxn id="0" idx="1"/>
          </p:cNvCxnSpPr>
          <p:nvPr/>
        </p:nvCxnSpPr>
        <p:spPr>
          <a:xfrm>
            <a:off x="2051050" y="5589588"/>
            <a:ext cx="1441450" cy="158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24" name="ตัวยึดเนื้อหา 1"/>
          <p:cNvSpPr txBox="1">
            <a:spLocks/>
          </p:cNvSpPr>
          <p:nvPr/>
        </p:nvSpPr>
        <p:spPr bwMode="auto">
          <a:xfrm>
            <a:off x="4332525" y="5661248"/>
            <a:ext cx="5410200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en-US" sz="2700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Select better solution comparing </a:t>
            </a:r>
            <a:r>
              <a:rPr lang="en-US" sz="2700" i="1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f(xi) </a:t>
            </a:r>
            <a:r>
              <a:rPr lang="en-US" sz="2700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and </a:t>
            </a:r>
            <a:r>
              <a:rPr lang="en-US" sz="2700" i="1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f(vi)</a:t>
            </a:r>
          </a:p>
          <a:p>
            <a:pPr marL="822325" lvl="1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 i="1" dirty="0">
              <a:solidFill>
                <a:srgbClr val="C00000"/>
              </a:solidFill>
              <a:latin typeface="Lucida Sans Unicode" pitchFamily="34" charset="0"/>
              <a:cs typeface="Cordia New" pitchFamily="34" charset="-34"/>
            </a:endParaRPr>
          </a:p>
          <a:p>
            <a:pPr marL="822325" lvl="1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 dirty="0">
              <a:latin typeface="Lucida Sans Unicode" pitchFamily="34" charset="0"/>
              <a:cs typeface="Cordia New" pitchFamily="34" charset="-34"/>
            </a:endParaRPr>
          </a:p>
        </p:txBody>
      </p:sp>
      <p:sp>
        <p:nvSpPr>
          <p:cNvPr id="30" name="Slide Number Placeholder 2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23</a:t>
            </a:fld>
            <a:endParaRPr lang="th-TH"/>
          </a:p>
        </p:txBody>
      </p:sp>
      <p:sp>
        <p:nvSpPr>
          <p:cNvPr id="2" name="Right Brace 1">
            <a:extLst>
              <a:ext uri="{FF2B5EF4-FFF2-40B4-BE49-F238E27FC236}">
                <a16:creationId xmlns:a16="http://schemas.microsoft.com/office/drawing/2014/main" id="{AEDC5E56-49B6-09C2-AEE0-2D7C8BDEE5E8}"/>
              </a:ext>
            </a:extLst>
          </p:cNvPr>
          <p:cNvSpPr/>
          <p:nvPr/>
        </p:nvSpPr>
        <p:spPr>
          <a:xfrm>
            <a:off x="4067944" y="3141663"/>
            <a:ext cx="324669" cy="2663601"/>
          </a:xfrm>
          <a:prstGeom prst="rightBrace">
            <a:avLst/>
          </a:prstGeom>
          <a:ln w="25400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ตัวยึดเนื้อหา 1">
            <a:extLst>
              <a:ext uri="{FF2B5EF4-FFF2-40B4-BE49-F238E27FC236}">
                <a16:creationId xmlns:a16="http://schemas.microsoft.com/office/drawing/2014/main" id="{308D36C6-0AB4-C177-7C4E-9798590B432E}"/>
              </a:ext>
            </a:extLst>
          </p:cNvPr>
          <p:cNvSpPr txBox="1">
            <a:spLocks/>
          </p:cNvSpPr>
          <p:nvPr/>
        </p:nvSpPr>
        <p:spPr bwMode="auto">
          <a:xfrm>
            <a:off x="4284663" y="4221938"/>
            <a:ext cx="5410200" cy="19446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65125" indent="-255588">
              <a:spcBef>
                <a:spcPts val="400"/>
              </a:spcBef>
              <a:buClr>
                <a:schemeClr val="accent1"/>
              </a:buClr>
              <a:buSzPct val="68000"/>
              <a:buFont typeface="Wingdings 3" pitchFamily="18" charset="2"/>
              <a:buChar char=""/>
            </a:pPr>
            <a:r>
              <a:rPr lang="en-US" sz="2700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Single solution evolution</a:t>
            </a:r>
          </a:p>
          <a:p>
            <a:pPr marL="822325" lvl="1" indent="-255588">
              <a:spcBef>
                <a:spcPts val="400"/>
              </a:spcBef>
              <a:buClr>
                <a:schemeClr val="accent1"/>
              </a:buClr>
              <a:buSzPct val="68000"/>
            </a:pPr>
            <a:endParaRPr lang="en-US" sz="2700" dirty="0">
              <a:latin typeface="Lucida Sans Unicode" pitchFamily="34" charset="0"/>
              <a:cs typeface="Cordia New" pitchFamily="34" charset="-3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17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8C3B4A-D7C2-3298-3D73-F066F8C9F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24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5D8345-DAE7-C4EE-F476-6C3965BC51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2229" y="135246"/>
            <a:ext cx="8647113" cy="33012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D675C66-57D4-AA65-529B-3260231769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711" y="3653794"/>
            <a:ext cx="8525769" cy="3068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9683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981074"/>
            <a:ext cx="8229600" cy="4968206"/>
          </a:xfrm>
        </p:spPr>
        <p:txBody>
          <a:bodyPr>
            <a:normAutofit/>
          </a:bodyPr>
          <a:lstStyle/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/>
              <a:t>Calculate probability for each solution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2800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2800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None/>
              <a:defRPr/>
            </a:pPr>
            <a:endParaRPr lang="en-US" sz="2800" dirty="0"/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/>
              <a:t>Select solution with respect to probability </a:t>
            </a:r>
          </a:p>
          <a:p>
            <a:pPr marL="365760" indent="-256032" eaLnBrk="1" fontAlgn="auto" hangingPunct="1">
              <a:spcAft>
                <a:spcPts val="0"/>
              </a:spcAft>
              <a:buFont typeface="Wingdings 3"/>
              <a:buChar char=""/>
              <a:defRPr/>
            </a:pPr>
            <a:r>
              <a:rPr lang="en-US" sz="2800" dirty="0">
                <a:solidFill>
                  <a:srgbClr val="C00000"/>
                </a:solidFill>
              </a:rPr>
              <a:t>Can use roulette wheel or other technique to make probabilistic nature for the exploration</a:t>
            </a:r>
          </a:p>
          <a:p>
            <a:pPr marL="621792" lvl="1" eaLnBrk="1" fontAlgn="auto" hangingPunct="1">
              <a:spcBef>
                <a:spcPts val="324"/>
              </a:spcBef>
              <a:spcAft>
                <a:spcPts val="0"/>
              </a:spcAft>
              <a:buFont typeface="Verdana"/>
              <a:buChar char="◦"/>
              <a:defRPr/>
            </a:pPr>
            <a:endParaRPr lang="th-TH" dirty="0"/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Onlookers Phase</a:t>
            </a:r>
            <a:endParaRPr lang="th-TH" dirty="0"/>
          </a:p>
        </p:txBody>
      </p:sp>
      <p:graphicFrame>
        <p:nvGraphicFramePr>
          <p:cNvPr id="4098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8828132"/>
              </p:ext>
            </p:extLst>
          </p:nvPr>
        </p:nvGraphicFramePr>
        <p:xfrm>
          <a:off x="2195513" y="1431405"/>
          <a:ext cx="1974850" cy="917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066680" imgH="622080" progId="Equation.3">
                  <p:embed/>
                </p:oleObj>
              </mc:Choice>
              <mc:Fallback>
                <p:oleObj name="Equation" r:id="rId2" imgW="1066680" imgH="62208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431405"/>
                        <a:ext cx="1974850" cy="91747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Slide Number Placeholder 3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25</a:t>
            </a:fld>
            <a:endParaRPr lang="th-TH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FFD61AE-B34D-419F-0F5D-27537474D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26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35DE50C-F0D8-23A1-43FE-1DDF9ADDE6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60025"/>
            <a:ext cx="9144000" cy="533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752893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6808778-A0E3-76FD-8793-4D6C269F59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27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9FF8E0-9DBC-EF79-48DD-2B6E39775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6735"/>
            <a:ext cx="9144000" cy="4684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64354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4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dirty="0">
                <a:cs typeface="Cordia New" pitchFamily="34" charset="-34"/>
              </a:rPr>
              <a:t>Evolve </a:t>
            </a:r>
            <a:r>
              <a:rPr lang="en-US" dirty="0">
                <a:solidFill>
                  <a:srgbClr val="C00000"/>
                </a:solidFill>
                <a:cs typeface="Cordia New" pitchFamily="34" charset="-34"/>
              </a:rPr>
              <a:t>selected solution </a:t>
            </a:r>
            <a:r>
              <a:rPr lang="en-US" dirty="0">
                <a:cs typeface="Cordia New" pitchFamily="34" charset="-34"/>
              </a:rPr>
              <a:t>to neighborhood</a:t>
            </a:r>
          </a:p>
          <a:p>
            <a:pPr eaLnBrk="1" hangingPunct="1"/>
            <a:endParaRPr lang="en-US" dirty="0">
              <a:cs typeface="Cordia New" pitchFamily="34" charset="-34"/>
            </a:endParaRPr>
          </a:p>
          <a:p>
            <a:pPr eaLnBrk="1" hangingPunct="1">
              <a:buFont typeface="Wingdings 3" pitchFamily="18" charset="2"/>
              <a:buNone/>
            </a:pPr>
            <a:endParaRPr lang="en-US" dirty="0">
              <a:cs typeface="Cordia New" pitchFamily="34" charset="-34"/>
            </a:endParaRPr>
          </a:p>
          <a:p>
            <a:pPr eaLnBrk="1" hangingPunct="1"/>
            <a:endParaRPr lang="en-US" sz="2400" dirty="0">
              <a:cs typeface="Cordia New" pitchFamily="34" charset="-34"/>
            </a:endParaRPr>
          </a:p>
          <a:p>
            <a:pPr eaLnBrk="1" hangingPunct="1"/>
            <a:r>
              <a:rPr lang="en-US" sz="2400" dirty="0">
                <a:cs typeface="Cordia New" pitchFamily="34" charset="-34"/>
              </a:rPr>
              <a:t>Calculate </a:t>
            </a:r>
            <a:r>
              <a:rPr lang="en-US" sz="2400" i="1" dirty="0">
                <a:cs typeface="Cordia New" pitchFamily="34" charset="-34"/>
              </a:rPr>
              <a:t>f(vi)</a:t>
            </a:r>
          </a:p>
          <a:p>
            <a:pPr eaLnBrk="1" hangingPunct="1"/>
            <a:r>
              <a:rPr lang="en-US" sz="2400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Select better solution comparing </a:t>
            </a:r>
            <a:r>
              <a:rPr lang="en-US" sz="2400" i="1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f(xi) </a:t>
            </a:r>
            <a:r>
              <a:rPr lang="en-US" sz="2400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and </a:t>
            </a:r>
            <a:r>
              <a:rPr lang="en-US" sz="2400" i="1" dirty="0">
                <a:solidFill>
                  <a:srgbClr val="C00000"/>
                </a:solidFill>
                <a:latin typeface="Lucida Sans Unicode" pitchFamily="34" charset="0"/>
                <a:cs typeface="Cordia New" pitchFamily="34" charset="-34"/>
              </a:rPr>
              <a:t>f(vi)</a:t>
            </a:r>
            <a:endParaRPr lang="en-US" sz="2400" b="1" i="1" dirty="0">
              <a:solidFill>
                <a:srgbClr val="C00000"/>
              </a:solidFill>
              <a:latin typeface="Lucida Sans Unicode" pitchFamily="34" charset="0"/>
              <a:cs typeface="Cordia New" pitchFamily="34" charset="-34"/>
            </a:endParaRPr>
          </a:p>
          <a:p>
            <a:pPr marL="109537" indent="0" eaLnBrk="1" hangingPunct="1">
              <a:buNone/>
            </a:pPr>
            <a:r>
              <a:rPr lang="en-US" sz="2400" b="1" dirty="0">
                <a:solidFill>
                  <a:srgbClr val="C00000"/>
                </a:solidFill>
                <a:cs typeface="Cordia New" pitchFamily="34" charset="-34"/>
              </a:rPr>
              <a:t>              (Same as Employed bee phase)</a:t>
            </a:r>
            <a:endParaRPr lang="th-TH" sz="2400" b="1" dirty="0">
              <a:solidFill>
                <a:srgbClr val="C00000"/>
              </a:solidFill>
            </a:endParaRP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Onlookers Phase </a:t>
            </a:r>
            <a:r>
              <a:rPr lang="en-US" sz="2100" dirty="0"/>
              <a:t>(cont.)</a:t>
            </a:r>
            <a:endParaRPr lang="th-TH" sz="2100" dirty="0"/>
          </a:p>
        </p:txBody>
      </p:sp>
      <p:graphicFrame>
        <p:nvGraphicFramePr>
          <p:cNvPr id="5122" name="Object 1"/>
          <p:cNvGraphicFramePr>
            <a:graphicFrameLocks noChangeAspect="1"/>
          </p:cNvGraphicFramePr>
          <p:nvPr/>
        </p:nvGraphicFramePr>
        <p:xfrm>
          <a:off x="1357313" y="2000250"/>
          <a:ext cx="3240087" cy="603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95280" imgH="241200" progId="Equation.3">
                  <p:embed/>
                </p:oleObj>
              </mc:Choice>
              <mc:Fallback>
                <p:oleObj name="Equation" r:id="rId2" imgW="1295280" imgH="241200" progId="Equation.3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2000250"/>
                        <a:ext cx="3240087" cy="6032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127" name="TextBox 7"/>
          <p:cNvSpPr txBox="1">
            <a:spLocks noChangeArrowheads="1"/>
          </p:cNvSpPr>
          <p:nvPr/>
        </p:nvSpPr>
        <p:spPr bwMode="auto">
          <a:xfrm>
            <a:off x="5572125" y="1785938"/>
            <a:ext cx="2592388" cy="2000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0" lvl="3"/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Where,</a:t>
            </a:r>
          </a:p>
          <a:p>
            <a:pPr marL="0" lvl="3"/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   = rand(-1, 1)</a:t>
            </a:r>
          </a:p>
          <a:p>
            <a:r>
              <a:rPr lang="en-US" sz="1600" dirty="0" err="1">
                <a:latin typeface="Lucida Sans Unicode" pitchFamily="34" charset="0"/>
                <a:cs typeface="Cordia New" pitchFamily="34" charset="-34"/>
              </a:rPr>
              <a:t>i</a:t>
            </a:r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  = 1,2,…,n</a:t>
            </a:r>
          </a:p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n = Food source</a:t>
            </a:r>
          </a:p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j  = Dimension</a:t>
            </a:r>
          </a:p>
          <a:p>
            <a:r>
              <a:rPr lang="en-US" sz="1600" dirty="0">
                <a:latin typeface="Lucida Sans Unicode" pitchFamily="34" charset="0"/>
                <a:cs typeface="Cordia New" pitchFamily="34" charset="-34"/>
              </a:rPr>
              <a:t>k = rand(1, n) != </a:t>
            </a:r>
            <a:r>
              <a:rPr lang="en-US" sz="1600" dirty="0" err="1">
                <a:latin typeface="Lucida Sans Unicode" pitchFamily="34" charset="0"/>
                <a:cs typeface="Cordia New" pitchFamily="34" charset="-34"/>
              </a:rPr>
              <a:t>i</a:t>
            </a:r>
            <a:endParaRPr lang="en-US" sz="1600" dirty="0">
              <a:latin typeface="Lucida Sans Unicode" pitchFamily="34" charset="0"/>
              <a:cs typeface="Cordia New" pitchFamily="34" charset="-34"/>
            </a:endParaRPr>
          </a:p>
          <a:p>
            <a:endParaRPr lang="th-TH" dirty="0">
              <a:latin typeface="Lucida Sans Unicode" pitchFamily="34" charset="0"/>
              <a:cs typeface="Cordia New" pitchFamily="34" charset="-34"/>
            </a:endParaRPr>
          </a:p>
        </p:txBody>
      </p:sp>
      <p:graphicFrame>
        <p:nvGraphicFramePr>
          <p:cNvPr id="5123" name="Object 2"/>
          <p:cNvGraphicFramePr>
            <a:graphicFrameLocks noChangeAspect="1"/>
          </p:cNvGraphicFramePr>
          <p:nvPr/>
        </p:nvGraphicFramePr>
        <p:xfrm>
          <a:off x="5595938" y="1976438"/>
          <a:ext cx="287337" cy="420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64880" imgH="241200" progId="Equation.3">
                  <p:embed/>
                </p:oleObj>
              </mc:Choice>
              <mc:Fallback>
                <p:oleObj name="Equation" r:id="rId4" imgW="164880" imgH="241200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95938" y="1976438"/>
                        <a:ext cx="287337" cy="4206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28</a:t>
            </a:fld>
            <a:endParaRPr lang="th-TH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7B413E9-C1EF-4653-D7FA-2603B6684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29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A6C4B84-2423-395C-752E-1FD95851F0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3408"/>
            <a:ext cx="9144000" cy="3871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265589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Scout Phase</a:t>
            </a:r>
            <a:endParaRPr lang="th-TH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30</a:t>
            </a:fld>
            <a:endParaRPr lang="th-TH"/>
          </a:p>
        </p:txBody>
      </p:sp>
      <p:sp>
        <p:nvSpPr>
          <p:cNvPr id="10" name="Rectangle 9"/>
          <p:cNvSpPr/>
          <p:nvPr/>
        </p:nvSpPr>
        <p:spPr>
          <a:xfrm>
            <a:off x="0" y="1295400"/>
            <a:ext cx="5410200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  <a:p>
            <a:pPr>
              <a:buFont typeface="Arial" pitchFamily="34" charset="0"/>
              <a:buChar char="•"/>
            </a:pP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In ABC, providing that a </a:t>
            </a:r>
            <a:r>
              <a:rPr lang="en-US" sz="2400" dirty="0">
                <a:solidFill>
                  <a:srgbClr val="C00000"/>
                </a:solidFill>
                <a:latin typeface="Book Antiqua" pitchFamily="18" charset="0"/>
              </a:rPr>
              <a:t>position can not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be </a:t>
            </a:r>
            <a:r>
              <a:rPr lang="en-US" sz="2400" dirty="0">
                <a:solidFill>
                  <a:srgbClr val="C00000"/>
                </a:solidFill>
                <a:latin typeface="Book Antiqua" pitchFamily="18" charset="0"/>
              </a:rPr>
              <a:t>improved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further through a </a:t>
            </a:r>
            <a:r>
              <a:rPr lang="en-US" sz="2400" dirty="0">
                <a:solidFill>
                  <a:srgbClr val="C00000"/>
                </a:solidFill>
                <a:latin typeface="Book Antiqua" pitchFamily="18" charset="0"/>
              </a:rPr>
              <a:t>predetermined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number of </a:t>
            </a:r>
            <a:r>
              <a:rPr lang="en-US" sz="2400" dirty="0">
                <a:solidFill>
                  <a:srgbClr val="C00000"/>
                </a:solidFill>
                <a:latin typeface="Book Antiqua" pitchFamily="18" charset="0"/>
              </a:rPr>
              <a:t>cycles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, which is called “</a:t>
            </a:r>
            <a:r>
              <a:rPr lang="en-US" sz="2400" dirty="0">
                <a:solidFill>
                  <a:srgbClr val="C00000"/>
                </a:solidFill>
                <a:latin typeface="Book Antiqua" pitchFamily="18" charset="0"/>
              </a:rPr>
              <a:t>limit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” then that food source is assumed to be </a:t>
            </a:r>
            <a:r>
              <a:rPr lang="en-US" sz="2400" dirty="0">
                <a:solidFill>
                  <a:srgbClr val="C00000"/>
                </a:solidFill>
                <a:latin typeface="Book Antiqua" pitchFamily="18" charset="0"/>
              </a:rPr>
              <a:t>abandoned</a:t>
            </a:r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. </a:t>
            </a:r>
          </a:p>
          <a:p>
            <a:r>
              <a:rPr lang="en-US" sz="2400" dirty="0">
                <a:solidFill>
                  <a:srgbClr val="0070C0"/>
                </a:solidFill>
                <a:latin typeface="Book Antiqua" pitchFamily="18" charset="0"/>
              </a:rPr>
              <a:t>    </a:t>
            </a:r>
            <a:r>
              <a:rPr lang="en-US" sz="2400" dirty="0">
                <a:solidFill>
                  <a:srgbClr val="7030A0"/>
                </a:solidFill>
                <a:latin typeface="Book Antiqua" pitchFamily="18" charset="0"/>
              </a:rPr>
              <a:t>-</a:t>
            </a:r>
            <a:r>
              <a:rPr lang="en-US" sz="2000" dirty="0">
                <a:solidFill>
                  <a:srgbClr val="7030A0"/>
                </a:solidFill>
                <a:latin typeface="Book Antiqua" pitchFamily="18" charset="0"/>
              </a:rPr>
              <a:t>some employed bees </a:t>
            </a:r>
            <a:r>
              <a:rPr lang="en-US" sz="2000" dirty="0">
                <a:solidFill>
                  <a:srgbClr val="C00000"/>
                </a:solidFill>
                <a:latin typeface="Book Antiqua" pitchFamily="18" charset="0"/>
              </a:rPr>
              <a:t>(food source abandoned)</a:t>
            </a:r>
            <a:r>
              <a:rPr lang="en-US" sz="2000" dirty="0">
                <a:solidFill>
                  <a:srgbClr val="7030A0"/>
                </a:solidFill>
                <a:latin typeface="Book Antiqua" pitchFamily="18" charset="0"/>
              </a:rPr>
              <a:t> may become scouts to explore the search space by the following equation </a:t>
            </a:r>
            <a:r>
              <a:rPr lang="en-US" sz="2000" dirty="0">
                <a:solidFill>
                  <a:srgbClr val="C00000"/>
                </a:solidFill>
                <a:latin typeface="Book Antiqua" pitchFamily="18" charset="0"/>
              </a:rPr>
              <a:t>(same as initialization)</a:t>
            </a:r>
          </a:p>
          <a:p>
            <a:endParaRPr lang="en-US" sz="2400" dirty="0">
              <a:solidFill>
                <a:srgbClr val="0070C0"/>
              </a:solidFill>
              <a:latin typeface="Book Antiqua" pitchFamily="18" charset="0"/>
            </a:endParaRPr>
          </a:p>
        </p:txBody>
      </p:sp>
      <p:pic>
        <p:nvPicPr>
          <p:cNvPr id="11" name="Picture 10" descr="7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86400" y="1219200"/>
            <a:ext cx="3200400" cy="38100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0" y="5143500"/>
            <a:ext cx="5562600" cy="800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ตัวยึดเนื้อหา 1"/>
          <p:cNvSpPr>
            <a:spLocks noGrp="1"/>
          </p:cNvSpPr>
          <p:nvPr>
            <p:ph idx="1"/>
          </p:nvPr>
        </p:nvSpPr>
        <p:spPr>
          <a:xfrm>
            <a:off x="457200" y="1268413"/>
            <a:ext cx="8229600" cy="4525962"/>
          </a:xfrm>
        </p:spPr>
        <p:txBody>
          <a:bodyPr/>
          <a:lstStyle/>
          <a:p>
            <a:pPr eaLnBrk="1" hangingPunct="1"/>
            <a:r>
              <a:rPr lang="en-US" dirty="0">
                <a:cs typeface="Cordia New" pitchFamily="34" charset="-34"/>
              </a:rPr>
              <a:t>Advantages</a:t>
            </a:r>
          </a:p>
          <a:p>
            <a:pPr lvl="1" eaLnBrk="1" hangingPunct="1"/>
            <a:r>
              <a:rPr lang="en-US" dirty="0">
                <a:cs typeface="Cordia New" pitchFamily="34" charset="-34"/>
              </a:rPr>
              <a:t>Few control parameters</a:t>
            </a:r>
          </a:p>
          <a:p>
            <a:pPr lvl="1" eaLnBrk="1" hangingPunct="1"/>
            <a:r>
              <a:rPr lang="en-US" dirty="0">
                <a:cs typeface="Cordia New" pitchFamily="34" charset="-34"/>
              </a:rPr>
              <a:t>Fast convergence</a:t>
            </a:r>
          </a:p>
          <a:p>
            <a:pPr lvl="1" eaLnBrk="1" hangingPunct="1"/>
            <a:r>
              <a:rPr lang="en-US" dirty="0">
                <a:cs typeface="Cordia New" pitchFamily="34" charset="-34"/>
              </a:rPr>
              <a:t>Both exploration &amp; exploitation</a:t>
            </a:r>
          </a:p>
          <a:p>
            <a:pPr eaLnBrk="1" hangingPunct="1"/>
            <a:r>
              <a:rPr lang="en-US" dirty="0">
                <a:cs typeface="Cordia New" pitchFamily="34" charset="-34"/>
              </a:rPr>
              <a:t>Disadvantages</a:t>
            </a:r>
          </a:p>
          <a:p>
            <a:pPr lvl="1" eaLnBrk="1" hangingPunct="1"/>
            <a:r>
              <a:rPr lang="en-US" dirty="0">
                <a:cs typeface="Cordia New" pitchFamily="34" charset="-34"/>
              </a:rPr>
              <a:t>Search space limited by initial solution</a:t>
            </a:r>
          </a:p>
        </p:txBody>
      </p:sp>
      <p:sp>
        <p:nvSpPr>
          <p:cNvPr id="3" name="ชื่อเรื่อง 2"/>
          <p:cNvSpPr>
            <a:spLocks noGrp="1"/>
          </p:cNvSpPr>
          <p:nvPr>
            <p:ph type="title"/>
          </p:nvPr>
        </p:nvSpPr>
        <p:spPr>
          <a:xfrm>
            <a:off x="457200" y="53752"/>
            <a:ext cx="8229600" cy="1143000"/>
          </a:xfrm>
        </p:spPr>
        <p:txBody>
          <a:bodyPr/>
          <a:lstStyle/>
          <a:p>
            <a:pPr algn="r" eaLnBrk="1" fontAlgn="auto" hangingPunct="1">
              <a:spcAft>
                <a:spcPts val="0"/>
              </a:spcAft>
              <a:defRPr/>
            </a:pPr>
            <a:r>
              <a:rPr lang="en-US" dirty="0"/>
              <a:t>Advantages &amp; Disadvantages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968CE7AF-8CF8-44FC-950C-AE2FBB0EAC76}" type="slidenum">
              <a:rPr lang="th-TH" smtClean="0"/>
              <a:pPr>
                <a:defRPr/>
              </a:pPr>
              <a:t>31</a:t>
            </a:fld>
            <a:endParaRPr lang="th-TH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D0C35A-115A-A21C-C7D4-7E5612CE9B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205501"/>
            <a:ext cx="9144000" cy="2193298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B79A5C6-8DD7-BC6D-E433-0BFBB57D6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32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8E31A3C-F932-21A2-1E07-2AA360E7E2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11665"/>
            <a:ext cx="9144000" cy="5234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458983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533107-2FB5-43EE-80D1-EEC7D3B0F9B4}" type="slidenum">
              <a:rPr lang="en-GB"/>
              <a:pPr/>
              <a:t>33</a:t>
            </a:fld>
            <a:endParaRPr lang="en-GB"/>
          </a:p>
        </p:txBody>
      </p:sp>
      <p:sp>
        <p:nvSpPr>
          <p:cNvPr id="285698" name="Rectangle 2"/>
          <p:cNvSpPr>
            <a:spLocks noChangeArrowheads="1"/>
          </p:cNvSpPr>
          <p:nvPr/>
        </p:nvSpPr>
        <p:spPr bwMode="auto">
          <a:xfrm>
            <a:off x="35496" y="-18256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algn="r">
              <a:spcBef>
                <a:spcPts val="1200"/>
              </a:spcBef>
              <a:spcAft>
                <a:spcPts val="300"/>
              </a:spcAft>
            </a:pPr>
            <a:r>
              <a:rPr lang="en-GB" sz="4000" b="1" dirty="0">
                <a:solidFill>
                  <a:schemeClr val="tx2"/>
                </a:solidFill>
              </a:rPr>
              <a:t>Applications</a:t>
            </a:r>
          </a:p>
        </p:txBody>
      </p:sp>
      <p:sp>
        <p:nvSpPr>
          <p:cNvPr id="285699" name="Rectangle 3"/>
          <p:cNvSpPr>
            <a:spLocks noChangeArrowheads="1"/>
          </p:cNvSpPr>
          <p:nvPr/>
        </p:nvSpPr>
        <p:spPr bwMode="auto">
          <a:xfrm>
            <a:off x="588962" y="980728"/>
            <a:ext cx="8424863" cy="50403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609600" indent="-6096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3200" dirty="0">
                <a:latin typeface="Times New Roman" pitchFamily="18" charset="0"/>
              </a:rPr>
              <a:t>Mechanical designs like:</a:t>
            </a:r>
          </a:p>
          <a:p>
            <a:pPr marL="1244600" lvl="1" indent="-5334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2800" dirty="0">
                <a:latin typeface="Times New Roman" pitchFamily="18" charset="0"/>
              </a:rPr>
              <a:t>Design of welded beam</a:t>
            </a:r>
          </a:p>
          <a:p>
            <a:pPr marL="1244600" lvl="1" indent="-5334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2800" dirty="0">
                <a:latin typeface="Times New Roman" pitchFamily="18" charset="0"/>
              </a:rPr>
              <a:t>Design of coil spring</a:t>
            </a:r>
          </a:p>
          <a:p>
            <a:pPr marL="609600" indent="-6096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3200" dirty="0">
                <a:latin typeface="Times New Roman" pitchFamily="18" charset="0"/>
              </a:rPr>
              <a:t>Digital Filter Optimisation</a:t>
            </a:r>
          </a:p>
          <a:p>
            <a:pPr marL="609600" indent="-6096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3200" dirty="0">
                <a:latin typeface="Times New Roman" pitchFamily="18" charset="0"/>
              </a:rPr>
              <a:t>Fuzzy Control Design</a:t>
            </a:r>
          </a:p>
          <a:p>
            <a:pPr marL="609600" indent="-6096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3200" dirty="0">
                <a:latin typeface="Times New Roman" pitchFamily="18" charset="0"/>
              </a:rPr>
              <a:t>Data Clustering (solving the local optimum for K-means algorithm)</a:t>
            </a:r>
          </a:p>
          <a:p>
            <a:pPr marL="609600" indent="-609600">
              <a:spcBef>
                <a:spcPts val="1200"/>
              </a:spcBef>
              <a:spcAft>
                <a:spcPts val="300"/>
              </a:spcAft>
              <a:buFontTx/>
              <a:buBlip>
                <a:blip r:embed="rId3"/>
              </a:buBlip>
            </a:pPr>
            <a:r>
              <a:rPr lang="en-GB" sz="3200" dirty="0">
                <a:latin typeface="Times New Roman" pitchFamily="18" charset="0"/>
              </a:rPr>
              <a:t>Robot control</a:t>
            </a:r>
            <a:endParaRPr lang="en-US" sz="3200" dirty="0">
              <a:latin typeface="Times New Roman" pitchFamily="18" charset="0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7DE9E5A-8383-79E4-F952-D956CCBB9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34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E074A09-5FB8-238D-9A6D-5DF1E5BAFB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36899"/>
            <a:ext cx="9144000" cy="5984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82859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5A54389-4B4D-15DF-542E-350A68896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5A56B441-A678-434D-A4D9-84D84585AA86}" type="slidenum">
              <a:rPr lang="th-TH" smtClean="0"/>
              <a:pPr>
                <a:defRPr/>
              </a:pPr>
              <a:t>35</a:t>
            </a:fld>
            <a:endParaRPr lang="th-TH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C1F4FD-0F66-AAB2-A423-A4A009D754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491"/>
            <a:ext cx="9144000" cy="6399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07685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รวมกลุ่ม">
  <a:themeElements>
    <a:clrScheme name="รวมกลุ่ม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รวมกลุ่ม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รวมกลุ่ม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รวมกลุ่ม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2.xml><?xml version="1.0" encoding="utf-8"?>
<a:themeOverride xmlns:a="http://schemas.openxmlformats.org/drawingml/2006/main">
  <a:clrScheme name="รวมกลุ่ม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3.xml><?xml version="1.0" encoding="utf-8"?>
<a:themeOverride xmlns:a="http://schemas.openxmlformats.org/drawingml/2006/main">
  <a:clrScheme name="รวมกลุ่ม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ppt/theme/themeOverride4.xml><?xml version="1.0" encoding="utf-8"?>
<a:themeOverride xmlns:a="http://schemas.openxmlformats.org/drawingml/2006/main">
  <a:clrScheme name="รวมกลุ่ม">
    <a:dk1>
      <a:sysClr val="windowText" lastClr="000000"/>
    </a:dk1>
    <a:lt1>
      <a:sysClr val="window" lastClr="FFFFFF"/>
    </a:lt1>
    <a:dk2>
      <a:srgbClr val="464646"/>
    </a:dk2>
    <a:lt2>
      <a:srgbClr val="DEF5FA"/>
    </a:lt2>
    <a:accent1>
      <a:srgbClr val="2DA2BF"/>
    </a:accent1>
    <a:accent2>
      <a:srgbClr val="DA1F28"/>
    </a:accent2>
    <a:accent3>
      <a:srgbClr val="EB641B"/>
    </a:accent3>
    <a:accent4>
      <a:srgbClr val="39639D"/>
    </a:accent4>
    <a:accent5>
      <a:srgbClr val="474B78"/>
    </a:accent5>
    <a:accent6>
      <a:srgbClr val="7D3C4A"/>
    </a:accent6>
    <a:hlink>
      <a:srgbClr val="FF8119"/>
    </a:hlink>
    <a:folHlink>
      <a:srgbClr val="44B9E8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1620</TotalTime>
  <Words>919</Words>
  <Application>Microsoft Office PowerPoint</Application>
  <PresentationFormat>On-screen Show (4:3)</PresentationFormat>
  <Paragraphs>184</Paragraphs>
  <Slides>35</Slides>
  <Notes>9</Notes>
  <HiddenSlides>0</HiddenSlides>
  <MMClips>0</MMClips>
  <ScaleCrop>false</ScaleCrop>
  <HeadingPairs>
    <vt:vector size="8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6" baseType="lpstr">
      <vt:lpstr>Arial</vt:lpstr>
      <vt:lpstr>Book Antiqua</vt:lpstr>
      <vt:lpstr>Calibri</vt:lpstr>
      <vt:lpstr>Lucida Sans Unicode</vt:lpstr>
      <vt:lpstr>Times New Roman</vt:lpstr>
      <vt:lpstr>Verdana</vt:lpstr>
      <vt:lpstr>Wingdings</vt:lpstr>
      <vt:lpstr>Wingdings 2</vt:lpstr>
      <vt:lpstr>Wingdings 3</vt:lpstr>
      <vt:lpstr>รวมกลุ่ม</vt:lpstr>
      <vt:lpstr>Equation</vt:lpstr>
      <vt:lpstr>Artificial Bee Colony (ABC) Algorithm</vt:lpstr>
      <vt:lpstr>Artificial Bee Colony (ABC) (History)</vt:lpstr>
      <vt:lpstr>Artificial Bee Colony</vt:lpstr>
      <vt:lpstr>Artificial Bee Colony (ABC) </vt:lpstr>
      <vt:lpstr>PowerPoint Presentation</vt:lpstr>
      <vt:lpstr>PowerPoint Presentation</vt:lpstr>
      <vt:lpstr>PowerPoint Presentation</vt:lpstr>
      <vt:lpstr>PowerPoint Presentation</vt:lpstr>
      <vt:lpstr>Bees in Nature</vt:lpstr>
      <vt:lpstr>Bees in Nature</vt:lpstr>
      <vt:lpstr>Bees in Nature</vt:lpstr>
      <vt:lpstr>Bees in Nature</vt:lpstr>
      <vt:lpstr>Bees in Nature</vt:lpstr>
      <vt:lpstr>Bees in Nature</vt:lpstr>
      <vt:lpstr>Bees in Nature</vt:lpstr>
      <vt:lpstr>PowerPoint Presentation</vt:lpstr>
      <vt:lpstr>Bees in Nature</vt:lpstr>
      <vt:lpstr>ABC Algorithm</vt:lpstr>
      <vt:lpstr>ABC Algorithm</vt:lpstr>
      <vt:lpstr> ABC control parameters </vt:lpstr>
      <vt:lpstr>Initial Solutions</vt:lpstr>
      <vt:lpstr>Employed bee Phase</vt:lpstr>
      <vt:lpstr>Employed bee Phase (Cont.)</vt:lpstr>
      <vt:lpstr>PowerPoint Presentation</vt:lpstr>
      <vt:lpstr>Onlookers Phase</vt:lpstr>
      <vt:lpstr>PowerPoint Presentation</vt:lpstr>
      <vt:lpstr>PowerPoint Presentation</vt:lpstr>
      <vt:lpstr>Onlookers Phase (cont.)</vt:lpstr>
      <vt:lpstr>PowerPoint Presentation</vt:lpstr>
      <vt:lpstr>Scout Phase</vt:lpstr>
      <vt:lpstr>Advantages &amp; Disadvantages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Artificial Bee Colony (ABC) Algorithm</dc:title>
  <dc:creator>Kwangkwangz</dc:creator>
  <cp:lastModifiedBy>ASUS</cp:lastModifiedBy>
  <cp:revision>186</cp:revision>
  <dcterms:created xsi:type="dcterms:W3CDTF">2012-02-06T16:17:47Z</dcterms:created>
  <dcterms:modified xsi:type="dcterms:W3CDTF">2025-12-01T12:10:08Z</dcterms:modified>
</cp:coreProperties>
</file>