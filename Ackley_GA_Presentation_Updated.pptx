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9165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Finding the global minimum</a:t>
            </a:r>
          </a:p>
          <a:p>
            <a:r>
              <a:t>Target: 30 seconds</a:t>
            </a:r>
          </a:p>
          <a:p>
            <a:endParaRPr/>
          </a:p>
          <a:p>
            <a:r>
              <a:t>Good morning, sir. Our project is about finding the lowest point of the two-dimensional Ackley function using a Genetic Algorithm. We will explain the problem, show how our algorithm works, and discuss the results. We will also show two changes that improved our first version.</a:t>
            </a:r>
          </a:p>
          <a:p>
            <a:endParaRPr/>
          </a:p>
          <a:p>
            <a:r>
              <a:t>VISUAL / DELIVERY</a:t>
            </a:r>
          </a:p>
          <a:p>
            <a:r>
              <a:t>Original template DNA illustration.</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Find the lowest point</a:t>
            </a:r>
          </a:p>
          <a:p>
            <a:r>
              <a:t>Target: 45 seconds</a:t>
            </a:r>
          </a:p>
          <a:p>
            <a:endParaRPr/>
          </a:p>
          <a:p>
            <a:r>
              <a:t>We need to find two numbers, x-one and x-two, that give the smallest function value. Each number must stay between minus five and plus five. The known answer is zero, zero, where the function value is zero. We use this point to check our result. We do not insert it into the population or direct the search toward it. The search chooses points and evaluates their function values.</a:t>
            </a:r>
          </a:p>
          <a:p>
            <a:endParaRPr/>
          </a:p>
          <a:p>
            <a:r>
              <a:t>VISUAL / DELIVERY</a:t>
            </a:r>
          </a:p>
          <a:p>
            <a:r>
              <a:t>Native coordinate diagram: allowed square and known optimum.</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The Ackley function in 2-D</a:t>
            </a:r>
          </a:p>
          <a:p>
            <a:r>
              <a:t>Target: 55 seconds</a:t>
            </a:r>
          </a:p>
          <a:p>
            <a:endParaRPr/>
          </a:p>
          <a:p>
            <a:r>
              <a:t>The top formula works for any number of variables. Our problem has two variables, so we set n equal to two. We use the standard constants: a is twenty, b is zero point two, and c is two pi. Each sum now contains just two terms. This gives the lower formula used in our code. To check the answer, put zero into both variables. The first part becomes minus twenty, and the second becomes minus e. The remaining terms cancel them, so the mathematical value is zero.</a:t>
            </a:r>
          </a:p>
          <a:p>
            <a:endParaRPr/>
          </a:p>
          <a:p>
            <a:r>
              <a:t>VISUAL / DELIVERY</a:t>
            </a:r>
          </a:p>
          <a:p>
            <a:r>
              <a:t>Typeset equations, with a three-step substitution guide.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One deep minimum. Many small traps.</a:t>
            </a:r>
          </a:p>
          <a:p>
            <a:r>
              <a:t>Target: 55 seconds</a:t>
            </a:r>
          </a:p>
          <a:p>
            <a:endParaRPr/>
          </a:p>
          <a:p>
            <a:r>
              <a:t>These pictures show why Ackley is difficult. The overall surface slopes toward the centre, but it also contains many small dips. We call these local minima. They are lower than nearby points, but they are not the lowest point of the whole surface. A method that follows the local downhill direction can get stuck in one of them. Trying every point is also expensive. A grid with one-millionth spacing across this square would contain about ten to the fourteen points. We need a search that can explore several areas.</a:t>
            </a:r>
          </a:p>
          <a:p>
            <a:endParaRPr/>
          </a:p>
          <a:p>
            <a:r>
              <a:t>VISUAL / DELIVERY</a:t>
            </a:r>
          </a:p>
          <a:p>
            <a:r>
              <a:t>01_ackley_landscape.png; 02_ackley_slice.png.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Search with a population</a:t>
            </a:r>
          </a:p>
          <a:p>
            <a:r>
              <a:t>Target: 50 seconds</a:t>
            </a:r>
          </a:p>
          <a:p>
            <a:endParaRPr/>
          </a:p>
          <a:p>
            <a:r>
              <a:t>A Genetic Algorithm is inspired by natural selection. We start with fifty possible answers, shown by the points in this figure. Each answer is called a chromosome. It stores two genes: x-one and x-two. We evaluate all fifty points. Better points get a higher chance of becoming parents. We then mix the parents and make small random changes to their children. Repeating this process can move the population toward better areas. The method does not need a derivative, but it does not guarantee success on every problem.</a:t>
            </a:r>
          </a:p>
          <a:p>
            <a:endParaRPr/>
          </a:p>
          <a:p>
            <a:r>
              <a:t>VISUAL / DELIVERY</a:t>
            </a:r>
          </a:p>
          <a:p>
            <a:r>
              <a:t>03_initial_population.png.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One solution = two real numbers</a:t>
            </a:r>
          </a:p>
          <a:p>
            <a:r>
              <a:t>Target: 40 seconds</a:t>
            </a:r>
          </a:p>
          <a:p>
            <a:endParaRPr/>
          </a:p>
          <a:p>
            <a:r>
              <a:t>Our representation is simple. Each chromosome stores the two actual coordinate values. This is called value encoding. For example, minus four and two point five form one candidate answer. We use real-valued numbers instead of a fixed-length binary chromosome. This avoids choosing a binary grid size in advance. It does not give unlimited accuracy, because computers still use finite precision. Throughout the run, both coordinates stay inside the allowed range.</a:t>
            </a:r>
          </a:p>
          <a:p>
            <a:endParaRPr/>
          </a:p>
          <a:p>
            <a:r>
              <a:t>VISUAL / DELIVERY</a:t>
            </a:r>
          </a:p>
          <a:p>
            <a:r>
              <a:t>Editable two-gene chromosome diagram.</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The settings we used</a:t>
            </a:r>
          </a:p>
          <a:p>
            <a:r>
              <a:t>Target: 45 seconds</a:t>
            </a:r>
          </a:p>
          <a:p>
            <a:endParaRPr/>
          </a:p>
          <a:p>
            <a:r>
              <a:t>The left side contains the assignment settings: fifty chromosomes, up to one hundred generations, eighty percent crossover, five percent mutation per gene, and one elite. We also use the required value encoding, roulette selection, and one-point crossover. The right side shows our choices. We use Gaussian mutation, adjust its step size using the current best value, and limit duplicate chromosomes. We also choose a stopping tolerance and use seed seven for the main run. The seed lets us repeat the same experiment.</a:t>
            </a:r>
          </a:p>
          <a:p>
            <a:endParaRPr/>
          </a:p>
          <a:p>
            <a:r>
              <a:t>VISUAL / DELIVERY</a:t>
            </a:r>
          </a:p>
          <a:p>
            <a:r>
              <a:t>Two clearly separated settings panels.</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The search loop</a:t>
            </a:r>
          </a:p>
          <a:p>
            <a:r>
              <a:t>Target: 65 seconds</a:t>
            </a:r>
          </a:p>
          <a:p>
            <a:endParaRPr/>
          </a:p>
          <a:p>
            <a:r>
              <a:t>This is the full search loop. First, we create fifty random points, evaluate them, and sort them from best to worst. We check whether it is time to stop. If not, we calculate the mutation step and the roulette probabilities. We select parents, apply crossover, then mutate and clip the children. After evaluating fifty children, we have fifty parents and fifty children. We keep the elite and fill the other forty-nine places from the remaining candidates, while applying the duplicate limit. This gives the next population of fifty. Then the loop repeats.</a:t>
            </a:r>
          </a:p>
          <a:p>
            <a:endParaRPr/>
          </a:p>
          <a:p>
            <a:r>
              <a:t>VISUAL / DELIVERY</a:t>
            </a:r>
          </a:p>
          <a:p>
            <a:r>
              <a:t>Editable PowerPoint flowchart. Reveal the reproduction and survivor blocks on click.</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Better points get larger slices</a:t>
            </a:r>
          </a:p>
          <a:p>
            <a:r>
              <a:t>Target: 70 seconds</a:t>
            </a:r>
          </a:p>
          <a:p>
            <a:endParaRPr/>
          </a:p>
          <a:p>
            <a:r>
              <a:t>Roulette selection needs a small adjustment for our problem. A smaller Ackley value is better, but roulette selection gives more chances to a larger fitness value. So we subtract each value from the worst value and add a small positive offset. Then we divide by the total fitness to get probabilities. The probabilities add up to one. In our initial population, chromosome seven has the best value, about three point one nine. It gets about four point eight three percent of the wheel. The worst still gets a small chance. The figure shows the ten largest slices separately and groups the other forty together. The actual selection still uses fifty separate probabilities.</a:t>
            </a:r>
          </a:p>
          <a:p>
            <a:endParaRPr/>
          </a:p>
          <a:p>
            <a:r>
              <a:t>VISUAL / DELIVERY</a:t>
            </a:r>
          </a:p>
          <a:p>
            <a:r>
              <a:t>04_roulette_pie_gen0.png; generation-0 table.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Crossover swaps the second gene</a:t>
            </a:r>
          </a:p>
          <a:p>
            <a:r>
              <a:t>Target: 50 seconds</a:t>
            </a:r>
          </a:p>
          <a:p>
            <a:endParaRPr/>
          </a:p>
          <a:p>
            <a:r>
              <a:t>Crossover mixes two parents. With only two genes, there is just one place to cut: between x-one and x-two. We swap the second genes. In this example, the first child gets minus four from the first parent and minus one from the second. The other child gets the remaining pair. This happens with eighty percent probability. Otherwise, the children are copies of the parents. Notice that all four numbers already existed. Crossover changes how they are paired, but does not create a new coordinate value.</a:t>
            </a:r>
          </a:p>
          <a:p>
            <a:endParaRPr/>
          </a:p>
          <a:p>
            <a:r>
              <a:t>VISUAL / DELIVERY</a:t>
            </a:r>
          </a:p>
          <a:p>
            <a:r>
              <a:t>Editable, colour-coded parent and child genes. Reveal the children on click.</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Mutation creates new values</a:t>
            </a:r>
          </a:p>
          <a:p>
            <a:r>
              <a:t>Target: 50 seconds</a:t>
            </a:r>
          </a:p>
          <a:p>
            <a:endParaRPr/>
          </a:p>
          <a:p>
            <a:r>
              <a:t>Mutation gives us new coordinate values. We check each gene separately. Each gene has a five percent chance of changing. When it changes, we add a random value from a Gaussian distribution. The example shows only the first gene changing; it is an illustration, not the recorded random output. After a change, we clip the value to the allowed range. For example, five point three becomes five. The mutation probability always stays at five percent. The amount of change depends on sigma, which we explain next. Fresh random replacements in the survivor step can also add new values.</a:t>
            </a:r>
          </a:p>
          <a:p>
            <a:endParaRPr/>
          </a:p>
          <a:p>
            <a:r>
              <a:t>VISUAL / DELIVERY</a:t>
            </a:r>
          </a:p>
          <a:p>
            <a:r>
              <a:t>Editable before-and-after chromosome and boundary-repair diagram.</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Let progress control the step size</a:t>
            </a:r>
          </a:p>
          <a:p>
            <a:r>
              <a:t>Target: 80 seconds</a:t>
            </a:r>
          </a:p>
          <a:p>
            <a:endParaRPr/>
          </a:p>
          <a:p>
            <a:r>
              <a:t>Our first version reduced the step size according to the generation number. The problem is that the steps become small even if the run is still stuck in a local dip. Our final version uses the current best function value divided by four. We keep sigma between ten to the minus twelve and two. A poor result therefore keeps larger steps, while a good result gets smaller steps for fine tuning. For example, a best value of two point six gives sigma zero point six five. The factor one quarter comes from the local shape of Ackley. Near the origin, the function is about four times the root-mean-square size of the coordinates. This is a rule chosen for Ackley, not a general distance formula. It uses function knowledge, but does not give the search the answer coordinates.</a:t>
            </a:r>
          </a:p>
          <a:p>
            <a:endParaRPr/>
          </a:p>
          <a:p>
            <a:r>
              <a:t>VISUAL / DELIVERY</a:t>
            </a:r>
          </a:p>
          <a:p>
            <a:r>
              <a:t>Rule card and exact example table.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Keep the best. Limit exact copies.</a:t>
            </a:r>
          </a:p>
          <a:p>
            <a:r>
              <a:t>Target: 55 seconds</a:t>
            </a:r>
          </a:p>
          <a:p>
            <a:endParaRPr/>
          </a:p>
          <a:p>
            <a:r>
              <a:t>We choose the next generation from the parents and children together. First, we reserve the best parent. This is elitism, and it means our best-so-far result cannot get worse. Then we fill the other forty-nine seats in order of quality. We allow at most fifteen exact copies of the same chromosome. This prevents one identical point from taking all fifty places. If too few candidates fit the rule, the code fills the remaining seats with fresh random points and evaluates them. The copy limit helps keep different chromosomes in the population, although they may still be very close together.</a:t>
            </a:r>
          </a:p>
          <a:p>
            <a:endParaRPr/>
          </a:p>
          <a:p>
            <a:r>
              <a:t>VISUAL / DELIVERY</a:t>
            </a:r>
          </a:p>
          <a:p>
            <a:r>
              <a:t>Editable 100 → 1 elite + 49 survivors diagram. Reveal the survivor rules on click.</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Stop after 100 rounds—or little progress</a:t>
            </a:r>
          </a:p>
          <a:p>
            <a:r>
              <a:t>Target: 45 seconds</a:t>
            </a:r>
          </a:p>
          <a:p>
            <a:endParaRPr/>
          </a:p>
          <a:p>
            <a:r>
              <a:t>We stop after one hundred generations, or when the improvement is below ten to the minus ten for twenty generations in a row. One generation without improvement is normal in a random search, so we do not stop immediately. The graph uses a logarithmic scale to show improvements over many orders of magnitude. In the main run, the value is already about zero point zero zero six at generation twenty, but that is not our final precision. The best result is found at generation one hundred. A small improvement is a stopping rule, not proof that the exact optimum has been reached.</a:t>
            </a:r>
          </a:p>
          <a:p>
            <a:endParaRPr/>
          </a:p>
          <a:p>
            <a:r>
              <a:t>VISUAL / DELIVERY</a:t>
            </a:r>
          </a:p>
          <a:p>
            <a:r>
              <a:t>05_convergence_and_diversity.png. Caption clarifies that σ is clipped in code.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Our result is very close to (0, 0)</a:t>
            </a:r>
          </a:p>
          <a:p>
            <a:r>
              <a:t>Target: 65 seconds</a:t>
            </a:r>
          </a:p>
          <a:p>
            <a:endParaRPr/>
          </a:p>
          <a:p>
            <a:r>
              <a:t>These are the numbers from our main run with seed seven. Both coordinates are within ten to the minus twelve of zero. The final function value is about one point one times ten to the minus twelve. The best point was found at generation one hundred, using five thousand and fifty function evaluations. Its distance from the true answer is about three point eight times ten to the minus thirteen. For comparison, random search with the same seed and evaluation budget reached about zero point seven seven. The GA gives a much smaller objective value in this comparison. This is one baseline experiment, not a universal speed or accuracy guarantee. Our result is very close to zero, but it is still an approximation.</a:t>
            </a:r>
          </a:p>
          <a:p>
            <a:endParaRPr/>
          </a:p>
          <a:p>
            <a:r>
              <a:t>VISUAL / DELIVERY</a:t>
            </a:r>
          </a:p>
          <a:p>
            <a:r>
              <a:t>06_best_solution_path.png.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Two changes solve different problems</a:t>
            </a:r>
          </a:p>
          <a:p>
            <a:r>
              <a:t>Target: 80 seconds</a:t>
            </a:r>
          </a:p>
          <a:p>
            <a:endParaRPr/>
          </a:p>
          <a:p>
            <a:r>
              <a:t>We tested four versions using the same forty seeds. The top two rows use a timed mutation schedule. Both leave one run stuck at about two point five eight, whether the copy limit is present or not. The bottom two rows use the adaptive step. All forty runs then finish in the correct valley. Their median values are also much smaller. Now look at the last column. The copy limit increases the number of different chromosomes: from three to nine with the timed schedule, and from eight to thirteen with the adaptive step. So the adaptive step mainly improves the result, while the copy limit mainly improves diversity. The adaptive version without the cap actually has the lower median error here. We keep the cap to maintain more distinct candidates.</a:t>
            </a:r>
          </a:p>
          <a:p>
            <a:endParaRPr/>
          </a:p>
          <a:p>
            <a:r>
              <a:t>VISUAL / DELIVERY</a:t>
            </a:r>
          </a:p>
          <a:p>
            <a:r>
              <a:t>Four-row comparison table, with the final version highlighted.</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All 40 runs met the accuracy target</a:t>
            </a:r>
          </a:p>
          <a:p>
            <a:r>
              <a:t>Target: 55 seconds</a:t>
            </a:r>
          </a:p>
          <a:p>
            <a:endParaRPr/>
          </a:p>
          <a:p>
            <a:r>
              <a:t>To check reliability, we ran the final version with forty different seeds, from zero to thirty-nine. We defined success as a function value below ten to the minus six. All forty runs passed. The median was about one point six times ten to the minus twelve, and even the worst was about three point one times ten to the minus eleven. The points overlap near the origin in the figure, but they are not mathematically exact zero. These tests show that the method worked consistently in our experiments. They do not guarantee that every future run will succeed.</a:t>
            </a:r>
          </a:p>
          <a:p>
            <a:endParaRPr/>
          </a:p>
          <a:p>
            <a:r>
              <a:t>VISUAL / DELIVERY</a:t>
            </a:r>
          </a:p>
          <a:p>
            <a:r>
              <a:t>09_reliability_40_runs.png. Points visually overlap the optimum; they are approximate.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What we learned</a:t>
            </a:r>
          </a:p>
          <a:p>
            <a:r>
              <a:t>Target: 40 seconds</a:t>
            </a:r>
          </a:p>
          <a:p>
            <a:endParaRPr/>
          </a:p>
          <a:p>
            <a:r>
              <a:t>To conclude, our Genetic Algorithm found a point very close to the known minimum. The main run reached a function value of about ten to the minus twelve, and all forty reliability tests met our accuracy target. Each part had a job: selection favoured better points, crossover mixed coordinates, mutation created new values, and elitism protected the best result. The adaptive step improved precision, while the copy limit kept more distinct candidates. Our main lesson is to test a random algorithm with many seeds, rather than judging it from one good run. Thank you, sir. We are ready for questions.</a:t>
            </a:r>
          </a:p>
          <a:p>
            <a:endParaRPr/>
          </a:p>
          <a:p>
            <a:r>
              <a:t>VISUAL / DELIVERY</a:t>
            </a:r>
          </a:p>
          <a:p>
            <a:r>
              <a:t>Native summary cards and the original DNA illustration.</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CSE 4111 · MACHINE LEARNING</a:t>
            </a:r>
          </a:p>
        </p:txBody>
      </p:sp>
      <p:cxnSp>
        <p:nvCxnSpPr>
          <p:cNvPr id="4" name="Connector 3"/>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5"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6" name="TextBox 5"/>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7"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01 / 18</a:t>
            </a:r>
          </a:p>
        </p:txBody>
      </p:sp>
      <p:sp>
        <p:nvSpPr>
          <p:cNvPr id="8" name="Original template DNA illustration"/>
          <p:cNvSpPr/>
          <p:nvPr/>
        </p:nvSpPr>
        <p:spPr>
          <a:xfrm>
            <a:off x="15361920" y="1371600"/>
            <a:ext cx="1828800" cy="7040880"/>
          </a:xfrm>
          <a:custGeom>
            <a:avLst/>
            <a:gdLst/>
            <a:ahLst/>
            <a:cxnLst/>
            <a:rect l="l" t="t" r="r" b="b"/>
            <a:pathLst>
              <a:path w="3133285" h="10907004">
                <a:moveTo>
                  <a:pt x="0" y="0"/>
                </a:moveTo>
                <a:lnTo>
                  <a:pt x="3133284" y="0"/>
                </a:lnTo>
                <a:lnTo>
                  <a:pt x="3133284" y="10907004"/>
                </a:lnTo>
                <a:lnTo>
                  <a:pt x="0" y="109070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8"/>
          <p:cNvSpPr txBox="1"/>
          <p:nvPr/>
        </p:nvSpPr>
        <p:spPr>
          <a:xfrm>
            <a:off x="914400" y="1417320"/>
            <a:ext cx="128016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GENETIC ALGORITHM · GROUP PRESENTATION</a:t>
            </a:r>
          </a:p>
        </p:txBody>
      </p:sp>
      <p:sp>
        <p:nvSpPr>
          <p:cNvPr id="10" name="TextBox 9"/>
          <p:cNvSpPr txBox="1"/>
          <p:nvPr/>
        </p:nvSpPr>
        <p:spPr>
          <a:xfrm>
            <a:off x="914400" y="2057400"/>
            <a:ext cx="13716000" cy="2148840"/>
          </a:xfrm>
          <a:prstGeom prst="rect">
            <a:avLst/>
          </a:prstGeom>
          <a:noFill/>
        </p:spPr>
        <p:txBody>
          <a:bodyPr wrap="square" lIns="0" tIns="0" rIns="0" bIns="0">
            <a:spAutoFit/>
          </a:bodyPr>
          <a:lstStyle/>
          <a:p>
            <a:pPr>
              <a:spcBef>
                <a:spcPts val="0"/>
              </a:spcBef>
              <a:spcAft>
                <a:spcPts val="600"/>
              </a:spcAft>
              <a:defRPr sz="6600" b="1">
                <a:solidFill>
                  <a:srgbClr val="163D50"/>
                </a:solidFill>
                <a:latin typeface="Arial"/>
              </a:defRPr>
            </a:pPr>
            <a:r>
              <a:rPr dirty="0"/>
              <a:t>Finding the</a:t>
            </a:r>
          </a:p>
          <a:p>
            <a:pPr>
              <a:spcBef>
                <a:spcPts val="0"/>
              </a:spcBef>
              <a:spcAft>
                <a:spcPts val="600"/>
              </a:spcAft>
              <a:defRPr sz="6600" b="1">
                <a:solidFill>
                  <a:srgbClr val="163D50"/>
                </a:solidFill>
                <a:latin typeface="Arial"/>
              </a:defRPr>
            </a:pPr>
            <a:r>
              <a:rPr lang="en-US" dirty="0"/>
              <a:t>G</a:t>
            </a:r>
            <a:r>
              <a:rPr dirty="0"/>
              <a:t>lobal </a:t>
            </a:r>
            <a:r>
              <a:rPr lang="en-US" dirty="0"/>
              <a:t>M</a:t>
            </a:r>
            <a:r>
              <a:rPr dirty="0"/>
              <a:t>inimum</a:t>
            </a:r>
          </a:p>
        </p:txBody>
      </p:sp>
      <p:sp>
        <p:nvSpPr>
          <p:cNvPr id="11" name="TextBox 10"/>
          <p:cNvSpPr txBox="1"/>
          <p:nvPr/>
        </p:nvSpPr>
        <p:spPr>
          <a:xfrm>
            <a:off x="914400" y="4526280"/>
            <a:ext cx="13716000" cy="640080"/>
          </a:xfrm>
          <a:prstGeom prst="rect">
            <a:avLst/>
          </a:prstGeom>
          <a:noFill/>
        </p:spPr>
        <p:txBody>
          <a:bodyPr wrap="square" lIns="0" tIns="0" rIns="0" bIns="0">
            <a:spAutoFit/>
          </a:bodyPr>
          <a:lstStyle/>
          <a:p>
            <a:pPr>
              <a:spcBef>
                <a:spcPts val="0"/>
              </a:spcBef>
              <a:spcAft>
                <a:spcPts val="600"/>
              </a:spcAft>
              <a:defRPr sz="3100" b="0">
                <a:solidFill>
                  <a:srgbClr val="237B83"/>
                </a:solidFill>
                <a:latin typeface="Calibri"/>
              </a:defRPr>
            </a:pPr>
            <a:r>
              <a:t>The 2-D Ackley function using a Genetic Algorithm</a:t>
            </a:r>
          </a:p>
        </p:txBody>
      </p:sp>
      <p:cxnSp>
        <p:nvCxnSpPr>
          <p:cNvPr id="12" name="Connector 11"/>
          <p:cNvCxnSpPr/>
          <p:nvPr/>
        </p:nvCxnSpPr>
        <p:spPr>
          <a:xfrm>
            <a:off x="914400" y="5577840"/>
            <a:ext cx="12984480" cy="0"/>
          </a:xfrm>
          <a:prstGeom prst="line">
            <a:avLst/>
          </a:prstGeom>
          <a:ln w="25400">
            <a:solidFill>
              <a:srgbClr val="CFDED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989320"/>
            <a:ext cx="11887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SUBMITTED TO</a:t>
            </a:r>
          </a:p>
        </p:txBody>
      </p:sp>
      <p:sp>
        <p:nvSpPr>
          <p:cNvPr id="14" name="TextBox 13"/>
          <p:cNvSpPr txBox="1"/>
          <p:nvPr/>
        </p:nvSpPr>
        <p:spPr>
          <a:xfrm>
            <a:off x="914400" y="6428232"/>
            <a:ext cx="11887200" cy="521207"/>
          </a:xfrm>
          <a:prstGeom prst="rect">
            <a:avLst/>
          </a:prstGeom>
          <a:noFill/>
        </p:spPr>
        <p:txBody>
          <a:bodyPr wrap="square" lIns="0" tIns="0" rIns="0" bIns="0">
            <a:spAutoFit/>
          </a:bodyPr>
          <a:lstStyle/>
          <a:p>
            <a:pPr>
              <a:spcBef>
                <a:spcPts val="0"/>
              </a:spcBef>
              <a:spcAft>
                <a:spcPts val="600"/>
              </a:spcAft>
              <a:defRPr sz="3200" b="1">
                <a:solidFill>
                  <a:srgbClr val="233C49"/>
                </a:solidFill>
                <a:latin typeface="Calibri"/>
              </a:defRPr>
            </a:pPr>
            <a:r>
              <a:t>Dr. Al-Mahmud</a:t>
            </a:r>
          </a:p>
        </p:txBody>
      </p:sp>
      <p:sp>
        <p:nvSpPr>
          <p:cNvPr id="15" name="TextBox 14"/>
          <p:cNvSpPr txBox="1"/>
          <p:nvPr/>
        </p:nvSpPr>
        <p:spPr>
          <a:xfrm>
            <a:off x="914400" y="6976872"/>
            <a:ext cx="12801600" cy="411480"/>
          </a:xfrm>
          <a:prstGeom prst="rect">
            <a:avLst/>
          </a:prstGeom>
          <a:noFill/>
        </p:spPr>
        <p:txBody>
          <a:bodyPr wrap="square" lIns="0" tIns="0" rIns="0" bIns="0">
            <a:spAutoFit/>
          </a:bodyPr>
          <a:lstStyle/>
          <a:p>
            <a:pPr>
              <a:spcBef>
                <a:spcPts val="0"/>
              </a:spcBef>
              <a:spcAft>
                <a:spcPts val="600"/>
              </a:spcAft>
              <a:defRPr sz="2600" b="0">
                <a:solidFill>
                  <a:srgbClr val="5B747D"/>
                </a:solidFill>
                <a:latin typeface="Calibri"/>
              </a:defRPr>
            </a:pPr>
            <a:r>
              <a:t>Professor, Department of CSE, KUET</a:t>
            </a:r>
          </a:p>
        </p:txBody>
      </p:sp>
      <p:sp>
        <p:nvSpPr>
          <p:cNvPr id="16" name="TextBox 15"/>
          <p:cNvSpPr txBox="1"/>
          <p:nvPr/>
        </p:nvSpPr>
        <p:spPr>
          <a:xfrm>
            <a:off x="914400" y="7818120"/>
            <a:ext cx="11887200" cy="276999"/>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rPr dirty="0"/>
              <a:t>SUBMITTED BY </a:t>
            </a:r>
          </a:p>
        </p:txBody>
      </p:sp>
      <p:sp>
        <p:nvSpPr>
          <p:cNvPr id="17" name="TextBox 16"/>
          <p:cNvSpPr txBox="1"/>
          <p:nvPr/>
        </p:nvSpPr>
        <p:spPr>
          <a:xfrm>
            <a:off x="914400" y="8247888"/>
            <a:ext cx="12801600" cy="914400"/>
          </a:xfrm>
          <a:prstGeom prst="rect">
            <a:avLst/>
          </a:prstGeom>
          <a:noFill/>
        </p:spPr>
        <p:txBody>
          <a:bodyPr wrap="square" lIns="0" tIns="0" rIns="0" bIns="0">
            <a:spAutoFit/>
          </a:bodyPr>
          <a:lstStyle/>
          <a:p>
            <a:pPr>
              <a:spcBef>
                <a:spcPts val="0"/>
              </a:spcBef>
              <a:spcAft>
                <a:spcPts val="600"/>
              </a:spcAft>
              <a:defRPr sz="2700" b="0">
                <a:solidFill>
                  <a:srgbClr val="233C49"/>
                </a:solidFill>
                <a:latin typeface="Calibri"/>
              </a:defRPr>
            </a:pPr>
            <a:r>
              <a:t>2107001  ·  2107004  ·  2107009</a:t>
            </a:r>
          </a:p>
          <a:p>
            <a:pPr>
              <a:spcBef>
                <a:spcPts val="0"/>
              </a:spcBef>
              <a:spcAft>
                <a:spcPts val="600"/>
              </a:spcAft>
              <a:defRPr sz="2700" b="0">
                <a:solidFill>
                  <a:srgbClr val="233C49"/>
                </a:solidFill>
                <a:latin typeface="Calibri"/>
              </a:defRPr>
            </a:pPr>
            <a:r>
              <a:t>2107015  ·  2107024  ·  2107047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Find the </a:t>
            </a:r>
            <a:r>
              <a:rPr lang="en-US" dirty="0"/>
              <a:t>L</a:t>
            </a:r>
            <a:r>
              <a:rPr dirty="0"/>
              <a:t>owest </a:t>
            </a:r>
            <a:r>
              <a:rPr lang="en-US" dirty="0"/>
              <a:t>P</a:t>
            </a:r>
            <a:r>
              <a:rPr dirty="0"/>
              <a:t>oint</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02 / 18</a:t>
            </a:r>
          </a:p>
        </p:txBody>
      </p:sp>
      <p:sp>
        <p:nvSpPr>
          <p:cNvPr id="9" name="Rectangle 8"/>
          <p:cNvSpPr/>
          <p:nvPr/>
        </p:nvSpPr>
        <p:spPr>
          <a:xfrm>
            <a:off x="822960" y="24414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8992" y="2423160"/>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Goal</a:t>
            </a:r>
            <a:endParaRPr dirty="0"/>
          </a:p>
        </p:txBody>
      </p:sp>
      <p:sp>
        <p:nvSpPr>
          <p:cNvPr id="11" name="TextBox 10"/>
          <p:cNvSpPr txBox="1"/>
          <p:nvPr/>
        </p:nvSpPr>
        <p:spPr>
          <a:xfrm>
            <a:off x="1078992" y="294436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Choose x₁ and x₂ to make f as small as possible.</a:t>
            </a:r>
          </a:p>
        </p:txBody>
      </p:sp>
      <p:sp>
        <p:nvSpPr>
          <p:cNvPr id="12" name="Rectangle 11"/>
          <p:cNvSpPr/>
          <p:nvPr/>
        </p:nvSpPr>
        <p:spPr>
          <a:xfrm>
            <a:off x="822960" y="3995927"/>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3977639"/>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Search Range</a:t>
            </a:r>
            <a:endParaRPr dirty="0"/>
          </a:p>
        </p:txBody>
      </p:sp>
      <p:sp>
        <p:nvSpPr>
          <p:cNvPr id="14" name="TextBox 13"/>
          <p:cNvSpPr txBox="1"/>
          <p:nvPr/>
        </p:nvSpPr>
        <p:spPr>
          <a:xfrm>
            <a:off x="1078992" y="449884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Both coordinates stay between −5 and +5.</a:t>
            </a:r>
          </a:p>
        </p:txBody>
      </p:sp>
      <p:sp>
        <p:nvSpPr>
          <p:cNvPr id="15" name="Rectangle 14"/>
          <p:cNvSpPr/>
          <p:nvPr/>
        </p:nvSpPr>
        <p:spPr>
          <a:xfrm>
            <a:off x="822960" y="5550407"/>
            <a:ext cx="54864" cy="1078992"/>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5532120"/>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Known Answer</a:t>
            </a:r>
            <a:endParaRPr dirty="0"/>
          </a:p>
        </p:txBody>
      </p:sp>
      <p:sp>
        <p:nvSpPr>
          <p:cNvPr id="17" name="TextBox 16"/>
          <p:cNvSpPr txBox="1"/>
          <p:nvPr/>
        </p:nvSpPr>
        <p:spPr>
          <a:xfrm>
            <a:off x="1078992" y="605332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x* = (0, 0)   and   f(x*) = 0</a:t>
            </a:r>
          </a:p>
        </p:txBody>
      </p:sp>
      <p:sp>
        <p:nvSpPr>
          <p:cNvPr id="18" name="Rounded Rectangle 17"/>
          <p:cNvSpPr/>
          <p:nvPr/>
        </p:nvSpPr>
        <p:spPr>
          <a:xfrm>
            <a:off x="10058400" y="2194560"/>
            <a:ext cx="6766560" cy="5943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1106424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064240" y="292608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932919"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064240" y="374904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064240" y="457200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7028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064240" y="539496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538959"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64240" y="621792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540764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064240" y="704088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a:cxnSpLocks/>
          </p:cNvCxnSpPr>
          <p:nvPr/>
        </p:nvCxnSpPr>
        <p:spPr>
          <a:xfrm>
            <a:off x="11064240" y="4983480"/>
            <a:ext cx="4343400" cy="0"/>
          </a:xfrm>
          <a:prstGeom prst="line">
            <a:avLst/>
          </a:prstGeom>
          <a:ln w="25400">
            <a:solidFill>
              <a:srgbClr val="5B747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240512" y="2743200"/>
            <a:ext cx="0" cy="4572000"/>
          </a:xfrm>
          <a:prstGeom prst="line">
            <a:avLst/>
          </a:prstGeom>
          <a:ln w="25400">
            <a:solidFill>
              <a:srgbClr val="5B747D"/>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130784" y="4873752"/>
            <a:ext cx="219456" cy="219456"/>
          </a:xfrm>
          <a:prstGeom prst="ellipse">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533120" y="5175504"/>
            <a:ext cx="1828800" cy="457200"/>
          </a:xfrm>
          <a:prstGeom prst="rect">
            <a:avLst/>
          </a:prstGeom>
          <a:noFill/>
        </p:spPr>
        <p:txBody>
          <a:bodyPr wrap="square" lIns="0" tIns="0" rIns="0" bIns="0">
            <a:spAutoFit/>
          </a:bodyPr>
          <a:lstStyle/>
          <a:p>
            <a:pPr>
              <a:spcBef>
                <a:spcPts val="0"/>
              </a:spcBef>
              <a:spcAft>
                <a:spcPts val="600"/>
              </a:spcAft>
              <a:defRPr sz="2700" b="1">
                <a:solidFill>
                  <a:srgbClr val="B82E37"/>
                </a:solidFill>
                <a:latin typeface="Calibri"/>
              </a:defRPr>
            </a:pPr>
            <a:r>
              <a:t>(0, 0)</a:t>
            </a:r>
          </a:p>
        </p:txBody>
      </p:sp>
      <p:sp>
        <p:nvSpPr>
          <p:cNvPr id="35" name="TextBox 34"/>
          <p:cNvSpPr txBox="1"/>
          <p:nvPr/>
        </p:nvSpPr>
        <p:spPr>
          <a:xfrm>
            <a:off x="10881360" y="7223760"/>
            <a:ext cx="914400" cy="3657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−5</a:t>
            </a:r>
          </a:p>
        </p:txBody>
      </p:sp>
      <p:sp>
        <p:nvSpPr>
          <p:cNvPr id="36" name="TextBox 35"/>
          <p:cNvSpPr txBox="1"/>
          <p:nvPr/>
        </p:nvSpPr>
        <p:spPr>
          <a:xfrm>
            <a:off x="15087600" y="7223760"/>
            <a:ext cx="914400" cy="3657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+5</a:t>
            </a:r>
          </a:p>
        </p:txBody>
      </p:sp>
      <p:sp>
        <p:nvSpPr>
          <p:cNvPr id="37" name="TextBox 36"/>
          <p:cNvSpPr txBox="1"/>
          <p:nvPr/>
        </p:nvSpPr>
        <p:spPr>
          <a:xfrm>
            <a:off x="15910559" y="4791456"/>
            <a:ext cx="548640" cy="457200"/>
          </a:xfrm>
          <a:prstGeom prst="rect">
            <a:avLst/>
          </a:prstGeom>
          <a:noFill/>
        </p:spPr>
        <p:txBody>
          <a:bodyPr wrap="square" lIns="0" tIns="0" rIns="0" bIns="0">
            <a:spAutoFit/>
          </a:bodyPr>
          <a:lstStyle/>
          <a:p>
            <a:pPr>
              <a:spcBef>
                <a:spcPts val="0"/>
              </a:spcBef>
              <a:spcAft>
                <a:spcPts val="600"/>
              </a:spcAft>
              <a:defRPr sz="2700" b="1">
                <a:solidFill>
                  <a:srgbClr val="233C49"/>
                </a:solidFill>
                <a:latin typeface="Calibri"/>
              </a:defRPr>
            </a:pPr>
            <a:r>
              <a:t>x₁</a:t>
            </a:r>
          </a:p>
        </p:txBody>
      </p:sp>
      <p:sp>
        <p:nvSpPr>
          <p:cNvPr id="38" name="TextBox 37"/>
          <p:cNvSpPr txBox="1"/>
          <p:nvPr/>
        </p:nvSpPr>
        <p:spPr>
          <a:xfrm>
            <a:off x="12984480" y="2359152"/>
            <a:ext cx="731520" cy="457200"/>
          </a:xfrm>
          <a:prstGeom prst="rect">
            <a:avLst/>
          </a:prstGeom>
          <a:noFill/>
        </p:spPr>
        <p:txBody>
          <a:bodyPr wrap="square" lIns="0" tIns="0" rIns="0" bIns="0">
            <a:spAutoFit/>
          </a:bodyPr>
          <a:lstStyle/>
          <a:p>
            <a:pPr>
              <a:spcBef>
                <a:spcPts val="0"/>
              </a:spcBef>
              <a:spcAft>
                <a:spcPts val="600"/>
              </a:spcAft>
              <a:defRPr sz="2700" b="1">
                <a:solidFill>
                  <a:srgbClr val="233C49"/>
                </a:solidFill>
                <a:latin typeface="Calibri"/>
              </a:defRPr>
            </a:pPr>
            <a:r>
              <a:t>x₂</a:t>
            </a:r>
          </a:p>
        </p:txBody>
      </p:sp>
      <p:sp>
        <p:nvSpPr>
          <p:cNvPr id="39" name="Rounded Rectangle 38"/>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search evaluates candidate points; it is not given the answer coordinates.</a:t>
            </a:r>
          </a:p>
        </p:txBody>
      </p:sp>
      <p:sp>
        <p:nvSpPr>
          <p:cNvPr id="41" name="Freeform 4">
            <a:extLst>
              <a:ext uri="{FF2B5EF4-FFF2-40B4-BE49-F238E27FC236}">
                <a16:creationId xmlns:a16="http://schemas.microsoft.com/office/drawing/2014/main" id="{F0000FE0-9C89-BB8A-565D-341E890DBEC2}"/>
              </a:ext>
            </a:extLst>
          </p:cNvPr>
          <p:cNvSpPr/>
          <p:nvPr/>
        </p:nvSpPr>
        <p:spPr>
          <a:xfrm>
            <a:off x="11142222" y="-4295408"/>
            <a:ext cx="10085313" cy="10348736"/>
          </a:xfrm>
          <a:custGeom>
            <a:avLst/>
            <a:gdLst/>
            <a:ahLst/>
            <a:cxnLst/>
            <a:rect l="l" t="t" r="r" b="b"/>
            <a:pathLst>
              <a:path w="10085313" h="10348736">
                <a:moveTo>
                  <a:pt x="0" y="0"/>
                </a:moveTo>
                <a:lnTo>
                  <a:pt x="10085314" y="0"/>
                </a:lnTo>
                <a:lnTo>
                  <a:pt x="10085314" y="10348736"/>
                </a:lnTo>
                <a:lnTo>
                  <a:pt x="0" y="103487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Ackley </a:t>
            </a:r>
            <a:r>
              <a:rPr lang="en-US" dirty="0"/>
              <a:t>F</a:t>
            </a:r>
            <a:r>
              <a:rPr dirty="0"/>
              <a:t>unction in 2-D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03 / 18</a:t>
            </a:r>
          </a:p>
        </p:txBody>
      </p:sp>
      <p:sp>
        <p:nvSpPr>
          <p:cNvPr id="9" name="TextBox 8"/>
          <p:cNvSpPr txBox="1"/>
          <p:nvPr/>
        </p:nvSpPr>
        <p:spPr>
          <a:xfrm>
            <a:off x="914400" y="201168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START WITH n VARIABLES</a:t>
            </a:r>
          </a:p>
        </p:txBody>
      </p:sp>
      <p:sp>
        <p:nvSpPr>
          <p:cNvPr id="10" name="Rounded Rectangle 9"/>
          <p:cNvSpPr/>
          <p:nvPr/>
        </p:nvSpPr>
        <p:spPr>
          <a:xfrm>
            <a:off x="822960" y="2487168"/>
            <a:ext cx="1664208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general_ackley" descr="f(\mathbf{x})=-a\exp\!\left(-b\sqrt{\frac{1}{n}\sum_{i=1}^{n}x_i^2}\right)-\exp\!\left(\frac{1}{n}\sum_{i=1}^{n}\cos(cx_i)\right)+a+e"/>
          <p:cNvPicPr>
            <a:picLocks noChangeAspect="1"/>
          </p:cNvPicPr>
          <p:nvPr/>
        </p:nvPicPr>
        <p:blipFill>
          <a:blip r:embed="rId3"/>
          <a:stretch>
            <a:fillRect/>
          </a:stretch>
        </p:blipFill>
        <p:spPr>
          <a:xfrm>
            <a:off x="4605242" y="2651760"/>
            <a:ext cx="9077514" cy="1115568"/>
          </a:xfrm>
          <a:prstGeom prst="rect">
            <a:avLst/>
          </a:prstGeom>
        </p:spPr>
      </p:pic>
      <p:sp>
        <p:nvSpPr>
          <p:cNvPr id="12" name="TextBox 11"/>
          <p:cNvSpPr txBox="1"/>
          <p:nvPr/>
        </p:nvSpPr>
        <p:spPr>
          <a:xfrm>
            <a:off x="137160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Set n = 2</a:t>
            </a:r>
          </a:p>
        </p:txBody>
      </p:sp>
      <p:sp>
        <p:nvSpPr>
          <p:cNvPr id="13" name="TextBox 12"/>
          <p:cNvSpPr txBox="1"/>
          <p:nvPr/>
        </p:nvSpPr>
        <p:spPr>
          <a:xfrm>
            <a:off x="653796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Expand the two sums</a:t>
            </a:r>
          </a:p>
        </p:txBody>
      </p:sp>
      <p:sp>
        <p:nvSpPr>
          <p:cNvPr id="14" name="TextBox 13"/>
          <p:cNvSpPr txBox="1"/>
          <p:nvPr/>
        </p:nvSpPr>
        <p:spPr>
          <a:xfrm>
            <a:off x="1170432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Use a=20, b=0.2, c=2π</a:t>
            </a:r>
          </a:p>
        </p:txBody>
      </p:sp>
      <p:sp>
        <p:nvSpPr>
          <p:cNvPr id="15" name="Right Arrow 14"/>
          <p:cNvSpPr/>
          <p:nvPr/>
        </p:nvSpPr>
        <p:spPr>
          <a:xfrm>
            <a:off x="6080760" y="4553712"/>
            <a:ext cx="457200" cy="32004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11201400" y="4553712"/>
            <a:ext cx="457200" cy="32004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25780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THE FUNCTION IN OUR CODE</a:t>
            </a:r>
          </a:p>
        </p:txBody>
      </p:sp>
      <p:sp>
        <p:nvSpPr>
          <p:cNvPr id="18" name="Rounded Rectangle 17"/>
          <p:cNvSpPr/>
          <p:nvPr/>
        </p:nvSpPr>
        <p:spPr>
          <a:xfrm>
            <a:off x="822960" y="5715000"/>
            <a:ext cx="16642080" cy="19202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two_dimensional_ackley" descr="f(x_1,x_2)=-20\exp\!\left(-0.2\sqrt{\frac{x_1^2+x_2^2}{2}}\right)-\exp\!\left(\frac{\cos(2\pi x_1)+\cos(2\pi x_2)}{2}\right)+20+e"/>
          <p:cNvPicPr>
            <a:picLocks noChangeAspect="1"/>
          </p:cNvPicPr>
          <p:nvPr/>
        </p:nvPicPr>
        <p:blipFill>
          <a:blip r:embed="rId4"/>
          <a:stretch>
            <a:fillRect/>
          </a:stretch>
        </p:blipFill>
        <p:spPr>
          <a:xfrm>
            <a:off x="1952988" y="6080760"/>
            <a:ext cx="14382023" cy="1097280"/>
          </a:xfrm>
          <a:prstGeom prst="rect">
            <a:avLst/>
          </a:prstGeom>
        </p:spPr>
      </p:pic>
      <p:sp>
        <p:nvSpPr>
          <p:cNvPr id="20" name="Rounded Rectangle 19"/>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At the origin:   −20 − e + 20 + e =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One </a:t>
            </a:r>
            <a:r>
              <a:rPr lang="en-US" dirty="0"/>
              <a:t>D</a:t>
            </a:r>
            <a:r>
              <a:rPr dirty="0"/>
              <a:t>eep </a:t>
            </a:r>
            <a:r>
              <a:rPr lang="en-US" dirty="0"/>
              <a:t>M</a:t>
            </a:r>
            <a:r>
              <a:rPr dirty="0"/>
              <a:t>inimum. Many </a:t>
            </a:r>
            <a:r>
              <a:rPr lang="en-US" dirty="0"/>
              <a:t>S</a:t>
            </a:r>
            <a:r>
              <a:rPr dirty="0"/>
              <a:t>mall </a:t>
            </a:r>
            <a:r>
              <a:rPr lang="en-US" dirty="0"/>
              <a:t>T</a:t>
            </a:r>
            <a:r>
              <a:rPr dirty="0"/>
              <a:t>raps.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04 / 18</a:t>
            </a:r>
          </a:p>
        </p:txBody>
      </p:sp>
      <p:sp>
        <p:nvSpPr>
          <p:cNvPr id="9" name="Rounded Rectangle 8"/>
          <p:cNvSpPr/>
          <p:nvPr/>
        </p:nvSpPr>
        <p:spPr>
          <a:xfrm>
            <a:off x="731520" y="2057400"/>
            <a:ext cx="1115568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01_ackley_landscape.png" descr="01_ackley_landscape.png"/>
          <p:cNvPicPr>
            <a:picLocks noChangeAspect="1"/>
          </p:cNvPicPr>
          <p:nvPr/>
        </p:nvPicPr>
        <p:blipFill>
          <a:blip r:embed="rId3"/>
          <a:stretch>
            <a:fillRect/>
          </a:stretch>
        </p:blipFill>
        <p:spPr>
          <a:xfrm>
            <a:off x="955844" y="2194559"/>
            <a:ext cx="10707031" cy="4754880"/>
          </a:xfrm>
          <a:prstGeom prst="rect">
            <a:avLst/>
          </a:prstGeom>
        </p:spPr>
      </p:pic>
      <p:pic>
        <p:nvPicPr>
          <p:cNvPr id="11" name="02_ackley_slice.png" descr="02_ackley_slice.png"/>
          <p:cNvPicPr>
            <a:picLocks noChangeAspect="1"/>
          </p:cNvPicPr>
          <p:nvPr/>
        </p:nvPicPr>
        <p:blipFill>
          <a:blip r:embed="rId4"/>
          <a:stretch>
            <a:fillRect/>
          </a:stretch>
        </p:blipFill>
        <p:spPr>
          <a:xfrm>
            <a:off x="3143873" y="7132320"/>
            <a:ext cx="6330973" cy="2240280"/>
          </a:xfrm>
          <a:prstGeom prst="rect">
            <a:avLst/>
          </a:prstGeom>
        </p:spPr>
      </p:pic>
      <p:sp>
        <p:nvSpPr>
          <p:cNvPr id="12" name="Rectangle 11"/>
          <p:cNvSpPr/>
          <p:nvPr/>
        </p:nvSpPr>
        <p:spPr>
          <a:xfrm>
            <a:off x="12481560" y="24414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37592" y="242316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A wide funnel</a:t>
            </a:r>
          </a:p>
        </p:txBody>
      </p:sp>
      <p:sp>
        <p:nvSpPr>
          <p:cNvPr id="14" name="TextBox 13"/>
          <p:cNvSpPr txBox="1"/>
          <p:nvPr/>
        </p:nvSpPr>
        <p:spPr>
          <a:xfrm>
            <a:off x="12737592" y="2944368"/>
            <a:ext cx="457200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The smooth part points toward the centre.</a:t>
            </a:r>
          </a:p>
        </p:txBody>
      </p:sp>
      <p:sp>
        <p:nvSpPr>
          <p:cNvPr id="15" name="Rectangle 14"/>
          <p:cNvSpPr/>
          <p:nvPr/>
        </p:nvSpPr>
        <p:spPr>
          <a:xfrm>
            <a:off x="12481560" y="4178807"/>
            <a:ext cx="54864" cy="1078992"/>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737592" y="416052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Many local dips</a:t>
            </a:r>
          </a:p>
        </p:txBody>
      </p:sp>
      <p:sp>
        <p:nvSpPr>
          <p:cNvPr id="17" name="TextBox 16"/>
          <p:cNvSpPr txBox="1"/>
          <p:nvPr/>
        </p:nvSpPr>
        <p:spPr>
          <a:xfrm>
            <a:off x="12737592" y="4681728"/>
            <a:ext cx="457200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The cosine part adds small traps.</a:t>
            </a:r>
          </a:p>
        </p:txBody>
      </p:sp>
      <p:sp>
        <p:nvSpPr>
          <p:cNvPr id="18" name="Rectangle 17"/>
          <p:cNvSpPr/>
          <p:nvPr/>
        </p:nvSpPr>
        <p:spPr>
          <a:xfrm>
            <a:off x="12481560" y="591616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737592" y="589788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Expensive to scan</a:t>
            </a:r>
          </a:p>
        </p:txBody>
      </p:sp>
      <p:sp>
        <p:nvSpPr>
          <p:cNvPr id="20" name="TextBox 19"/>
          <p:cNvSpPr txBox="1"/>
          <p:nvPr/>
        </p:nvSpPr>
        <p:spPr>
          <a:xfrm>
            <a:off x="12737592" y="6419088"/>
            <a:ext cx="457200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A 10⁻⁶ grid needs about 10¹⁴ points.</a:t>
            </a:r>
          </a:p>
        </p:txBody>
      </p:sp>
      <p:sp>
        <p:nvSpPr>
          <p:cNvPr id="21" name="TextBox 20"/>
          <p:cNvSpPr txBox="1"/>
          <p:nvPr/>
        </p:nvSpPr>
        <p:spPr>
          <a:xfrm>
            <a:off x="12737592" y="7863840"/>
            <a:ext cx="4572000" cy="914400"/>
          </a:xfrm>
          <a:prstGeom prst="rect">
            <a:avLst/>
          </a:prstGeom>
          <a:noFill/>
        </p:spPr>
        <p:txBody>
          <a:bodyPr wrap="square" lIns="0" tIns="0" rIns="0" bIns="0">
            <a:spAutoFit/>
          </a:bodyPr>
          <a:lstStyle/>
          <a:p>
            <a:pPr>
              <a:spcBef>
                <a:spcPts val="0"/>
              </a:spcBef>
              <a:spcAft>
                <a:spcPts val="600"/>
              </a:spcAft>
              <a:defRPr sz="2600" b="1">
                <a:solidFill>
                  <a:srgbClr val="B82E37"/>
                </a:solidFill>
                <a:latin typeface="Calibri"/>
              </a:defRPr>
            </a:pPr>
            <a:r>
              <a:t>A downhill method can stop</a:t>
            </a:r>
          </a:p>
          <a:p>
            <a:pPr>
              <a:spcBef>
                <a:spcPts val="0"/>
              </a:spcBef>
              <a:spcAft>
                <a:spcPts val="600"/>
              </a:spcAft>
              <a:defRPr sz="2600" b="1">
                <a:solidFill>
                  <a:srgbClr val="B82E37"/>
                </a:solidFill>
                <a:latin typeface="Calibri"/>
              </a:defRPr>
            </a:pPr>
            <a:r>
              <a:t>in a local minimum.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Search with a </a:t>
            </a:r>
            <a:r>
              <a:rPr lang="en-US" dirty="0"/>
              <a:t>P</a:t>
            </a:r>
            <a:r>
              <a:rPr dirty="0"/>
              <a:t>opulation</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05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BIOLOGY → OUR PROGRAM</a:t>
            </a:r>
          </a:p>
        </p:txBody>
      </p:sp>
      <p:graphicFrame>
        <p:nvGraphicFramePr>
          <p:cNvPr id="10" name="Table 9"/>
          <p:cNvGraphicFramePr>
            <a:graphicFrameLocks noGrp="1"/>
          </p:cNvGraphicFramePr>
          <p:nvPr/>
        </p:nvGraphicFramePr>
        <p:xfrm>
          <a:off x="914400" y="2770632"/>
          <a:ext cx="8092440" cy="41148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822960">
                <a:tc>
                  <a:txBody>
                    <a:bodyPr/>
                    <a:lstStyle/>
                    <a:p>
                      <a:pPr>
                        <a:defRPr sz="2800" b="1">
                          <a:solidFill>
                            <a:srgbClr val="FFFFFF"/>
                          </a:solidFill>
                          <a:latin typeface="Calibri"/>
                        </a:defRPr>
                      </a:pPr>
                      <a:r>
                        <a:t>Term</a:t>
                      </a:r>
                    </a:p>
                  </a:txBody>
                  <a:tcPr marL="164592" marR="128016" marT="91440" anchor="ctr">
                    <a:solidFill>
                      <a:srgbClr val="163D50"/>
                    </a:solidFill>
                  </a:tcPr>
                </a:tc>
                <a:tc>
                  <a:txBody>
                    <a:bodyPr/>
                    <a:lstStyle/>
                    <a:p>
                      <a:pPr>
                        <a:defRPr sz="2800" b="1">
                          <a:solidFill>
                            <a:srgbClr val="FFFFFF"/>
                          </a:solidFill>
                          <a:latin typeface="Calibri"/>
                        </a:defRPr>
                      </a:pPr>
                      <a:r>
                        <a:t>Meaning</a:t>
                      </a:r>
                    </a:p>
                  </a:txBody>
                  <a:tcPr marL="164592" marR="128016" marT="91440" anchor="ctr">
                    <a:solidFill>
                      <a:srgbClr val="163D50"/>
                    </a:solidFill>
                  </a:tcPr>
                </a:tc>
                <a:extLst>
                  <a:ext uri="{0D108BD9-81ED-4DB2-BD59-A6C34878D82A}">
                    <a16:rowId xmlns:a16="http://schemas.microsoft.com/office/drawing/2014/main" val="10000"/>
                  </a:ext>
                </a:extLst>
              </a:tr>
              <a:tr h="822960">
                <a:tc>
                  <a:txBody>
                    <a:bodyPr/>
                    <a:lstStyle/>
                    <a:p>
                      <a:pPr>
                        <a:defRPr sz="2800" b="0">
                          <a:solidFill>
                            <a:srgbClr val="233C49"/>
                          </a:solidFill>
                          <a:latin typeface="Calibri"/>
                        </a:defRPr>
                      </a:pPr>
                      <a:r>
                        <a:t>Population</a:t>
                      </a:r>
                    </a:p>
                  </a:txBody>
                  <a:tcPr marL="164592" marR="128016" marT="91440" anchor="ctr">
                    <a:solidFill>
                      <a:srgbClr val="FFFFFF"/>
                    </a:solidFill>
                  </a:tcPr>
                </a:tc>
                <a:tc>
                  <a:txBody>
                    <a:bodyPr/>
                    <a:lstStyle/>
                    <a:p>
                      <a:pPr>
                        <a:defRPr sz="2800" b="0">
                          <a:solidFill>
                            <a:srgbClr val="233C49"/>
                          </a:solidFill>
                          <a:latin typeface="Calibri"/>
                        </a:defRPr>
                      </a:pPr>
                      <a:r>
                        <a:t>50 candidate points</a:t>
                      </a:r>
                    </a:p>
                  </a:txBody>
                  <a:tcPr marL="164592" marR="128016" marT="91440" anchor="ctr">
                    <a:solidFill>
                      <a:srgbClr val="FFFFFF"/>
                    </a:solidFill>
                  </a:tcPr>
                </a:tc>
                <a:extLst>
                  <a:ext uri="{0D108BD9-81ED-4DB2-BD59-A6C34878D82A}">
                    <a16:rowId xmlns:a16="http://schemas.microsoft.com/office/drawing/2014/main" val="10001"/>
                  </a:ext>
                </a:extLst>
              </a:tr>
              <a:tr h="822960">
                <a:tc>
                  <a:txBody>
                    <a:bodyPr/>
                    <a:lstStyle/>
                    <a:p>
                      <a:pPr>
                        <a:defRPr sz="2800" b="0">
                          <a:solidFill>
                            <a:srgbClr val="233C49"/>
                          </a:solidFill>
                          <a:latin typeface="Calibri"/>
                        </a:defRPr>
                      </a:pPr>
                      <a:r>
                        <a:t>Chromosome</a:t>
                      </a:r>
                    </a:p>
                  </a:txBody>
                  <a:tcPr marL="164592" marR="128016" marT="91440" anchor="ctr">
                    <a:solidFill>
                      <a:srgbClr val="EDF5F4"/>
                    </a:solidFill>
                  </a:tcPr>
                </a:tc>
                <a:tc>
                  <a:txBody>
                    <a:bodyPr/>
                    <a:lstStyle/>
                    <a:p>
                      <a:pPr>
                        <a:defRPr sz="2800" b="0">
                          <a:solidFill>
                            <a:srgbClr val="233C49"/>
                          </a:solidFill>
                          <a:latin typeface="Calibri"/>
                        </a:defRPr>
                      </a:pPr>
                      <a:r>
                        <a:t>One pair [x₁, x₂]</a:t>
                      </a:r>
                    </a:p>
                  </a:txBody>
                  <a:tcPr marL="164592" marR="128016" marT="91440" anchor="ctr">
                    <a:solidFill>
                      <a:srgbClr val="EDF5F4"/>
                    </a:solidFill>
                  </a:tcPr>
                </a:tc>
                <a:extLst>
                  <a:ext uri="{0D108BD9-81ED-4DB2-BD59-A6C34878D82A}">
                    <a16:rowId xmlns:a16="http://schemas.microsoft.com/office/drawing/2014/main" val="10002"/>
                  </a:ext>
                </a:extLst>
              </a:tr>
              <a:tr h="822960">
                <a:tc>
                  <a:txBody>
                    <a:bodyPr/>
                    <a:lstStyle/>
                    <a:p>
                      <a:pPr>
                        <a:defRPr sz="2800" b="0">
                          <a:solidFill>
                            <a:srgbClr val="233C49"/>
                          </a:solidFill>
                          <a:latin typeface="Calibri"/>
                        </a:defRPr>
                      </a:pPr>
                      <a:r>
                        <a:t>Gene</a:t>
                      </a:r>
                    </a:p>
                  </a:txBody>
                  <a:tcPr marL="164592" marR="128016" marT="91440" anchor="ctr">
                    <a:solidFill>
                      <a:srgbClr val="FFFFFF"/>
                    </a:solidFill>
                  </a:tcPr>
                </a:tc>
                <a:tc>
                  <a:txBody>
                    <a:bodyPr/>
                    <a:lstStyle/>
                    <a:p>
                      <a:pPr>
                        <a:defRPr sz="2800" b="0">
                          <a:solidFill>
                            <a:srgbClr val="233C49"/>
                          </a:solidFill>
                          <a:latin typeface="Calibri"/>
                        </a:defRPr>
                      </a:pPr>
                      <a:r>
                        <a:t>One coordinate</a:t>
                      </a:r>
                    </a:p>
                  </a:txBody>
                  <a:tcPr marL="164592" marR="128016" marT="91440" anchor="ctr">
                    <a:solidFill>
                      <a:srgbClr val="FFFFFF"/>
                    </a:solidFill>
                  </a:tcPr>
                </a:tc>
                <a:extLst>
                  <a:ext uri="{0D108BD9-81ED-4DB2-BD59-A6C34878D82A}">
                    <a16:rowId xmlns:a16="http://schemas.microsoft.com/office/drawing/2014/main" val="10003"/>
                  </a:ext>
                </a:extLst>
              </a:tr>
              <a:tr h="822960">
                <a:tc>
                  <a:txBody>
                    <a:bodyPr/>
                    <a:lstStyle/>
                    <a:p>
                      <a:pPr>
                        <a:defRPr sz="2800" b="0">
                          <a:solidFill>
                            <a:srgbClr val="233C49"/>
                          </a:solidFill>
                          <a:latin typeface="Calibri"/>
                        </a:defRPr>
                      </a:pPr>
                      <a:r>
                        <a:t>Fitness</a:t>
                      </a:r>
                    </a:p>
                  </a:txBody>
                  <a:tcPr marL="164592" marR="128016" marT="91440" anchor="ctr">
                    <a:solidFill>
                      <a:srgbClr val="EDF5F4"/>
                    </a:solidFill>
                  </a:tcPr>
                </a:tc>
                <a:tc>
                  <a:txBody>
                    <a:bodyPr/>
                    <a:lstStyle/>
                    <a:p>
                      <a:pPr>
                        <a:defRPr sz="2800" b="0">
                          <a:solidFill>
                            <a:srgbClr val="233C49"/>
                          </a:solidFill>
                          <a:latin typeface="Calibri"/>
                        </a:defRPr>
                      </a:pPr>
                      <a:r>
                        <a:t>Selection weight</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097280" y="7315200"/>
            <a:ext cx="7909559" cy="477054"/>
          </a:xfrm>
          <a:prstGeom prst="rect">
            <a:avLst/>
          </a:prstGeom>
          <a:noFill/>
        </p:spPr>
        <p:txBody>
          <a:bodyPr wrap="square" lIns="0" tIns="0" rIns="0" bIns="0">
            <a:spAutoFit/>
          </a:bodyPr>
          <a:lstStyle/>
          <a:p>
            <a:pPr>
              <a:spcBef>
                <a:spcPts val="0"/>
              </a:spcBef>
              <a:spcAft>
                <a:spcPts val="600"/>
              </a:spcAft>
              <a:defRPr sz="3100" b="1">
                <a:solidFill>
                  <a:srgbClr val="237B83"/>
                </a:solidFill>
                <a:latin typeface="Calibri"/>
              </a:defRPr>
            </a:pPr>
            <a:r>
              <a:rPr dirty="0"/>
              <a:t>Evaluate → select → mix</a:t>
            </a:r>
            <a:r>
              <a:rPr lang="en-US" dirty="0"/>
              <a:t> </a:t>
            </a:r>
            <a:r>
              <a:rPr dirty="0"/>
              <a:t>→ mutate → repeat</a:t>
            </a:r>
          </a:p>
        </p:txBody>
      </p:sp>
      <p:sp>
        <p:nvSpPr>
          <p:cNvPr id="12" name="Rounded Rectangle 11"/>
          <p:cNvSpPr/>
          <p:nvPr/>
        </p:nvSpPr>
        <p:spPr>
          <a:xfrm>
            <a:off x="9509760" y="2075688"/>
            <a:ext cx="7909560" cy="6400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03_initial_population.png" descr="03_initial_population.png"/>
          <p:cNvPicPr>
            <a:picLocks noChangeAspect="1"/>
          </p:cNvPicPr>
          <p:nvPr/>
        </p:nvPicPr>
        <p:blipFill>
          <a:blip r:embed="rId3"/>
          <a:stretch>
            <a:fillRect/>
          </a:stretch>
        </p:blipFill>
        <p:spPr>
          <a:xfrm>
            <a:off x="10408869" y="2194560"/>
            <a:ext cx="6065620" cy="6126480"/>
          </a:xfrm>
          <a:prstGeom prst="rect">
            <a:avLst/>
          </a:prstGeom>
        </p:spPr>
      </p:pic>
      <p:sp>
        <p:nvSpPr>
          <p:cNvPr id="14" name="Rounded Rectangle 1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 population explores many points. Better candidates get more chances to reproduce.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One </a:t>
            </a:r>
            <a:r>
              <a:rPr lang="en-US" dirty="0"/>
              <a:t>S</a:t>
            </a:r>
            <a:r>
              <a:rPr dirty="0"/>
              <a:t>olution = </a:t>
            </a:r>
            <a:r>
              <a:rPr lang="en-US" dirty="0"/>
              <a:t>T</a:t>
            </a:r>
            <a:r>
              <a:rPr dirty="0"/>
              <a:t>wo </a:t>
            </a:r>
            <a:r>
              <a:rPr lang="en-US" dirty="0"/>
              <a:t>R</a:t>
            </a:r>
            <a:r>
              <a:rPr dirty="0"/>
              <a:t>eal </a:t>
            </a:r>
            <a:r>
              <a:rPr lang="en-US" dirty="0"/>
              <a:t>N</a:t>
            </a:r>
            <a:r>
              <a:rPr dirty="0"/>
              <a:t>umbers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06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VALUE ENCODING</a:t>
            </a:r>
          </a:p>
        </p:txBody>
      </p:sp>
      <p:sp>
        <p:nvSpPr>
          <p:cNvPr id="10" name="TextBox 9"/>
          <p:cNvSpPr txBox="1"/>
          <p:nvPr/>
        </p:nvSpPr>
        <p:spPr>
          <a:xfrm>
            <a:off x="3017520" y="2852928"/>
            <a:ext cx="54864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GENE 1</a:t>
            </a:r>
          </a:p>
        </p:txBody>
      </p:sp>
      <p:sp>
        <p:nvSpPr>
          <p:cNvPr id="11" name="Rounded Rectangle 10"/>
          <p:cNvSpPr/>
          <p:nvPr/>
        </p:nvSpPr>
        <p:spPr>
          <a:xfrm>
            <a:off x="3017520" y="3337560"/>
            <a:ext cx="566928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3584448"/>
            <a:ext cx="5669280" cy="1463040"/>
          </a:xfrm>
          <a:prstGeom prst="rect">
            <a:avLst/>
          </a:prstGeom>
          <a:noFill/>
        </p:spPr>
        <p:txBody>
          <a:bodyPr wrap="square" lIns="0" tIns="0" rIns="0" bIns="0">
            <a:spAutoFit/>
          </a:bodyPr>
          <a:lstStyle/>
          <a:p>
            <a:pPr algn="ctr">
              <a:spcBef>
                <a:spcPts val="0"/>
              </a:spcBef>
              <a:spcAft>
                <a:spcPts val="600"/>
              </a:spcAft>
              <a:defRPr sz="8500" b="1">
                <a:solidFill>
                  <a:srgbClr val="237B83"/>
                </a:solidFill>
                <a:latin typeface="Calibri"/>
              </a:defRPr>
            </a:pPr>
            <a:r>
              <a:t>x₁</a:t>
            </a:r>
          </a:p>
        </p:txBody>
      </p:sp>
      <p:sp>
        <p:nvSpPr>
          <p:cNvPr id="13" name="TextBox 12"/>
          <p:cNvSpPr txBox="1"/>
          <p:nvPr/>
        </p:nvSpPr>
        <p:spPr>
          <a:xfrm>
            <a:off x="9601200" y="2852928"/>
            <a:ext cx="54864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GENE 2</a:t>
            </a:r>
          </a:p>
        </p:txBody>
      </p:sp>
      <p:sp>
        <p:nvSpPr>
          <p:cNvPr id="14" name="Rounded Rectangle 13"/>
          <p:cNvSpPr/>
          <p:nvPr/>
        </p:nvSpPr>
        <p:spPr>
          <a:xfrm>
            <a:off x="9601200" y="3337560"/>
            <a:ext cx="566928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0" y="3584448"/>
            <a:ext cx="5669280" cy="1463040"/>
          </a:xfrm>
          <a:prstGeom prst="rect">
            <a:avLst/>
          </a:prstGeom>
          <a:noFill/>
        </p:spPr>
        <p:txBody>
          <a:bodyPr wrap="square" lIns="0" tIns="0" rIns="0" bIns="0">
            <a:spAutoFit/>
          </a:bodyPr>
          <a:lstStyle/>
          <a:p>
            <a:pPr algn="ctr">
              <a:spcBef>
                <a:spcPts val="0"/>
              </a:spcBef>
              <a:spcAft>
                <a:spcPts val="600"/>
              </a:spcAft>
              <a:defRPr sz="8500" b="1">
                <a:solidFill>
                  <a:srgbClr val="B82E37"/>
                </a:solidFill>
                <a:latin typeface="Calibri"/>
              </a:defRPr>
            </a:pPr>
            <a:r>
              <a:t>x₂</a:t>
            </a:r>
          </a:p>
        </p:txBody>
      </p:sp>
      <p:sp>
        <p:nvSpPr>
          <p:cNvPr id="16" name="TextBox 15"/>
          <p:cNvSpPr txBox="1"/>
          <p:nvPr/>
        </p:nvSpPr>
        <p:spPr>
          <a:xfrm>
            <a:off x="5715000" y="5705856"/>
            <a:ext cx="6858000" cy="548640"/>
          </a:xfrm>
          <a:prstGeom prst="rect">
            <a:avLst/>
          </a:prstGeom>
          <a:noFill/>
        </p:spPr>
        <p:txBody>
          <a:bodyPr wrap="square" lIns="0" tIns="0" rIns="0" bIns="0">
            <a:spAutoFit/>
          </a:bodyPr>
          <a:lstStyle/>
          <a:p>
            <a:pPr algn="ctr">
              <a:spcBef>
                <a:spcPts val="0"/>
              </a:spcBef>
              <a:spcAft>
                <a:spcPts val="600"/>
              </a:spcAft>
              <a:defRPr sz="3200" b="1">
                <a:solidFill>
                  <a:srgbClr val="163D50"/>
                </a:solidFill>
                <a:latin typeface="Calibri"/>
              </a:defRPr>
            </a:pPr>
            <a:r>
              <a:t>One chromosome</a:t>
            </a:r>
          </a:p>
        </p:txBody>
      </p:sp>
      <p:graphicFrame>
        <p:nvGraphicFramePr>
          <p:cNvPr id="17" name="Table 16"/>
          <p:cNvGraphicFramePr>
            <a:graphicFrameLocks noGrp="1"/>
          </p:cNvGraphicFramePr>
          <p:nvPr/>
        </p:nvGraphicFramePr>
        <p:xfrm>
          <a:off x="2286000" y="6583680"/>
          <a:ext cx="13716000" cy="1335024"/>
        </p:xfrm>
        <a:graphic>
          <a:graphicData uri="http://schemas.openxmlformats.org/drawingml/2006/table">
            <a:tbl>
              <a:tblPr firstRow="1" bandRow="1">
                <a:tableStyleId>{5C22544A-7EE6-4342-B048-85BDC9FD1C3A}</a:tableStyleId>
              </a:tblPr>
              <a:tblGrid>
                <a:gridCol w="68580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667512">
                <a:tc>
                  <a:txBody>
                    <a:bodyPr/>
                    <a:lstStyle/>
                    <a:p>
                      <a:pPr>
                        <a:defRPr sz="2800" b="1">
                          <a:solidFill>
                            <a:srgbClr val="FFFFFF"/>
                          </a:solidFill>
                          <a:latin typeface="Calibri"/>
                        </a:defRPr>
                      </a:pPr>
                      <a:r>
                        <a:t>Example A</a:t>
                      </a:r>
                    </a:p>
                  </a:txBody>
                  <a:tcPr marL="164592" marR="128016" marT="91440" anchor="ctr">
                    <a:solidFill>
                      <a:srgbClr val="163D50"/>
                    </a:solidFill>
                  </a:tcPr>
                </a:tc>
                <a:tc>
                  <a:txBody>
                    <a:bodyPr/>
                    <a:lstStyle/>
                    <a:p>
                      <a:pPr>
                        <a:defRPr sz="2800" b="1">
                          <a:solidFill>
                            <a:srgbClr val="FFFFFF"/>
                          </a:solidFill>
                          <a:latin typeface="Calibri"/>
                        </a:defRPr>
                      </a:pPr>
                      <a:r>
                        <a:t>Example B</a:t>
                      </a:r>
                    </a:p>
                  </a:txBody>
                  <a:tcPr marL="164592" marR="128016" marT="91440" anchor="ctr">
                    <a:solidFill>
                      <a:srgbClr val="163D50"/>
                    </a:solidFill>
                  </a:tcPr>
                </a:tc>
                <a:extLst>
                  <a:ext uri="{0D108BD9-81ED-4DB2-BD59-A6C34878D82A}">
                    <a16:rowId xmlns:a16="http://schemas.microsoft.com/office/drawing/2014/main" val="10000"/>
                  </a:ext>
                </a:extLst>
              </a:tr>
              <a:tr h="667512">
                <a:tc>
                  <a:txBody>
                    <a:bodyPr/>
                    <a:lstStyle/>
                    <a:p>
                      <a:pPr>
                        <a:defRPr sz="2800" b="0">
                          <a:solidFill>
                            <a:srgbClr val="233C49"/>
                          </a:solidFill>
                          <a:latin typeface="Calibri"/>
                        </a:defRPr>
                      </a:pPr>
                      <a:r>
                        <a:t>[−4.0, 2.5]</a:t>
                      </a:r>
                    </a:p>
                  </a:txBody>
                  <a:tcPr marL="164592" marR="128016" marT="91440" anchor="ctr">
                    <a:solidFill>
                      <a:srgbClr val="FFFFFF"/>
                    </a:solidFill>
                  </a:tcPr>
                </a:tc>
                <a:tc>
                  <a:txBody>
                    <a:bodyPr/>
                    <a:lstStyle/>
                    <a:p>
                      <a:pPr>
                        <a:defRPr sz="2800" b="0">
                          <a:solidFill>
                            <a:srgbClr val="233C49"/>
                          </a:solidFill>
                          <a:latin typeface="Calibri"/>
                        </a:defRPr>
                      </a:pPr>
                      <a:r>
                        <a:t>[−1.5, −1.0]</a:t>
                      </a:r>
                    </a:p>
                  </a:txBody>
                  <a:tcPr marL="164592" marR="128016" marT="91440" anchor="ctr">
                    <a:solidFill>
                      <a:srgbClr val="FFFFFF"/>
                    </a:solidFill>
                  </a:tcPr>
                </a:tc>
                <a:extLst>
                  <a:ext uri="{0D108BD9-81ED-4DB2-BD59-A6C34878D82A}">
                    <a16:rowId xmlns:a16="http://schemas.microsoft.com/office/drawing/2014/main" val="10001"/>
                  </a:ext>
                </a:extLst>
              </a:tr>
            </a:tbl>
          </a:graphicData>
        </a:graphic>
      </p:graphicFrame>
      <p:sp>
        <p:nvSpPr>
          <p:cNvPr id="18" name="Rounded Rectangle 17"/>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Each gene stays in [−5, +5]. Real-valued encoding still has finite computer precision.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t>
            </a:r>
            <a:r>
              <a:rPr lang="en-US" dirty="0"/>
              <a:t>S</a:t>
            </a:r>
            <a:r>
              <a:rPr dirty="0"/>
              <a:t>ettings </a:t>
            </a:r>
            <a:r>
              <a:rPr lang="en-US" dirty="0"/>
              <a:t>W</a:t>
            </a:r>
            <a:r>
              <a:rPr dirty="0"/>
              <a:t>e </a:t>
            </a:r>
            <a:r>
              <a:rPr lang="en-US" dirty="0"/>
              <a:t>U</a:t>
            </a:r>
            <a:r>
              <a:rPr dirty="0"/>
              <a:t>sed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07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ASSIGNMENT SETTINGS</a:t>
            </a:r>
          </a:p>
        </p:txBody>
      </p:sp>
      <p:sp>
        <p:nvSpPr>
          <p:cNvPr id="10" name="TextBox 9"/>
          <p:cNvSpPr txBox="1"/>
          <p:nvPr/>
        </p:nvSpPr>
        <p:spPr>
          <a:xfrm>
            <a:off x="9601200" y="2194560"/>
            <a:ext cx="82296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OUR IMPLEMENTATION CHOICES</a:t>
            </a:r>
          </a:p>
        </p:txBody>
      </p:sp>
      <p:graphicFrame>
        <p:nvGraphicFramePr>
          <p:cNvPr id="11" name="Table 10"/>
          <p:cNvGraphicFramePr>
            <a:graphicFrameLocks noGrp="1"/>
          </p:cNvGraphicFramePr>
          <p:nvPr/>
        </p:nvGraphicFramePr>
        <p:xfrm>
          <a:off x="914400" y="2743200"/>
          <a:ext cx="7680960" cy="4334256"/>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722376">
                <a:tc>
                  <a:txBody>
                    <a:bodyPr/>
                    <a:lstStyle/>
                    <a:p>
                      <a:pPr>
                        <a:defRPr sz="2800" b="1">
                          <a:solidFill>
                            <a:srgbClr val="FFFFFF"/>
                          </a:solidFill>
                          <a:latin typeface="Calibri"/>
                        </a:defRPr>
                      </a:pPr>
                      <a:r>
                        <a:t>Parameter</a:t>
                      </a:r>
                    </a:p>
                  </a:txBody>
                  <a:tcPr marL="164592" marR="128016" marT="91440" anchor="ctr">
                    <a:solidFill>
                      <a:srgbClr val="163D50"/>
                    </a:solidFill>
                  </a:tcPr>
                </a:tc>
                <a:tc>
                  <a:txBody>
                    <a:bodyPr/>
                    <a:lstStyle/>
                    <a:p>
                      <a:pPr>
                        <a:defRPr sz="2800" b="1">
                          <a:solidFill>
                            <a:srgbClr val="FFFFFF"/>
                          </a:solidFill>
                          <a:latin typeface="Calibri"/>
                        </a:defRPr>
                      </a:pPr>
                      <a:r>
                        <a:t>Value</a:t>
                      </a:r>
                    </a:p>
                  </a:txBody>
                  <a:tcPr marL="164592" marR="128016" marT="91440" anchor="ctr">
                    <a:solidFill>
                      <a:srgbClr val="163D50"/>
                    </a:solidFill>
                  </a:tcPr>
                </a:tc>
                <a:extLst>
                  <a:ext uri="{0D108BD9-81ED-4DB2-BD59-A6C34878D82A}">
                    <a16:rowId xmlns:a16="http://schemas.microsoft.com/office/drawing/2014/main" val="10000"/>
                  </a:ext>
                </a:extLst>
              </a:tr>
              <a:tr h="722376">
                <a:tc>
                  <a:txBody>
                    <a:bodyPr/>
                    <a:lstStyle/>
                    <a:p>
                      <a:pPr>
                        <a:defRPr sz="2800" b="0">
                          <a:solidFill>
                            <a:srgbClr val="233C49"/>
                          </a:solidFill>
                          <a:latin typeface="Calibri"/>
                        </a:defRPr>
                      </a:pPr>
                      <a:r>
                        <a:t>Population</a:t>
                      </a:r>
                    </a:p>
                  </a:txBody>
                  <a:tcPr marL="164592" marR="128016" marT="91440" anchor="ctr">
                    <a:solidFill>
                      <a:srgbClr val="FFFFFF"/>
                    </a:solidFill>
                  </a:tcPr>
                </a:tc>
                <a:tc>
                  <a:txBody>
                    <a:bodyPr/>
                    <a:lstStyle/>
                    <a:p>
                      <a:pPr>
                        <a:defRPr sz="2800" b="0">
                          <a:solidFill>
                            <a:srgbClr val="233C49"/>
                          </a:solidFill>
                          <a:latin typeface="Calibri"/>
                        </a:defRPr>
                      </a:pPr>
                      <a:r>
                        <a:t>50</a:t>
                      </a:r>
                    </a:p>
                  </a:txBody>
                  <a:tcPr marL="164592" marR="128016" marT="91440" anchor="ctr">
                    <a:solidFill>
                      <a:srgbClr val="FFFFFF"/>
                    </a:solidFill>
                  </a:tcPr>
                </a:tc>
                <a:extLst>
                  <a:ext uri="{0D108BD9-81ED-4DB2-BD59-A6C34878D82A}">
                    <a16:rowId xmlns:a16="http://schemas.microsoft.com/office/drawing/2014/main" val="10001"/>
                  </a:ext>
                </a:extLst>
              </a:tr>
              <a:tr h="722376">
                <a:tc>
                  <a:txBody>
                    <a:bodyPr/>
                    <a:lstStyle/>
                    <a:p>
                      <a:pPr>
                        <a:defRPr sz="2800" b="0">
                          <a:solidFill>
                            <a:srgbClr val="233C49"/>
                          </a:solidFill>
                          <a:latin typeface="Calibri"/>
                        </a:defRPr>
                      </a:pPr>
                      <a:r>
                        <a:t>Max. generations</a:t>
                      </a:r>
                    </a:p>
                  </a:txBody>
                  <a:tcPr marL="164592" marR="128016" marT="91440" anchor="ctr">
                    <a:solidFill>
                      <a:srgbClr val="EDF5F4"/>
                    </a:solidFill>
                  </a:tcPr>
                </a:tc>
                <a:tc>
                  <a:txBody>
                    <a:bodyPr/>
                    <a:lstStyle/>
                    <a:p>
                      <a:pPr>
                        <a:defRPr sz="2800" b="0">
                          <a:solidFill>
                            <a:srgbClr val="233C49"/>
                          </a:solidFill>
                          <a:latin typeface="Calibri"/>
                        </a:defRPr>
                      </a:pPr>
                      <a:r>
                        <a:t>100</a:t>
                      </a:r>
                    </a:p>
                  </a:txBody>
                  <a:tcPr marL="164592" marR="128016" marT="91440" anchor="ctr">
                    <a:solidFill>
                      <a:srgbClr val="EDF5F4"/>
                    </a:solidFill>
                  </a:tcPr>
                </a:tc>
                <a:extLst>
                  <a:ext uri="{0D108BD9-81ED-4DB2-BD59-A6C34878D82A}">
                    <a16:rowId xmlns:a16="http://schemas.microsoft.com/office/drawing/2014/main" val="10002"/>
                  </a:ext>
                </a:extLst>
              </a:tr>
              <a:tr h="722376">
                <a:tc>
                  <a:txBody>
                    <a:bodyPr/>
                    <a:lstStyle/>
                    <a:p>
                      <a:pPr>
                        <a:defRPr sz="2800" b="0">
                          <a:solidFill>
                            <a:srgbClr val="233C49"/>
                          </a:solidFill>
                          <a:latin typeface="Calibri"/>
                        </a:defRPr>
                      </a:pPr>
                      <a:r>
                        <a:t>Crossover</a:t>
                      </a:r>
                    </a:p>
                  </a:txBody>
                  <a:tcPr marL="164592" marR="128016" marT="91440" anchor="ctr">
                    <a:solidFill>
                      <a:srgbClr val="FFFFFF"/>
                    </a:solidFill>
                  </a:tcPr>
                </a:tc>
                <a:tc>
                  <a:txBody>
                    <a:bodyPr/>
                    <a:lstStyle/>
                    <a:p>
                      <a:pPr>
                        <a:defRPr sz="2800" b="0">
                          <a:solidFill>
                            <a:srgbClr val="233C49"/>
                          </a:solidFill>
                          <a:latin typeface="Calibri"/>
                        </a:defRPr>
                      </a:pPr>
                      <a:r>
                        <a:t>80%</a:t>
                      </a:r>
                    </a:p>
                  </a:txBody>
                  <a:tcPr marL="164592" marR="128016" marT="91440" anchor="ctr">
                    <a:solidFill>
                      <a:srgbClr val="FFFFFF"/>
                    </a:solidFill>
                  </a:tcPr>
                </a:tc>
                <a:extLst>
                  <a:ext uri="{0D108BD9-81ED-4DB2-BD59-A6C34878D82A}">
                    <a16:rowId xmlns:a16="http://schemas.microsoft.com/office/drawing/2014/main" val="10003"/>
                  </a:ext>
                </a:extLst>
              </a:tr>
              <a:tr h="722376">
                <a:tc>
                  <a:txBody>
                    <a:bodyPr/>
                    <a:lstStyle/>
                    <a:p>
                      <a:pPr>
                        <a:defRPr sz="2800" b="0">
                          <a:solidFill>
                            <a:srgbClr val="233C49"/>
                          </a:solidFill>
                          <a:latin typeface="Calibri"/>
                        </a:defRPr>
                      </a:pPr>
                      <a:r>
                        <a:t>Mutation</a:t>
                      </a:r>
                    </a:p>
                  </a:txBody>
                  <a:tcPr marL="164592" marR="128016" marT="91440" anchor="ctr">
                    <a:solidFill>
                      <a:srgbClr val="EDF5F4"/>
                    </a:solidFill>
                  </a:tcPr>
                </a:tc>
                <a:tc>
                  <a:txBody>
                    <a:bodyPr/>
                    <a:lstStyle/>
                    <a:p>
                      <a:pPr>
                        <a:defRPr sz="2800" b="0">
                          <a:solidFill>
                            <a:srgbClr val="233C49"/>
                          </a:solidFill>
                          <a:latin typeface="Calibri"/>
                        </a:defRPr>
                      </a:pPr>
                      <a:r>
                        <a:t>5% per gene</a:t>
                      </a:r>
                    </a:p>
                  </a:txBody>
                  <a:tcPr marL="164592" marR="128016" marT="91440" anchor="ctr">
                    <a:solidFill>
                      <a:srgbClr val="EDF5F4"/>
                    </a:solidFill>
                  </a:tcPr>
                </a:tc>
                <a:extLst>
                  <a:ext uri="{0D108BD9-81ED-4DB2-BD59-A6C34878D82A}">
                    <a16:rowId xmlns:a16="http://schemas.microsoft.com/office/drawing/2014/main" val="10004"/>
                  </a:ext>
                </a:extLst>
              </a:tr>
              <a:tr h="722376">
                <a:tc>
                  <a:txBody>
                    <a:bodyPr/>
                    <a:lstStyle/>
                    <a:p>
                      <a:pPr>
                        <a:defRPr sz="2800" b="0">
                          <a:solidFill>
                            <a:srgbClr val="233C49"/>
                          </a:solidFill>
                          <a:latin typeface="Calibri"/>
                        </a:defRPr>
                      </a:pPr>
                      <a:r>
                        <a:t>Elitism</a:t>
                      </a:r>
                    </a:p>
                  </a:txBody>
                  <a:tcPr marL="164592" marR="128016" marT="91440" anchor="ctr">
                    <a:solidFill>
                      <a:srgbClr val="FFFFFF"/>
                    </a:solidFill>
                  </a:tcPr>
                </a:tc>
                <a:tc>
                  <a:txBody>
                    <a:bodyPr/>
                    <a:lstStyle/>
                    <a:p>
                      <a:pPr>
                        <a:defRPr sz="2800" b="0">
                          <a:solidFill>
                            <a:srgbClr val="233C49"/>
                          </a:solidFill>
                          <a:latin typeface="Calibri"/>
                        </a:defRPr>
                      </a:pPr>
                      <a:r>
                        <a:t>1</a:t>
                      </a:r>
                    </a:p>
                  </a:txBody>
                  <a:tcPr marL="164592" marR="128016" marT="9144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1051560" y="7498079"/>
            <a:ext cx="8092440" cy="877163"/>
          </a:xfrm>
          <a:prstGeom prst="rect">
            <a:avLst/>
          </a:prstGeom>
          <a:noFill/>
        </p:spPr>
        <p:txBody>
          <a:bodyPr wrap="square" lIns="0" tIns="0" rIns="0" bIns="0">
            <a:spAutoFit/>
          </a:bodyPr>
          <a:lstStyle/>
          <a:p>
            <a:pPr>
              <a:spcBef>
                <a:spcPts val="0"/>
              </a:spcBef>
              <a:spcAft>
                <a:spcPts val="600"/>
              </a:spcAft>
              <a:defRPr sz="2600" b="1">
                <a:solidFill>
                  <a:srgbClr val="237B83"/>
                </a:solidFill>
                <a:latin typeface="Calibri"/>
              </a:defRPr>
            </a:pPr>
            <a:r>
              <a:rPr dirty="0"/>
              <a:t>Value encoding · roulette selection</a:t>
            </a:r>
          </a:p>
          <a:p>
            <a:pPr>
              <a:spcBef>
                <a:spcPts val="0"/>
              </a:spcBef>
              <a:spcAft>
                <a:spcPts val="600"/>
              </a:spcAft>
              <a:defRPr sz="2600" b="1">
                <a:solidFill>
                  <a:srgbClr val="237B83"/>
                </a:solidFill>
                <a:latin typeface="Calibri"/>
              </a:defRPr>
            </a:pPr>
            <a:r>
              <a:rPr dirty="0"/>
              <a:t>One-point crossover</a:t>
            </a:r>
          </a:p>
        </p:txBody>
      </p:sp>
      <p:graphicFrame>
        <p:nvGraphicFramePr>
          <p:cNvPr id="13" name="Table 12"/>
          <p:cNvGraphicFramePr>
            <a:graphicFrameLocks noGrp="1"/>
          </p:cNvGraphicFramePr>
          <p:nvPr>
            <p:extLst>
              <p:ext uri="{D42A27DB-BD31-4B8C-83A1-F6EECF244321}">
                <p14:modId xmlns:p14="http://schemas.microsoft.com/office/powerpoint/2010/main" val="1857256431"/>
              </p:ext>
            </p:extLst>
          </p:nvPr>
        </p:nvGraphicFramePr>
        <p:xfrm>
          <a:off x="9601200" y="2743200"/>
          <a:ext cx="7772400" cy="4334256"/>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722376">
                <a:tc>
                  <a:txBody>
                    <a:bodyPr/>
                    <a:lstStyle/>
                    <a:p>
                      <a:pPr>
                        <a:defRPr sz="2500" b="1">
                          <a:solidFill>
                            <a:srgbClr val="FFFFFF"/>
                          </a:solidFill>
                          <a:latin typeface="Calibri"/>
                        </a:defRPr>
                      </a:pPr>
                      <a:r>
                        <a:t>Choice</a:t>
                      </a:r>
                    </a:p>
                  </a:txBody>
                  <a:tcPr marL="164592" marR="128016" marT="91440" anchor="ctr">
                    <a:solidFill>
                      <a:srgbClr val="163D50"/>
                    </a:solidFill>
                  </a:tcPr>
                </a:tc>
                <a:tc>
                  <a:txBody>
                    <a:bodyPr/>
                    <a:lstStyle/>
                    <a:p>
                      <a:pPr>
                        <a:defRPr sz="2500" b="1">
                          <a:solidFill>
                            <a:srgbClr val="FFFFFF"/>
                          </a:solidFill>
                          <a:latin typeface="Calibri"/>
                        </a:defRPr>
                      </a:pPr>
                      <a:r>
                        <a:t>Value</a:t>
                      </a:r>
                    </a:p>
                  </a:txBody>
                  <a:tcPr marL="164592" marR="128016" marT="91440" anchor="ctr">
                    <a:solidFill>
                      <a:srgbClr val="163D50"/>
                    </a:solidFill>
                  </a:tcPr>
                </a:tc>
                <a:extLst>
                  <a:ext uri="{0D108BD9-81ED-4DB2-BD59-A6C34878D82A}">
                    <a16:rowId xmlns:a16="http://schemas.microsoft.com/office/drawing/2014/main" val="10000"/>
                  </a:ext>
                </a:extLst>
              </a:tr>
              <a:tr h="722376">
                <a:tc>
                  <a:txBody>
                    <a:bodyPr/>
                    <a:lstStyle/>
                    <a:p>
                      <a:pPr>
                        <a:defRPr sz="2500" b="0">
                          <a:solidFill>
                            <a:srgbClr val="233C49"/>
                          </a:solidFill>
                          <a:latin typeface="Calibri"/>
                        </a:defRPr>
                      </a:pPr>
                      <a:r>
                        <a:t>Mutation type</a:t>
                      </a:r>
                    </a:p>
                  </a:txBody>
                  <a:tcPr marL="164592" marR="128016" marT="91440" anchor="ctr">
                    <a:solidFill>
                      <a:srgbClr val="FFFFFF"/>
                    </a:solidFill>
                  </a:tcPr>
                </a:tc>
                <a:tc>
                  <a:txBody>
                    <a:bodyPr/>
                    <a:lstStyle/>
                    <a:p>
                      <a:pPr>
                        <a:defRPr sz="2500" b="0">
                          <a:solidFill>
                            <a:srgbClr val="233C49"/>
                          </a:solidFill>
                          <a:latin typeface="Calibri"/>
                        </a:defRPr>
                      </a:pPr>
                      <a:r>
                        <a:t>Gaussian</a:t>
                      </a:r>
                    </a:p>
                  </a:txBody>
                  <a:tcPr marL="164592" marR="128016" marT="91440" anchor="ctr">
                    <a:solidFill>
                      <a:srgbClr val="FFFFFF"/>
                    </a:solidFill>
                  </a:tcPr>
                </a:tc>
                <a:extLst>
                  <a:ext uri="{0D108BD9-81ED-4DB2-BD59-A6C34878D82A}">
                    <a16:rowId xmlns:a16="http://schemas.microsoft.com/office/drawing/2014/main" val="10001"/>
                  </a:ext>
                </a:extLst>
              </a:tr>
              <a:tr h="722376">
                <a:tc>
                  <a:txBody>
                    <a:bodyPr/>
                    <a:lstStyle/>
                    <a:p>
                      <a:pPr>
                        <a:defRPr sz="2500" b="0">
                          <a:solidFill>
                            <a:srgbClr val="233C49"/>
                          </a:solidFill>
                          <a:latin typeface="Calibri"/>
                        </a:defRPr>
                      </a:pPr>
                      <a:r>
                        <a:t>Step size σ</a:t>
                      </a:r>
                    </a:p>
                  </a:txBody>
                  <a:tcPr marL="164592" marR="128016" marT="91440" anchor="ctr">
                    <a:solidFill>
                      <a:srgbClr val="EDF5F4"/>
                    </a:solidFill>
                  </a:tcPr>
                </a:tc>
                <a:tc>
                  <a:txBody>
                    <a:bodyPr/>
                    <a:lstStyle/>
                    <a:p>
                      <a:pPr>
                        <a:defRPr sz="2500" b="0">
                          <a:solidFill>
                            <a:srgbClr val="233C49"/>
                          </a:solidFill>
                          <a:latin typeface="Calibri"/>
                        </a:defRPr>
                      </a:pPr>
                      <a:r>
                        <a:t>clip(f_best/4, 10⁻¹², 2)</a:t>
                      </a:r>
                    </a:p>
                  </a:txBody>
                  <a:tcPr marL="164592" marR="128016" marT="91440" anchor="ctr">
                    <a:solidFill>
                      <a:srgbClr val="EDF5F4"/>
                    </a:solidFill>
                  </a:tcPr>
                </a:tc>
                <a:extLst>
                  <a:ext uri="{0D108BD9-81ED-4DB2-BD59-A6C34878D82A}">
                    <a16:rowId xmlns:a16="http://schemas.microsoft.com/office/drawing/2014/main" val="10002"/>
                  </a:ext>
                </a:extLst>
              </a:tr>
              <a:tr h="722376">
                <a:tc>
                  <a:txBody>
                    <a:bodyPr/>
                    <a:lstStyle/>
                    <a:p>
                      <a:pPr>
                        <a:defRPr sz="2500" b="0">
                          <a:solidFill>
                            <a:srgbClr val="233C49"/>
                          </a:solidFill>
                          <a:latin typeface="Calibri"/>
                        </a:defRPr>
                      </a:pPr>
                      <a:r>
                        <a:t>Exact-copy limit</a:t>
                      </a:r>
                    </a:p>
                  </a:txBody>
                  <a:tcPr marL="164592" marR="128016" marT="91440" anchor="ctr">
                    <a:solidFill>
                      <a:srgbClr val="FFFFFF"/>
                    </a:solidFill>
                  </a:tcPr>
                </a:tc>
                <a:tc>
                  <a:txBody>
                    <a:bodyPr/>
                    <a:lstStyle/>
                    <a:p>
                      <a:pPr>
                        <a:defRPr sz="2500" b="0">
                          <a:solidFill>
                            <a:srgbClr val="233C49"/>
                          </a:solidFill>
                          <a:latin typeface="Calibri"/>
                        </a:defRPr>
                      </a:pPr>
                      <a:r>
                        <a:t>15 of 50</a:t>
                      </a:r>
                    </a:p>
                  </a:txBody>
                  <a:tcPr marL="164592" marR="128016" marT="91440" anchor="ctr">
                    <a:solidFill>
                      <a:srgbClr val="FFFFFF"/>
                    </a:solidFill>
                  </a:tcPr>
                </a:tc>
                <a:extLst>
                  <a:ext uri="{0D108BD9-81ED-4DB2-BD59-A6C34878D82A}">
                    <a16:rowId xmlns:a16="http://schemas.microsoft.com/office/drawing/2014/main" val="10003"/>
                  </a:ext>
                </a:extLst>
              </a:tr>
              <a:tr h="722376">
                <a:tc>
                  <a:txBody>
                    <a:bodyPr/>
                    <a:lstStyle/>
                    <a:p>
                      <a:pPr>
                        <a:defRPr sz="2500" b="0">
                          <a:solidFill>
                            <a:srgbClr val="233C49"/>
                          </a:solidFill>
                          <a:latin typeface="Calibri"/>
                        </a:defRPr>
                      </a:pPr>
                      <a:r>
                        <a:t>Tolerance / patience</a:t>
                      </a:r>
                    </a:p>
                  </a:txBody>
                  <a:tcPr marL="164592" marR="128016" marT="91440" anchor="ctr">
                    <a:solidFill>
                      <a:srgbClr val="EDF5F4"/>
                    </a:solidFill>
                  </a:tcPr>
                </a:tc>
                <a:tc>
                  <a:txBody>
                    <a:bodyPr/>
                    <a:lstStyle/>
                    <a:p>
                      <a:pPr>
                        <a:defRPr sz="2500" b="0">
                          <a:solidFill>
                            <a:srgbClr val="233C49"/>
                          </a:solidFill>
                          <a:latin typeface="Calibri"/>
                        </a:defRPr>
                      </a:pPr>
                      <a:r>
                        <a:rPr dirty="0"/>
                        <a:t>10⁻</a:t>
                      </a:r>
                      <a:r>
                        <a:rPr lang="en-US" dirty="0"/>
                        <a:t>¹⁰</a:t>
                      </a:r>
                      <a:r>
                        <a:rPr dirty="0"/>
                        <a:t> / 20 rounds</a:t>
                      </a:r>
                    </a:p>
                  </a:txBody>
                  <a:tcPr marL="164592" marR="128016" marT="91440" anchor="ctr">
                    <a:solidFill>
                      <a:srgbClr val="EDF5F4"/>
                    </a:solidFill>
                  </a:tcPr>
                </a:tc>
                <a:extLst>
                  <a:ext uri="{0D108BD9-81ED-4DB2-BD59-A6C34878D82A}">
                    <a16:rowId xmlns:a16="http://schemas.microsoft.com/office/drawing/2014/main" val="10004"/>
                  </a:ext>
                </a:extLst>
              </a:tr>
              <a:tr h="722376">
                <a:tc>
                  <a:txBody>
                    <a:bodyPr/>
                    <a:lstStyle/>
                    <a:p>
                      <a:pPr>
                        <a:defRPr sz="2500" b="0">
                          <a:solidFill>
                            <a:srgbClr val="233C49"/>
                          </a:solidFill>
                          <a:latin typeface="Calibri"/>
                        </a:defRPr>
                      </a:pPr>
                      <a:r>
                        <a:t>Main random seed</a:t>
                      </a:r>
                    </a:p>
                  </a:txBody>
                  <a:tcPr marL="164592" marR="128016" marT="91440" anchor="ctr">
                    <a:solidFill>
                      <a:srgbClr val="FFFFFF"/>
                    </a:solidFill>
                  </a:tcPr>
                </a:tc>
                <a:tc>
                  <a:txBody>
                    <a:bodyPr/>
                    <a:lstStyle/>
                    <a:p>
                      <a:pPr>
                        <a:defRPr sz="2500" b="0">
                          <a:solidFill>
                            <a:srgbClr val="233C49"/>
                          </a:solidFill>
                          <a:latin typeface="Calibri"/>
                        </a:defRPr>
                      </a:pPr>
                      <a:r>
                        <a:rPr dirty="0"/>
                        <a:t>7</a:t>
                      </a:r>
                    </a:p>
                  </a:txBody>
                  <a:tcPr marL="164592" marR="128016" marT="91440" anchor="ctr">
                    <a:solidFill>
                      <a:srgbClr val="FFFFFF"/>
                    </a:solidFill>
                  </a:tcPr>
                </a:tc>
                <a:extLst>
                  <a:ext uri="{0D108BD9-81ED-4DB2-BD59-A6C34878D82A}">
                    <a16:rowId xmlns:a16="http://schemas.microsoft.com/office/drawing/2014/main" val="10005"/>
                  </a:ext>
                </a:extLst>
              </a:tr>
            </a:tbl>
          </a:graphicData>
        </a:graphic>
      </p:graphicFrame>
      <p:sp>
        <p:nvSpPr>
          <p:cNvPr id="14" name="TextBox 13"/>
          <p:cNvSpPr txBox="1"/>
          <p:nvPr/>
        </p:nvSpPr>
        <p:spPr>
          <a:xfrm>
            <a:off x="9738360" y="7498079"/>
            <a:ext cx="7589520" cy="1005840"/>
          </a:xfrm>
          <a:prstGeom prst="rect">
            <a:avLst/>
          </a:prstGeom>
          <a:noFill/>
        </p:spPr>
        <p:txBody>
          <a:bodyPr wrap="square" lIns="0" tIns="0" rIns="0" bIns="0">
            <a:spAutoFit/>
          </a:bodyPr>
          <a:lstStyle/>
          <a:p>
            <a:pPr>
              <a:spcBef>
                <a:spcPts val="0"/>
              </a:spcBef>
              <a:spcAft>
                <a:spcPts val="600"/>
              </a:spcAft>
              <a:defRPr sz="2700" b="1">
                <a:solidFill>
                  <a:srgbClr val="B82E37"/>
                </a:solidFill>
                <a:latin typeface="Calibri"/>
              </a:defRPr>
            </a:pPr>
            <a:r>
              <a:t>Probability is fixed;</a:t>
            </a:r>
          </a:p>
          <a:p>
            <a:pPr>
              <a:spcBef>
                <a:spcPts val="0"/>
              </a:spcBef>
              <a:spcAft>
                <a:spcPts val="600"/>
              </a:spcAft>
              <a:defRPr sz="2700" b="1">
                <a:solidFill>
                  <a:srgbClr val="B82E37"/>
                </a:solidFill>
                <a:latin typeface="Calibri"/>
              </a:defRPr>
            </a:pPr>
            <a:r>
              <a:t>step size adapts to the result.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t>
            </a:r>
            <a:r>
              <a:rPr lang="en-US" dirty="0"/>
              <a:t>S</a:t>
            </a:r>
            <a:r>
              <a:rPr dirty="0"/>
              <a:t>earch </a:t>
            </a:r>
            <a:r>
              <a:rPr lang="en-US" dirty="0"/>
              <a:t>L</a:t>
            </a:r>
            <a:r>
              <a:rPr dirty="0"/>
              <a:t>oop</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08 / 18</a:t>
            </a:r>
          </a:p>
        </p:txBody>
      </p:sp>
      <p:sp>
        <p:nvSpPr>
          <p:cNvPr id="9" name="Rounded Rectangle 8"/>
          <p:cNvSpPr/>
          <p:nvPr/>
        </p:nvSpPr>
        <p:spPr>
          <a:xfrm>
            <a:off x="914400" y="2240280"/>
            <a:ext cx="763524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240487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1  Initialise</a:t>
            </a:r>
          </a:p>
        </p:txBody>
      </p:sp>
      <p:sp>
        <p:nvSpPr>
          <p:cNvPr id="11" name="TextBox 10"/>
          <p:cNvSpPr txBox="1"/>
          <p:nvPr/>
        </p:nvSpPr>
        <p:spPr>
          <a:xfrm>
            <a:off x="1115568" y="294436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50 random points → evaluate → sort</a:t>
            </a:r>
          </a:p>
        </p:txBody>
      </p:sp>
      <p:sp>
        <p:nvSpPr>
          <p:cNvPr id="12" name="Rounded Rectangle 11"/>
          <p:cNvSpPr/>
          <p:nvPr/>
        </p:nvSpPr>
        <p:spPr>
          <a:xfrm>
            <a:off x="9601200" y="2240280"/>
            <a:ext cx="7772400" cy="123444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02368" y="240487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2  Check stopping rules</a:t>
            </a:r>
          </a:p>
        </p:txBody>
      </p:sp>
      <p:sp>
        <p:nvSpPr>
          <p:cNvPr id="14" name="TextBox 13"/>
          <p:cNvSpPr txBox="1"/>
          <p:nvPr/>
        </p:nvSpPr>
        <p:spPr>
          <a:xfrm>
            <a:off x="9802368" y="294436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If yes: report best and finish</a:t>
            </a:r>
          </a:p>
        </p:txBody>
      </p:sp>
      <p:sp>
        <p:nvSpPr>
          <p:cNvPr id="15" name="Right Arrow 14"/>
          <p:cNvSpPr/>
          <p:nvPr/>
        </p:nvSpPr>
        <p:spPr>
          <a:xfrm>
            <a:off x="8732520" y="269748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3487400" y="3474720"/>
            <a:ext cx="0" cy="612648"/>
          </a:xfrm>
          <a:prstGeom prst="line">
            <a:avLst/>
          </a:prstGeom>
          <a:ln w="25400">
            <a:solidFill>
              <a:srgbClr val="237B8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716000" y="3630168"/>
            <a:ext cx="2743200" cy="320040"/>
          </a:xfrm>
          <a:prstGeom prst="rect">
            <a:avLst/>
          </a:prstGeom>
          <a:noFill/>
        </p:spPr>
        <p:txBody>
          <a:bodyPr wrap="square" lIns="0" tIns="0" rIns="0" bIns="0">
            <a:spAutoFit/>
          </a:bodyPr>
          <a:lstStyle/>
          <a:p>
            <a:pPr>
              <a:spcBef>
                <a:spcPts val="0"/>
              </a:spcBef>
              <a:spcAft>
                <a:spcPts val="600"/>
              </a:spcAft>
              <a:defRPr sz="1700" b="1">
                <a:solidFill>
                  <a:srgbClr val="237B83"/>
                </a:solidFill>
                <a:latin typeface="Calibri"/>
              </a:defRPr>
            </a:pPr>
            <a:r>
              <a:t>NO: CONTINUE</a:t>
            </a:r>
          </a:p>
        </p:txBody>
      </p:sp>
      <p:sp>
        <p:nvSpPr>
          <p:cNvPr id="18" name="Reveal_1"/>
          <p:cNvSpPr/>
          <p:nvPr/>
        </p:nvSpPr>
        <p:spPr>
          <a:xfrm>
            <a:off x="9601200" y="4251960"/>
            <a:ext cx="777240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veal_1_title"/>
          <p:cNvSpPr txBox="1"/>
          <p:nvPr/>
        </p:nvSpPr>
        <p:spPr>
          <a:xfrm>
            <a:off x="9802368" y="441655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3  Set σ and probabilities</a:t>
            </a:r>
          </a:p>
        </p:txBody>
      </p:sp>
      <p:sp>
        <p:nvSpPr>
          <p:cNvPr id="20" name="Reveal_1_body"/>
          <p:cNvSpPr txBox="1"/>
          <p:nvPr/>
        </p:nvSpPr>
        <p:spPr>
          <a:xfrm>
            <a:off x="9802368" y="495604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Then select 50 parents by roulette</a:t>
            </a:r>
          </a:p>
        </p:txBody>
      </p:sp>
      <p:sp>
        <p:nvSpPr>
          <p:cNvPr id="21" name="Reveal_2"/>
          <p:cNvSpPr/>
          <p:nvPr/>
        </p:nvSpPr>
        <p:spPr>
          <a:xfrm>
            <a:off x="914400" y="4251960"/>
            <a:ext cx="763524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2_title"/>
          <p:cNvSpPr txBox="1"/>
          <p:nvPr/>
        </p:nvSpPr>
        <p:spPr>
          <a:xfrm>
            <a:off x="1115568" y="441655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4  Make 50 children</a:t>
            </a:r>
          </a:p>
        </p:txBody>
      </p:sp>
      <p:sp>
        <p:nvSpPr>
          <p:cNvPr id="23" name="Reveal_2_body"/>
          <p:cNvSpPr txBox="1"/>
          <p:nvPr/>
        </p:nvSpPr>
        <p:spPr>
          <a:xfrm>
            <a:off x="1115568" y="495604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Crossover → mutate → clip → evaluate</a:t>
            </a:r>
          </a:p>
        </p:txBody>
      </p:sp>
      <p:sp>
        <p:nvSpPr>
          <p:cNvPr id="24" name="Right Arrow 23"/>
          <p:cNvSpPr/>
          <p:nvPr/>
        </p:nvSpPr>
        <p:spPr>
          <a:xfrm rot="10800000">
            <a:off x="8732520" y="466344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4709160" y="5486400"/>
            <a:ext cx="0" cy="502920"/>
          </a:xfrm>
          <a:prstGeom prst="line">
            <a:avLst/>
          </a:prstGeom>
          <a:ln w="25400">
            <a:solidFill>
              <a:srgbClr val="237B83"/>
            </a:solidFill>
          </a:ln>
        </p:spPr>
        <p:style>
          <a:lnRef idx="2">
            <a:schemeClr val="accent1"/>
          </a:lnRef>
          <a:fillRef idx="0">
            <a:schemeClr val="accent1"/>
          </a:fillRef>
          <a:effectRef idx="1">
            <a:schemeClr val="accent1"/>
          </a:effectRef>
          <a:fontRef idx="minor">
            <a:schemeClr val="tx1"/>
          </a:fontRef>
        </p:style>
      </p:cxnSp>
      <p:sp>
        <p:nvSpPr>
          <p:cNvPr id="26" name="Reveal_3"/>
          <p:cNvSpPr/>
          <p:nvPr/>
        </p:nvSpPr>
        <p:spPr>
          <a:xfrm>
            <a:off x="914400" y="6217920"/>
            <a:ext cx="7635240" cy="123444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3_title"/>
          <p:cNvSpPr txBox="1"/>
          <p:nvPr/>
        </p:nvSpPr>
        <p:spPr>
          <a:xfrm>
            <a:off x="1115568" y="638251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5  Choose the next 50</a:t>
            </a:r>
          </a:p>
        </p:txBody>
      </p:sp>
      <p:sp>
        <p:nvSpPr>
          <p:cNvPr id="28" name="Reveal_3_body"/>
          <p:cNvSpPr txBox="1"/>
          <p:nvPr/>
        </p:nvSpPr>
        <p:spPr>
          <a:xfrm>
            <a:off x="1115568" y="692200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1 elite + 49 seats, with the copy limit</a:t>
            </a:r>
          </a:p>
        </p:txBody>
      </p:sp>
      <p:sp>
        <p:nvSpPr>
          <p:cNvPr id="29" name="Reveal_4"/>
          <p:cNvSpPr/>
          <p:nvPr/>
        </p:nvSpPr>
        <p:spPr>
          <a:xfrm>
            <a:off x="9601200" y="6217920"/>
            <a:ext cx="777240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4_title"/>
          <p:cNvSpPr txBox="1"/>
          <p:nvPr/>
        </p:nvSpPr>
        <p:spPr>
          <a:xfrm>
            <a:off x="9802368" y="638251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6  Repeat</a:t>
            </a:r>
          </a:p>
        </p:txBody>
      </p:sp>
      <p:sp>
        <p:nvSpPr>
          <p:cNvPr id="31" name="Reveal_4_body"/>
          <p:cNvSpPr txBox="1"/>
          <p:nvPr/>
        </p:nvSpPr>
        <p:spPr>
          <a:xfrm>
            <a:off x="9802368" y="692200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Use the survivors as the next population</a:t>
            </a:r>
          </a:p>
        </p:txBody>
      </p:sp>
      <p:sp>
        <p:nvSpPr>
          <p:cNvPr id="32" name="Right Arrow 31"/>
          <p:cNvSpPr/>
          <p:nvPr/>
        </p:nvSpPr>
        <p:spPr>
          <a:xfrm>
            <a:off x="8732520" y="662940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7882127"/>
            <a:ext cx="7406640" cy="457200"/>
          </a:xfrm>
          <a:prstGeom prst="rect">
            <a:avLst/>
          </a:prstGeom>
          <a:noFill/>
        </p:spPr>
        <p:txBody>
          <a:bodyPr wrap="square" lIns="0" tIns="0" rIns="0" bIns="0">
            <a:spAutoFit/>
          </a:bodyPr>
          <a:lstStyle/>
          <a:p>
            <a:pPr>
              <a:spcBef>
                <a:spcPts val="0"/>
              </a:spcBef>
              <a:spcAft>
                <a:spcPts val="600"/>
              </a:spcAft>
              <a:defRPr sz="2800" b="1">
                <a:solidFill>
                  <a:srgbClr val="237B83"/>
                </a:solidFill>
                <a:latin typeface="Calibri"/>
              </a:defRPr>
            </a:pPr>
            <a:r>
              <a:t>↺  Return to the stopping check</a:t>
            </a:r>
          </a:p>
        </p:txBody>
      </p:sp>
      <p:sp>
        <p:nvSpPr>
          <p:cNvPr id="34" name="Rounded Rectangle 3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50 parents + 50 children → preserve the elite and fill the next population of 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99"/>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199"/>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199"/>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199"/>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99"/>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199"/>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199"/>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19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P spid="21" grpId="0" animBg="1"/>
      <p:bldP spid="22" grpId="0"/>
      <p:bldP spid="23" grpId="0"/>
      <p:bldP spid="26" grpId="0" animBg="1"/>
      <p:bldP spid="27" grpId="0"/>
      <p:bldP spid="28" grpId="0"/>
      <p:bldP spid="29" grpId="0" animBg="1"/>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Better </a:t>
            </a:r>
            <a:r>
              <a:rPr lang="en-US" dirty="0"/>
              <a:t>P</a:t>
            </a:r>
            <a:r>
              <a:rPr dirty="0"/>
              <a:t>oints </a:t>
            </a:r>
            <a:r>
              <a:rPr lang="en-US" dirty="0"/>
              <a:t>G</a:t>
            </a:r>
            <a:r>
              <a:rPr dirty="0"/>
              <a:t>et </a:t>
            </a:r>
            <a:r>
              <a:rPr lang="en-US" dirty="0"/>
              <a:t>L</a:t>
            </a:r>
            <a:r>
              <a:rPr dirty="0"/>
              <a:t>arger </a:t>
            </a:r>
            <a:r>
              <a:rPr lang="en-US" dirty="0"/>
              <a:t>S</a:t>
            </a:r>
            <a:r>
              <a:rPr dirty="0"/>
              <a:t>lices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09 / 18</a:t>
            </a:r>
          </a:p>
        </p:txBody>
      </p:sp>
      <p:sp>
        <p:nvSpPr>
          <p:cNvPr id="9" name="TextBox 8"/>
          <p:cNvSpPr txBox="1"/>
          <p:nvPr/>
        </p:nvSpPr>
        <p:spPr>
          <a:xfrm>
            <a:off x="914400" y="2103120"/>
            <a:ext cx="8961120" cy="502920"/>
          </a:xfrm>
          <a:prstGeom prst="rect">
            <a:avLst/>
          </a:prstGeom>
          <a:noFill/>
        </p:spPr>
        <p:txBody>
          <a:bodyPr wrap="square" lIns="0" tIns="0" rIns="0" bIns="0">
            <a:spAutoFit/>
          </a:bodyPr>
          <a:lstStyle/>
          <a:p>
            <a:pPr>
              <a:spcBef>
                <a:spcPts val="0"/>
              </a:spcBef>
              <a:spcAft>
                <a:spcPts val="600"/>
              </a:spcAft>
              <a:defRPr sz="3100" b="1">
                <a:solidFill>
                  <a:srgbClr val="237B83"/>
                </a:solidFill>
                <a:latin typeface="Calibri"/>
              </a:defRPr>
            </a:pPr>
            <a:r>
              <a:t>Lower objective → higher fitness</a:t>
            </a:r>
          </a:p>
        </p:txBody>
      </p:sp>
      <p:sp>
        <p:nvSpPr>
          <p:cNvPr id="10" name="Rounded Rectangle 9"/>
          <p:cNvSpPr/>
          <p:nvPr/>
        </p:nvSpPr>
        <p:spPr>
          <a:xfrm>
            <a:off x="822960" y="2788920"/>
            <a:ext cx="9418320" cy="2057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fitness" descr="F_i=(f_{\max}-f_i)+\delta,\qquad p_i=\frac{F_i}{\sum_j F_j}"/>
          <p:cNvPicPr>
            <a:picLocks noChangeAspect="1"/>
          </p:cNvPicPr>
          <p:nvPr/>
        </p:nvPicPr>
        <p:blipFill>
          <a:blip r:embed="rId3"/>
          <a:stretch>
            <a:fillRect/>
          </a:stretch>
        </p:blipFill>
        <p:spPr>
          <a:xfrm>
            <a:off x="3598272" y="2971800"/>
            <a:ext cx="3867694" cy="777240"/>
          </a:xfrm>
          <a:prstGeom prst="rect">
            <a:avLst/>
          </a:prstGeom>
        </p:spPr>
      </p:pic>
      <p:sp>
        <p:nvSpPr>
          <p:cNvPr id="12" name="TextBox 11"/>
          <p:cNvSpPr txBox="1"/>
          <p:nvPr/>
        </p:nvSpPr>
        <p:spPr>
          <a:xfrm>
            <a:off x="1143000" y="4114800"/>
            <a:ext cx="8686800" cy="45720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δ = 0.10(f_max − f_min) + 10⁻¹²</a:t>
            </a:r>
          </a:p>
        </p:txBody>
      </p:sp>
      <p:graphicFrame>
        <p:nvGraphicFramePr>
          <p:cNvPr id="13" name="Table 12"/>
          <p:cNvGraphicFramePr>
            <a:graphicFrameLocks noGrp="1"/>
          </p:cNvGraphicFramePr>
          <p:nvPr/>
        </p:nvGraphicFramePr>
        <p:xfrm>
          <a:off x="914400" y="5276088"/>
          <a:ext cx="9326880" cy="3108960"/>
        </p:xfrm>
        <a:graphic>
          <a:graphicData uri="http://schemas.openxmlformats.org/drawingml/2006/table">
            <a:tbl>
              <a:tblPr firstRow="1" bandRow="1">
                <a:tableStyleId>{5C22544A-7EE6-4342-B048-85BDC9FD1C3A}</a:tableStyleId>
              </a:tblPr>
              <a:tblGrid>
                <a:gridCol w="37033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621792">
                <a:tc>
                  <a:txBody>
                    <a:bodyPr/>
                    <a:lstStyle/>
                    <a:p>
                      <a:pPr>
                        <a:defRPr sz="2500" b="1">
                          <a:solidFill>
                            <a:srgbClr val="FFFFFF"/>
                          </a:solidFill>
                          <a:latin typeface="Calibri"/>
                        </a:defRPr>
                      </a:pPr>
                      <a:r>
                        <a:t>Chromosome</a:t>
                      </a:r>
                    </a:p>
                  </a:txBody>
                  <a:tcPr marL="164592" marR="128016" marT="91440" anchor="ctr">
                    <a:solidFill>
                      <a:srgbClr val="163D50"/>
                    </a:solidFill>
                  </a:tcPr>
                </a:tc>
                <a:tc>
                  <a:txBody>
                    <a:bodyPr/>
                    <a:lstStyle/>
                    <a:p>
                      <a:pPr>
                        <a:defRPr sz="2500" b="1">
                          <a:solidFill>
                            <a:srgbClr val="FFFFFF"/>
                          </a:solidFill>
                          <a:latin typeface="Calibri"/>
                        </a:defRPr>
                      </a:pPr>
                      <a:r>
                        <a:t>f</a:t>
                      </a:r>
                    </a:p>
                  </a:txBody>
                  <a:tcPr marL="164592" marR="128016" marT="91440" anchor="ctr">
                    <a:solidFill>
                      <a:srgbClr val="163D50"/>
                    </a:solidFill>
                  </a:tcPr>
                </a:tc>
                <a:tc>
                  <a:txBody>
                    <a:bodyPr/>
                    <a:lstStyle/>
                    <a:p>
                      <a:pPr>
                        <a:defRPr sz="2500" b="1">
                          <a:solidFill>
                            <a:srgbClr val="FFFFFF"/>
                          </a:solidFill>
                          <a:latin typeface="Calibri"/>
                        </a:defRPr>
                      </a:pPr>
                      <a:r>
                        <a:t>Probability</a:t>
                      </a:r>
                    </a:p>
                  </a:txBody>
                  <a:tcPr marL="164592" marR="128016" marT="91440" anchor="ctr">
                    <a:solidFill>
                      <a:srgbClr val="163D50"/>
                    </a:solidFill>
                  </a:tcPr>
                </a:tc>
                <a:extLst>
                  <a:ext uri="{0D108BD9-81ED-4DB2-BD59-A6C34878D82A}">
                    <a16:rowId xmlns:a16="http://schemas.microsoft.com/office/drawing/2014/main" val="10000"/>
                  </a:ext>
                </a:extLst>
              </a:tr>
              <a:tr h="621792">
                <a:tc>
                  <a:txBody>
                    <a:bodyPr/>
                    <a:lstStyle/>
                    <a:p>
                      <a:pPr>
                        <a:defRPr sz="2500" b="0">
                          <a:solidFill>
                            <a:srgbClr val="233C49"/>
                          </a:solidFill>
                          <a:latin typeface="Calibri"/>
                        </a:defRPr>
                      </a:pPr>
                      <a:r>
                        <a:t>#7 (best)</a:t>
                      </a:r>
                    </a:p>
                  </a:txBody>
                  <a:tcPr marL="164592" marR="128016" marT="91440" anchor="ctr">
                    <a:solidFill>
                      <a:srgbClr val="FFFFFF"/>
                    </a:solidFill>
                  </a:tcPr>
                </a:tc>
                <a:tc>
                  <a:txBody>
                    <a:bodyPr/>
                    <a:lstStyle/>
                    <a:p>
                      <a:pPr>
                        <a:defRPr sz="2500" b="0">
                          <a:solidFill>
                            <a:srgbClr val="233C49"/>
                          </a:solidFill>
                          <a:latin typeface="Calibri"/>
                        </a:defRPr>
                      </a:pPr>
                      <a:r>
                        <a:t>3.19</a:t>
                      </a:r>
                    </a:p>
                  </a:txBody>
                  <a:tcPr marL="164592" marR="128016" marT="91440" anchor="ctr">
                    <a:solidFill>
                      <a:srgbClr val="FFFFFF"/>
                    </a:solidFill>
                  </a:tcPr>
                </a:tc>
                <a:tc>
                  <a:txBody>
                    <a:bodyPr/>
                    <a:lstStyle/>
                    <a:p>
                      <a:pPr>
                        <a:defRPr sz="2500" b="0">
                          <a:solidFill>
                            <a:srgbClr val="233C49"/>
                          </a:solidFill>
                          <a:latin typeface="Calibri"/>
                        </a:defRPr>
                      </a:pPr>
                      <a:r>
                        <a:t>4.83%</a:t>
                      </a:r>
                    </a:p>
                  </a:txBody>
                  <a:tcPr marL="164592" marR="128016" marT="91440" anchor="ctr">
                    <a:solidFill>
                      <a:srgbClr val="FFFFFF"/>
                    </a:solidFill>
                  </a:tcPr>
                </a:tc>
                <a:extLst>
                  <a:ext uri="{0D108BD9-81ED-4DB2-BD59-A6C34878D82A}">
                    <a16:rowId xmlns:a16="http://schemas.microsoft.com/office/drawing/2014/main" val="10001"/>
                  </a:ext>
                </a:extLst>
              </a:tr>
              <a:tr h="621792">
                <a:tc>
                  <a:txBody>
                    <a:bodyPr/>
                    <a:lstStyle/>
                    <a:p>
                      <a:pPr>
                        <a:defRPr sz="2500" b="0">
                          <a:solidFill>
                            <a:srgbClr val="233C49"/>
                          </a:solidFill>
                          <a:latin typeface="Calibri"/>
                        </a:defRPr>
                      </a:pPr>
                      <a:r>
                        <a:t>#46</a:t>
                      </a:r>
                    </a:p>
                  </a:txBody>
                  <a:tcPr marL="164592" marR="128016" marT="91440" anchor="ctr">
                    <a:solidFill>
                      <a:srgbClr val="EDF5F4"/>
                    </a:solidFill>
                  </a:tcPr>
                </a:tc>
                <a:tc>
                  <a:txBody>
                    <a:bodyPr/>
                    <a:lstStyle/>
                    <a:p>
                      <a:pPr>
                        <a:defRPr sz="2500" b="0">
                          <a:solidFill>
                            <a:srgbClr val="233C49"/>
                          </a:solidFill>
                          <a:latin typeface="Calibri"/>
                        </a:defRPr>
                      </a:pPr>
                      <a:r>
                        <a:t>3.79</a:t>
                      </a:r>
                    </a:p>
                  </a:txBody>
                  <a:tcPr marL="164592" marR="128016" marT="91440" anchor="ctr">
                    <a:solidFill>
                      <a:srgbClr val="EDF5F4"/>
                    </a:solidFill>
                  </a:tcPr>
                </a:tc>
                <a:tc>
                  <a:txBody>
                    <a:bodyPr/>
                    <a:lstStyle/>
                    <a:p>
                      <a:pPr>
                        <a:defRPr sz="2500" b="0">
                          <a:solidFill>
                            <a:srgbClr val="233C49"/>
                          </a:solidFill>
                          <a:latin typeface="Calibri"/>
                        </a:defRPr>
                      </a:pPr>
                      <a:r>
                        <a:t>4.57%</a:t>
                      </a:r>
                    </a:p>
                  </a:txBody>
                  <a:tcPr marL="164592" marR="128016" marT="91440" anchor="ctr">
                    <a:solidFill>
                      <a:srgbClr val="EDF5F4"/>
                    </a:solidFill>
                  </a:tcPr>
                </a:tc>
                <a:extLst>
                  <a:ext uri="{0D108BD9-81ED-4DB2-BD59-A6C34878D82A}">
                    <a16:rowId xmlns:a16="http://schemas.microsoft.com/office/drawing/2014/main" val="10002"/>
                  </a:ext>
                </a:extLst>
              </a:tr>
              <a:tr h="621792">
                <a:tc>
                  <a:txBody>
                    <a:bodyPr/>
                    <a:lstStyle/>
                    <a:p>
                      <a:pPr>
                        <a:defRPr sz="2500" b="0">
                          <a:solidFill>
                            <a:srgbClr val="233C49"/>
                          </a:solidFill>
                          <a:latin typeface="Calibri"/>
                        </a:defRPr>
                      </a:pPr>
                      <a:r>
                        <a:t>#14</a:t>
                      </a:r>
                    </a:p>
                  </a:txBody>
                  <a:tcPr marL="164592" marR="128016" marT="91440" anchor="ctr">
                    <a:solidFill>
                      <a:srgbClr val="FFFFFF"/>
                    </a:solidFill>
                  </a:tcPr>
                </a:tc>
                <a:tc>
                  <a:txBody>
                    <a:bodyPr/>
                    <a:lstStyle/>
                    <a:p>
                      <a:pPr>
                        <a:defRPr sz="2500" b="0">
                          <a:solidFill>
                            <a:srgbClr val="233C49"/>
                          </a:solidFill>
                          <a:latin typeface="Calibri"/>
                        </a:defRPr>
                      </a:pPr>
                      <a:r>
                        <a:t>4.87</a:t>
                      </a:r>
                    </a:p>
                  </a:txBody>
                  <a:tcPr marL="164592" marR="128016" marT="91440" anchor="ctr">
                    <a:solidFill>
                      <a:srgbClr val="FFFFFF"/>
                    </a:solidFill>
                  </a:tcPr>
                </a:tc>
                <a:tc>
                  <a:txBody>
                    <a:bodyPr/>
                    <a:lstStyle/>
                    <a:p>
                      <a:pPr>
                        <a:defRPr sz="2500" b="0">
                          <a:solidFill>
                            <a:srgbClr val="233C49"/>
                          </a:solidFill>
                          <a:latin typeface="Calibri"/>
                        </a:defRPr>
                      </a:pPr>
                      <a:r>
                        <a:t>4.10%</a:t>
                      </a:r>
                    </a:p>
                  </a:txBody>
                  <a:tcPr marL="164592" marR="128016" marT="91440" anchor="ctr">
                    <a:solidFill>
                      <a:srgbClr val="FFFFFF"/>
                    </a:solidFill>
                  </a:tcPr>
                </a:tc>
                <a:extLst>
                  <a:ext uri="{0D108BD9-81ED-4DB2-BD59-A6C34878D82A}">
                    <a16:rowId xmlns:a16="http://schemas.microsoft.com/office/drawing/2014/main" val="10003"/>
                  </a:ext>
                </a:extLst>
              </a:tr>
              <a:tr h="621792">
                <a:tc>
                  <a:txBody>
                    <a:bodyPr/>
                    <a:lstStyle/>
                    <a:p>
                      <a:pPr>
                        <a:defRPr sz="2500" b="0">
                          <a:solidFill>
                            <a:srgbClr val="233C49"/>
                          </a:solidFill>
                          <a:latin typeface="Calibri"/>
                        </a:defRPr>
                      </a:pPr>
                      <a:r>
                        <a:t>#45 (worst)</a:t>
                      </a:r>
                    </a:p>
                  </a:txBody>
                  <a:tcPr marL="164592" marR="128016" marT="91440" anchor="ctr">
                    <a:solidFill>
                      <a:srgbClr val="EDF5F4"/>
                    </a:solidFill>
                  </a:tcPr>
                </a:tc>
                <a:tc>
                  <a:txBody>
                    <a:bodyPr/>
                    <a:lstStyle/>
                    <a:p>
                      <a:pPr>
                        <a:defRPr sz="2500" b="0">
                          <a:solidFill>
                            <a:srgbClr val="233C49"/>
                          </a:solidFill>
                          <a:latin typeface="Calibri"/>
                        </a:defRPr>
                      </a:pPr>
                      <a:r>
                        <a:t>13.39</a:t>
                      </a:r>
                    </a:p>
                  </a:txBody>
                  <a:tcPr marL="164592" marR="128016" marT="91440" anchor="ctr">
                    <a:solidFill>
                      <a:srgbClr val="EDF5F4"/>
                    </a:solidFill>
                  </a:tcPr>
                </a:tc>
                <a:tc>
                  <a:txBody>
                    <a:bodyPr/>
                    <a:lstStyle/>
                    <a:p>
                      <a:pPr>
                        <a:defRPr sz="2500" b="0">
                          <a:solidFill>
                            <a:srgbClr val="233C49"/>
                          </a:solidFill>
                          <a:latin typeface="Calibri"/>
                        </a:defRPr>
                      </a:pPr>
                      <a:r>
                        <a:t>0.44%</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4" name="Rounded Rectangle 13"/>
          <p:cNvSpPr/>
          <p:nvPr/>
        </p:nvSpPr>
        <p:spPr>
          <a:xfrm>
            <a:off x="10652760" y="2011680"/>
            <a:ext cx="6903720" cy="6766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04_roulette_pie_gen0.png" descr="04_roulette_pie_gen0.png"/>
          <p:cNvPicPr>
            <a:picLocks noChangeAspect="1"/>
          </p:cNvPicPr>
          <p:nvPr/>
        </p:nvPicPr>
        <p:blipFill>
          <a:blip r:embed="rId4"/>
          <a:stretch>
            <a:fillRect/>
          </a:stretch>
        </p:blipFill>
        <p:spPr>
          <a:xfrm>
            <a:off x="11023890" y="2103120"/>
            <a:ext cx="6161459" cy="6510528"/>
          </a:xfrm>
          <a:prstGeom prst="rect">
            <a:avLst/>
          </a:prstGeom>
        </p:spPr>
      </p:pic>
      <p:sp>
        <p:nvSpPr>
          <p:cNvPr id="16" name="Rounded Rectangle 15"/>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code uses 50 probabilities. The chart groups the remaining 40 into one grey slice.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Crossover </a:t>
            </a:r>
            <a:r>
              <a:rPr lang="en-US" dirty="0"/>
              <a:t>S</a:t>
            </a:r>
            <a:r>
              <a:rPr dirty="0"/>
              <a:t>waps the </a:t>
            </a:r>
            <a:r>
              <a:rPr lang="en-US" dirty="0"/>
              <a:t>S</a:t>
            </a:r>
            <a:r>
              <a:rPr dirty="0"/>
              <a:t>econd </a:t>
            </a:r>
            <a:r>
              <a:rPr lang="en-US" dirty="0"/>
              <a:t>G</a:t>
            </a:r>
            <a:r>
              <a:rPr dirty="0"/>
              <a:t>ene</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10 / 18</a:t>
            </a:r>
          </a:p>
        </p:txBody>
      </p:sp>
      <p:sp>
        <p:nvSpPr>
          <p:cNvPr id="9" name="TextBox 8"/>
          <p:cNvSpPr txBox="1"/>
          <p:nvPr/>
        </p:nvSpPr>
        <p:spPr>
          <a:xfrm>
            <a:off x="1234440" y="2423160"/>
            <a:ext cx="6400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PARENTS</a:t>
            </a:r>
          </a:p>
        </p:txBody>
      </p:sp>
      <p:sp>
        <p:nvSpPr>
          <p:cNvPr id="10" name="TextBox 9"/>
          <p:cNvSpPr txBox="1"/>
          <p:nvPr/>
        </p:nvSpPr>
        <p:spPr>
          <a:xfrm>
            <a:off x="10972800" y="2423160"/>
            <a:ext cx="54864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CHILDREN</a:t>
            </a:r>
          </a:p>
        </p:txBody>
      </p:sp>
      <p:sp>
        <p:nvSpPr>
          <p:cNvPr id="11" name="Rounded Rectangle 10"/>
          <p:cNvSpPr/>
          <p:nvPr/>
        </p:nvSpPr>
        <p:spPr>
          <a:xfrm>
            <a:off x="128016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−4.0</a:t>
            </a:r>
          </a:p>
        </p:txBody>
      </p:sp>
      <p:sp>
        <p:nvSpPr>
          <p:cNvPr id="13" name="Rounded Rectangle 12"/>
          <p:cNvSpPr/>
          <p:nvPr/>
        </p:nvSpPr>
        <p:spPr>
          <a:xfrm>
            <a:off x="379476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9476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2.5</a:t>
            </a:r>
          </a:p>
        </p:txBody>
      </p:sp>
      <p:sp>
        <p:nvSpPr>
          <p:cNvPr id="15" name="Rounded Rectangle 14"/>
          <p:cNvSpPr/>
          <p:nvPr/>
        </p:nvSpPr>
        <p:spPr>
          <a:xfrm>
            <a:off x="128016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−1.5</a:t>
            </a:r>
          </a:p>
        </p:txBody>
      </p:sp>
      <p:sp>
        <p:nvSpPr>
          <p:cNvPr id="17" name="Rounded Rectangle 16"/>
          <p:cNvSpPr/>
          <p:nvPr/>
        </p:nvSpPr>
        <p:spPr>
          <a:xfrm>
            <a:off x="379476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9476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−1.0</a:t>
            </a:r>
          </a:p>
        </p:txBody>
      </p:sp>
      <p:sp>
        <p:nvSpPr>
          <p:cNvPr id="19" name="Reveal_1_0"/>
          <p:cNvSpPr/>
          <p:nvPr/>
        </p:nvSpPr>
        <p:spPr>
          <a:xfrm>
            <a:off x="1097280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1_text_0"/>
          <p:cNvSpPr txBox="1"/>
          <p:nvPr/>
        </p:nvSpPr>
        <p:spPr>
          <a:xfrm>
            <a:off x="1097280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−4.0</a:t>
            </a:r>
          </a:p>
        </p:txBody>
      </p:sp>
      <p:sp>
        <p:nvSpPr>
          <p:cNvPr id="21" name="Reveal_1_1"/>
          <p:cNvSpPr/>
          <p:nvPr/>
        </p:nvSpPr>
        <p:spPr>
          <a:xfrm>
            <a:off x="13487400" y="315468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1_text_1"/>
          <p:cNvSpPr txBox="1"/>
          <p:nvPr/>
        </p:nvSpPr>
        <p:spPr>
          <a:xfrm>
            <a:off x="1348740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−1.0</a:t>
            </a:r>
          </a:p>
        </p:txBody>
      </p:sp>
      <p:sp>
        <p:nvSpPr>
          <p:cNvPr id="23" name="Reveal_2_0"/>
          <p:cNvSpPr/>
          <p:nvPr/>
        </p:nvSpPr>
        <p:spPr>
          <a:xfrm>
            <a:off x="1097280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2_text_0"/>
          <p:cNvSpPr txBox="1"/>
          <p:nvPr/>
        </p:nvSpPr>
        <p:spPr>
          <a:xfrm>
            <a:off x="1097280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−1.5</a:t>
            </a:r>
          </a:p>
        </p:txBody>
      </p:sp>
      <p:sp>
        <p:nvSpPr>
          <p:cNvPr id="25" name="Reveal_2_1"/>
          <p:cNvSpPr/>
          <p:nvPr/>
        </p:nvSpPr>
        <p:spPr>
          <a:xfrm>
            <a:off x="13487400" y="516636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2_text_1"/>
          <p:cNvSpPr txBox="1"/>
          <p:nvPr/>
        </p:nvSpPr>
        <p:spPr>
          <a:xfrm>
            <a:off x="1348740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2.5</a:t>
            </a:r>
          </a:p>
        </p:txBody>
      </p:sp>
      <p:sp>
        <p:nvSpPr>
          <p:cNvPr id="27" name="Right Arrow 26"/>
          <p:cNvSpPr/>
          <p:nvPr/>
        </p:nvSpPr>
        <p:spPr>
          <a:xfrm>
            <a:off x="7543800" y="4343400"/>
            <a:ext cx="1920240" cy="73152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29400" y="3063240"/>
            <a:ext cx="3749039" cy="1097280"/>
          </a:xfrm>
          <a:prstGeom prst="rect">
            <a:avLst/>
          </a:prstGeom>
          <a:noFill/>
        </p:spPr>
        <p:txBody>
          <a:bodyPr wrap="square" lIns="0" tIns="0" rIns="0" bIns="0">
            <a:spAutoFit/>
          </a:bodyPr>
          <a:lstStyle/>
          <a:p>
            <a:pPr algn="ctr">
              <a:spcBef>
                <a:spcPts val="0"/>
              </a:spcBef>
              <a:spcAft>
                <a:spcPts val="600"/>
              </a:spcAft>
              <a:defRPr sz="3000" b="1">
                <a:solidFill>
                  <a:srgbClr val="163D50"/>
                </a:solidFill>
                <a:latin typeface="Calibri"/>
              </a:defRPr>
            </a:pPr>
            <a:r>
              <a:t>80%</a:t>
            </a:r>
          </a:p>
          <a:p>
            <a:pPr algn="ctr">
              <a:spcBef>
                <a:spcPts val="0"/>
              </a:spcBef>
              <a:spcAft>
                <a:spcPts val="600"/>
              </a:spcAft>
              <a:defRPr sz="3000" b="1">
                <a:solidFill>
                  <a:srgbClr val="163D50"/>
                </a:solidFill>
                <a:latin typeface="Calibri"/>
              </a:defRPr>
            </a:pPr>
            <a:r>
              <a:t>swap tails</a:t>
            </a:r>
          </a:p>
        </p:txBody>
      </p:sp>
      <p:sp>
        <p:nvSpPr>
          <p:cNvPr id="29" name="TextBox 28"/>
          <p:cNvSpPr txBox="1"/>
          <p:nvPr/>
        </p:nvSpPr>
        <p:spPr>
          <a:xfrm>
            <a:off x="1965960" y="6812280"/>
            <a:ext cx="1371600" cy="457200"/>
          </a:xfrm>
          <a:prstGeom prst="rect">
            <a:avLst/>
          </a:prstGeom>
          <a:noFill/>
        </p:spPr>
        <p:txBody>
          <a:bodyPr wrap="square" lIns="0" tIns="0" rIns="0" bIns="0">
            <a:spAutoFit/>
          </a:bodyPr>
          <a:lstStyle/>
          <a:p>
            <a:pPr>
              <a:spcBef>
                <a:spcPts val="0"/>
              </a:spcBef>
              <a:spcAft>
                <a:spcPts val="600"/>
              </a:spcAft>
              <a:defRPr sz="2500" b="1">
                <a:solidFill>
                  <a:srgbClr val="237B83"/>
                </a:solidFill>
                <a:latin typeface="Calibri"/>
              </a:defRPr>
            </a:pPr>
            <a:r>
              <a:t>x₁</a:t>
            </a:r>
          </a:p>
        </p:txBody>
      </p:sp>
      <p:sp>
        <p:nvSpPr>
          <p:cNvPr id="30" name="TextBox 29"/>
          <p:cNvSpPr txBox="1"/>
          <p:nvPr/>
        </p:nvSpPr>
        <p:spPr>
          <a:xfrm>
            <a:off x="4434840" y="6812280"/>
            <a:ext cx="1371600" cy="457200"/>
          </a:xfrm>
          <a:prstGeom prst="rect">
            <a:avLst/>
          </a:prstGeom>
          <a:noFill/>
        </p:spPr>
        <p:txBody>
          <a:bodyPr wrap="square" lIns="0" tIns="0" rIns="0" bIns="0">
            <a:spAutoFit/>
          </a:bodyPr>
          <a:lstStyle/>
          <a:p>
            <a:pPr>
              <a:spcBef>
                <a:spcPts val="0"/>
              </a:spcBef>
              <a:spcAft>
                <a:spcPts val="600"/>
              </a:spcAft>
              <a:defRPr sz="2500" b="1">
                <a:solidFill>
                  <a:srgbClr val="B82E37"/>
                </a:solidFill>
                <a:latin typeface="Calibri"/>
              </a:defRPr>
            </a:pPr>
            <a:r>
              <a:t>x₂</a:t>
            </a:r>
          </a:p>
        </p:txBody>
      </p:sp>
      <p:sp>
        <p:nvSpPr>
          <p:cNvPr id="31" name="TextBox 30"/>
          <p:cNvSpPr txBox="1"/>
          <p:nvPr/>
        </p:nvSpPr>
        <p:spPr>
          <a:xfrm>
            <a:off x="1280160" y="7772400"/>
            <a:ext cx="15544800" cy="594360"/>
          </a:xfrm>
          <a:prstGeom prst="rect">
            <a:avLst/>
          </a:prstGeom>
          <a:noFill/>
        </p:spPr>
        <p:txBody>
          <a:bodyPr wrap="square" lIns="0" tIns="0" rIns="0" bIns="0">
            <a:spAutoFit/>
          </a:bodyPr>
          <a:lstStyle/>
          <a:p>
            <a:pPr>
              <a:spcBef>
                <a:spcPts val="0"/>
              </a:spcBef>
              <a:spcAft>
                <a:spcPts val="600"/>
              </a:spcAft>
              <a:defRPr sz="3100" b="0">
                <a:solidFill>
                  <a:srgbClr val="5B747D"/>
                </a:solidFill>
                <a:latin typeface="Calibri"/>
              </a:defRPr>
            </a:pPr>
            <a:r>
              <a:t>20%: children are unchanged copies of the parents.</a:t>
            </a:r>
          </a:p>
        </p:txBody>
      </p:sp>
      <p:sp>
        <p:nvSpPr>
          <p:cNvPr id="32" name="Rounded Rectangle 31"/>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Only one legal cut exists. Crossover re-pairs values that are already in the population.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199"/>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199"/>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199"/>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1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p:bldP spid="23" grpId="0" animBg="1"/>
      <p:bldP spid="24" grpId="0"/>
      <p:bldP spid="25" grpId="0" animBg="1"/>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Mutation </a:t>
            </a:r>
            <a:r>
              <a:rPr lang="en-US" dirty="0"/>
              <a:t>C</a:t>
            </a:r>
            <a:r>
              <a:rPr dirty="0"/>
              <a:t>reates </a:t>
            </a:r>
            <a:r>
              <a:rPr lang="en-US" dirty="0"/>
              <a:t>Ne</a:t>
            </a:r>
            <a:r>
              <a:rPr dirty="0"/>
              <a:t>w </a:t>
            </a:r>
            <a:r>
              <a:rPr lang="en-US" dirty="0"/>
              <a:t>V</a:t>
            </a:r>
            <a:r>
              <a:rPr dirty="0"/>
              <a:t>alues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11 / 18</a:t>
            </a:r>
          </a:p>
        </p:txBody>
      </p:sp>
      <p:sp>
        <p:nvSpPr>
          <p:cNvPr id="9" name="Rectangle 8"/>
          <p:cNvSpPr/>
          <p:nvPr/>
        </p:nvSpPr>
        <p:spPr>
          <a:xfrm>
            <a:off x="914400" y="23042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228600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1  Check each gene</a:t>
            </a:r>
          </a:p>
        </p:txBody>
      </p:sp>
      <p:sp>
        <p:nvSpPr>
          <p:cNvPr id="11" name="TextBox 10"/>
          <p:cNvSpPr txBox="1"/>
          <p:nvPr/>
        </p:nvSpPr>
        <p:spPr>
          <a:xfrm>
            <a:off x="1170432" y="280720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Each coordinate has its own 5% chance.</a:t>
            </a:r>
          </a:p>
        </p:txBody>
      </p:sp>
      <p:sp>
        <p:nvSpPr>
          <p:cNvPr id="12" name="Rectangle 11"/>
          <p:cNvSpPr/>
          <p:nvPr/>
        </p:nvSpPr>
        <p:spPr>
          <a:xfrm>
            <a:off x="914400" y="40416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402336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2  Add a random change</a:t>
            </a:r>
          </a:p>
        </p:txBody>
      </p:sp>
      <p:sp>
        <p:nvSpPr>
          <p:cNvPr id="14" name="TextBox 13"/>
          <p:cNvSpPr txBox="1"/>
          <p:nvPr/>
        </p:nvSpPr>
        <p:spPr>
          <a:xfrm>
            <a:off x="1170432" y="454456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xᵢ ← xᵢ + N(0, σ²)</a:t>
            </a:r>
          </a:p>
        </p:txBody>
      </p:sp>
      <p:sp>
        <p:nvSpPr>
          <p:cNvPr id="15" name="Rectangle 14"/>
          <p:cNvSpPr/>
          <p:nvPr/>
        </p:nvSpPr>
        <p:spPr>
          <a:xfrm>
            <a:off x="914400" y="5779007"/>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576072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3  Repair the boundary</a:t>
            </a:r>
          </a:p>
        </p:txBody>
      </p:sp>
      <p:sp>
        <p:nvSpPr>
          <p:cNvPr id="17" name="TextBox 16"/>
          <p:cNvSpPr txBox="1"/>
          <p:nvPr/>
        </p:nvSpPr>
        <p:spPr>
          <a:xfrm>
            <a:off x="1170432" y="628192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Clip the changed coordinate to [−5, +5].</a:t>
            </a:r>
          </a:p>
        </p:txBody>
      </p:sp>
      <p:sp>
        <p:nvSpPr>
          <p:cNvPr id="18" name="Rounded Rectangle 17"/>
          <p:cNvSpPr/>
          <p:nvPr/>
        </p:nvSpPr>
        <p:spPr>
          <a:xfrm>
            <a:off x="9692640" y="2194560"/>
            <a:ext cx="7680960" cy="5989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0" y="2606040"/>
            <a:ext cx="704088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ILLUSTRATION · NOT A RECORDED DRAW</a:t>
            </a:r>
          </a:p>
        </p:txBody>
      </p:sp>
      <p:sp>
        <p:nvSpPr>
          <p:cNvPr id="20" name="TextBox 19"/>
          <p:cNvSpPr txBox="1"/>
          <p:nvPr/>
        </p:nvSpPr>
        <p:spPr>
          <a:xfrm>
            <a:off x="10149840" y="3429000"/>
            <a:ext cx="6583680" cy="822960"/>
          </a:xfrm>
          <a:prstGeom prst="rect">
            <a:avLst/>
          </a:prstGeom>
          <a:noFill/>
        </p:spPr>
        <p:txBody>
          <a:bodyPr wrap="square" lIns="0" tIns="0" rIns="0" bIns="0">
            <a:spAutoFit/>
          </a:bodyPr>
          <a:lstStyle/>
          <a:p>
            <a:pPr algn="ctr">
              <a:spcBef>
                <a:spcPts val="0"/>
              </a:spcBef>
              <a:spcAft>
                <a:spcPts val="600"/>
              </a:spcAft>
              <a:defRPr sz="4300" b="1">
                <a:solidFill>
                  <a:srgbClr val="163D50"/>
                </a:solidFill>
                <a:latin typeface="Calibri"/>
              </a:defRPr>
            </a:pPr>
            <a:r>
              <a:t>[−1.5, −1.0]</a:t>
            </a:r>
          </a:p>
        </p:txBody>
      </p:sp>
      <p:sp>
        <p:nvSpPr>
          <p:cNvPr id="21" name="TextBox 20"/>
          <p:cNvSpPr txBox="1"/>
          <p:nvPr/>
        </p:nvSpPr>
        <p:spPr>
          <a:xfrm>
            <a:off x="10332720" y="4389120"/>
            <a:ext cx="6400800" cy="640080"/>
          </a:xfrm>
          <a:prstGeom prst="rect">
            <a:avLst/>
          </a:prstGeom>
          <a:noFill/>
        </p:spPr>
        <p:txBody>
          <a:bodyPr wrap="square" lIns="0" tIns="0" rIns="0" bIns="0">
            <a:spAutoFit/>
          </a:bodyPr>
          <a:lstStyle/>
          <a:p>
            <a:pPr algn="ctr">
              <a:spcBef>
                <a:spcPts val="0"/>
              </a:spcBef>
              <a:spcAft>
                <a:spcPts val="600"/>
              </a:spcAft>
              <a:defRPr sz="2800" b="0">
                <a:solidFill>
                  <a:srgbClr val="5B747D"/>
                </a:solidFill>
                <a:latin typeface="Calibri"/>
              </a:defRPr>
            </a:pPr>
            <a:r>
              <a:t>↓  first gene changes</a:t>
            </a:r>
          </a:p>
        </p:txBody>
      </p:sp>
      <p:sp>
        <p:nvSpPr>
          <p:cNvPr id="22" name="TextBox 21"/>
          <p:cNvSpPr txBox="1"/>
          <p:nvPr/>
        </p:nvSpPr>
        <p:spPr>
          <a:xfrm>
            <a:off x="10149840" y="5257800"/>
            <a:ext cx="6583680" cy="822960"/>
          </a:xfrm>
          <a:prstGeom prst="rect">
            <a:avLst/>
          </a:prstGeom>
          <a:noFill/>
        </p:spPr>
        <p:txBody>
          <a:bodyPr wrap="square" lIns="0" tIns="0" rIns="0" bIns="0">
            <a:spAutoFit/>
          </a:bodyPr>
          <a:lstStyle/>
          <a:p>
            <a:pPr algn="ctr">
              <a:spcBef>
                <a:spcPts val="0"/>
              </a:spcBef>
              <a:spcAft>
                <a:spcPts val="600"/>
              </a:spcAft>
              <a:defRPr sz="4300" b="1">
                <a:solidFill>
                  <a:srgbClr val="B82E37"/>
                </a:solidFill>
                <a:latin typeface="Calibri"/>
              </a:defRPr>
            </a:pPr>
            <a:r>
              <a:t>[−0.5, −1.0]</a:t>
            </a:r>
          </a:p>
        </p:txBody>
      </p:sp>
      <p:sp>
        <p:nvSpPr>
          <p:cNvPr id="23" name="TextBox 22"/>
          <p:cNvSpPr txBox="1"/>
          <p:nvPr/>
        </p:nvSpPr>
        <p:spPr>
          <a:xfrm>
            <a:off x="10241280" y="6903720"/>
            <a:ext cx="6675120" cy="640080"/>
          </a:xfrm>
          <a:prstGeom prst="rect">
            <a:avLst/>
          </a:prstGeom>
          <a:noFill/>
        </p:spPr>
        <p:txBody>
          <a:bodyPr wrap="square" lIns="0" tIns="0" rIns="0" bIns="0">
            <a:spAutoFit/>
          </a:bodyPr>
          <a:lstStyle/>
          <a:p>
            <a:pPr algn="ctr">
              <a:spcBef>
                <a:spcPts val="0"/>
              </a:spcBef>
              <a:spcAft>
                <a:spcPts val="600"/>
              </a:spcAft>
              <a:defRPr sz="2700" b="1">
                <a:solidFill>
                  <a:srgbClr val="237B83"/>
                </a:solidFill>
                <a:latin typeface="Calibri"/>
              </a:defRPr>
            </a:pPr>
            <a:r>
              <a:t>Boundary example: 5.3 → 5.0</a:t>
            </a:r>
          </a:p>
        </p:txBody>
      </p:sp>
      <p:sp>
        <p:nvSpPr>
          <p:cNvPr id="24" name="Rounded Rectangle 2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5% probability stays fixed. The size of the change is controlled by 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Let </a:t>
            </a:r>
            <a:r>
              <a:rPr lang="en-US" dirty="0"/>
              <a:t>Pr</a:t>
            </a:r>
            <a:r>
              <a:rPr dirty="0"/>
              <a:t>ogress </a:t>
            </a:r>
            <a:r>
              <a:rPr lang="en-US" dirty="0"/>
              <a:t>Co</a:t>
            </a:r>
            <a:r>
              <a:rPr dirty="0"/>
              <a:t>ntrol the </a:t>
            </a:r>
            <a:r>
              <a:rPr lang="en-US" dirty="0"/>
              <a:t>S</a:t>
            </a:r>
            <a:r>
              <a:rPr dirty="0"/>
              <a:t>tep </a:t>
            </a:r>
            <a:r>
              <a:rPr lang="en-US" dirty="0"/>
              <a:t>S</a:t>
            </a:r>
            <a:r>
              <a:rPr dirty="0"/>
              <a:t>ize</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12 / 18</a:t>
            </a:r>
          </a:p>
        </p:txBody>
      </p:sp>
      <p:sp>
        <p:nvSpPr>
          <p:cNvPr id="9" name="Rounded Rectangle 8"/>
          <p:cNvSpPr/>
          <p:nvPr/>
        </p:nvSpPr>
        <p:spPr>
          <a:xfrm>
            <a:off x="822960" y="2103120"/>
            <a:ext cx="7040880" cy="2011680"/>
          </a:xfrm>
          <a:prstGeom prst="roundRect">
            <a:avLst>
              <a:gd name="adj" fmla="val 8000"/>
            </a:avLst>
          </a:prstGeom>
          <a:solidFill>
            <a:srgbClr val="FA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95728"/>
            <a:ext cx="6492240" cy="548640"/>
          </a:xfrm>
          <a:prstGeom prst="rect">
            <a:avLst/>
          </a:prstGeom>
          <a:noFill/>
        </p:spPr>
        <p:txBody>
          <a:bodyPr wrap="square" lIns="0" tIns="0" rIns="0" bIns="0">
            <a:spAutoFit/>
          </a:bodyPr>
          <a:lstStyle/>
          <a:p>
            <a:pPr>
              <a:spcBef>
                <a:spcPts val="0"/>
              </a:spcBef>
              <a:spcAft>
                <a:spcPts val="600"/>
              </a:spcAft>
              <a:defRPr sz="3200" b="1">
                <a:solidFill>
                  <a:srgbClr val="B82E37"/>
                </a:solidFill>
                <a:latin typeface="Calibri"/>
              </a:defRPr>
            </a:pPr>
            <a:r>
              <a:t>Timed schedule</a:t>
            </a:r>
          </a:p>
        </p:txBody>
      </p:sp>
      <p:sp>
        <p:nvSpPr>
          <p:cNvPr id="11" name="TextBox 10"/>
          <p:cNvSpPr txBox="1"/>
          <p:nvPr/>
        </p:nvSpPr>
        <p:spPr>
          <a:xfrm>
            <a:off x="1097280" y="2944368"/>
            <a:ext cx="6492240" cy="1033271"/>
          </a:xfrm>
          <a:prstGeom prst="rect">
            <a:avLst/>
          </a:prstGeom>
          <a:noFill/>
        </p:spPr>
        <p:txBody>
          <a:bodyPr wrap="square" lIns="0" tIns="0" rIns="0" bIns="0">
            <a:spAutoFit/>
          </a:bodyPr>
          <a:lstStyle/>
          <a:p>
            <a:pPr>
              <a:spcBef>
                <a:spcPts val="0"/>
              </a:spcBef>
              <a:spcAft>
                <a:spcPts val="600"/>
              </a:spcAft>
              <a:defRPr sz="2900" b="0">
                <a:solidFill>
                  <a:srgbClr val="233C49"/>
                </a:solidFill>
                <a:latin typeface="Calibri"/>
              </a:defRPr>
            </a:pPr>
            <a:r>
              <a:t>Steps shrink even when</a:t>
            </a:r>
          </a:p>
          <a:p>
            <a:pPr>
              <a:spcBef>
                <a:spcPts val="0"/>
              </a:spcBef>
              <a:spcAft>
                <a:spcPts val="600"/>
              </a:spcAft>
              <a:defRPr sz="2900" b="0">
                <a:solidFill>
                  <a:srgbClr val="233C49"/>
                </a:solidFill>
                <a:latin typeface="Calibri"/>
              </a:defRPr>
            </a:pPr>
            <a:r>
              <a:t>the run is still stuck.</a:t>
            </a:r>
          </a:p>
        </p:txBody>
      </p:sp>
      <p:sp>
        <p:nvSpPr>
          <p:cNvPr id="12" name="Rounded Rectangle 11"/>
          <p:cNvSpPr/>
          <p:nvPr/>
        </p:nvSpPr>
        <p:spPr>
          <a:xfrm>
            <a:off x="822960" y="4498848"/>
            <a:ext cx="7040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791456"/>
            <a:ext cx="6492240" cy="457200"/>
          </a:xfrm>
          <a:prstGeom prst="rect">
            <a:avLst/>
          </a:prstGeom>
          <a:noFill/>
        </p:spPr>
        <p:txBody>
          <a:bodyPr wrap="square" lIns="0" tIns="0" rIns="0" bIns="0">
            <a:spAutoFit/>
          </a:bodyPr>
          <a:lstStyle/>
          <a:p>
            <a:pPr>
              <a:spcBef>
                <a:spcPts val="0"/>
              </a:spcBef>
              <a:spcAft>
                <a:spcPts val="600"/>
              </a:spcAft>
              <a:defRPr sz="2900" b="1">
                <a:solidFill>
                  <a:srgbClr val="237B83"/>
                </a:solidFill>
                <a:latin typeface="Calibri"/>
              </a:defRPr>
            </a:pPr>
            <a:r>
              <a:t>Our adaptive rule</a:t>
            </a:r>
          </a:p>
        </p:txBody>
      </p:sp>
      <p:sp>
        <p:nvSpPr>
          <p:cNvPr id="14" name="TextBox 13"/>
          <p:cNvSpPr txBox="1"/>
          <p:nvPr/>
        </p:nvSpPr>
        <p:spPr>
          <a:xfrm>
            <a:off x="1097280" y="5486400"/>
            <a:ext cx="6492240" cy="73152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σ = clip(f_best / 4, 10⁻¹², 2)</a:t>
            </a:r>
          </a:p>
        </p:txBody>
      </p:sp>
      <p:graphicFrame>
        <p:nvGraphicFramePr>
          <p:cNvPr id="15" name="Table 14"/>
          <p:cNvGraphicFramePr>
            <a:graphicFrameLocks noGrp="1"/>
          </p:cNvGraphicFramePr>
          <p:nvPr/>
        </p:nvGraphicFramePr>
        <p:xfrm>
          <a:off x="8458200" y="2103120"/>
          <a:ext cx="8686800" cy="41148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22960">
                <a:tc>
                  <a:txBody>
                    <a:bodyPr/>
                    <a:lstStyle/>
                    <a:p>
                      <a:pPr>
                        <a:defRPr sz="3000" b="1">
                          <a:solidFill>
                            <a:srgbClr val="FFFFFF"/>
                          </a:solidFill>
                          <a:latin typeface="Calibri"/>
                        </a:defRPr>
                      </a:pPr>
                      <a:r>
                        <a:t>Best value f</a:t>
                      </a:r>
                    </a:p>
                  </a:txBody>
                  <a:tcPr marL="164592" marR="128016" marT="91440" anchor="ctr">
                    <a:solidFill>
                      <a:srgbClr val="163D50"/>
                    </a:solidFill>
                  </a:tcPr>
                </a:tc>
                <a:tc>
                  <a:txBody>
                    <a:bodyPr/>
                    <a:lstStyle/>
                    <a:p>
                      <a:pPr>
                        <a:defRPr sz="3000" b="1">
                          <a:solidFill>
                            <a:srgbClr val="FFFFFF"/>
                          </a:solidFill>
                          <a:latin typeface="Calibri"/>
                        </a:defRPr>
                      </a:pPr>
                      <a:r>
                        <a:t>Step size σ</a:t>
                      </a:r>
                    </a:p>
                  </a:txBody>
                  <a:tcPr marL="164592" marR="128016" marT="91440" anchor="ctr">
                    <a:solidFill>
                      <a:srgbClr val="163D50"/>
                    </a:solidFill>
                  </a:tcPr>
                </a:tc>
                <a:extLst>
                  <a:ext uri="{0D108BD9-81ED-4DB2-BD59-A6C34878D82A}">
                    <a16:rowId xmlns:a16="http://schemas.microsoft.com/office/drawing/2014/main" val="10000"/>
                  </a:ext>
                </a:extLst>
              </a:tr>
              <a:tr h="822960">
                <a:tc>
                  <a:txBody>
                    <a:bodyPr/>
                    <a:lstStyle/>
                    <a:p>
                      <a:pPr>
                        <a:defRPr sz="3000" b="0">
                          <a:solidFill>
                            <a:srgbClr val="233C49"/>
                          </a:solidFill>
                          <a:latin typeface="Calibri"/>
                        </a:defRPr>
                      </a:pPr>
                      <a:r>
                        <a:t>5</a:t>
                      </a:r>
                    </a:p>
                  </a:txBody>
                  <a:tcPr marL="164592" marR="128016" marT="91440" anchor="ctr">
                    <a:solidFill>
                      <a:srgbClr val="FFFFFF"/>
                    </a:solidFill>
                  </a:tcPr>
                </a:tc>
                <a:tc>
                  <a:txBody>
                    <a:bodyPr/>
                    <a:lstStyle/>
                    <a:p>
                      <a:pPr>
                        <a:defRPr sz="3000" b="0">
                          <a:solidFill>
                            <a:srgbClr val="233C49"/>
                          </a:solidFill>
                          <a:latin typeface="Calibri"/>
                        </a:defRPr>
                      </a:pPr>
                      <a:r>
                        <a:t>1.25</a:t>
                      </a:r>
                    </a:p>
                  </a:txBody>
                  <a:tcPr marL="164592" marR="128016" marT="91440" anchor="ctr">
                    <a:solidFill>
                      <a:srgbClr val="FFFFFF"/>
                    </a:solidFill>
                  </a:tcPr>
                </a:tc>
                <a:extLst>
                  <a:ext uri="{0D108BD9-81ED-4DB2-BD59-A6C34878D82A}">
                    <a16:rowId xmlns:a16="http://schemas.microsoft.com/office/drawing/2014/main" val="10001"/>
                  </a:ext>
                </a:extLst>
              </a:tr>
              <a:tr h="822960">
                <a:tc>
                  <a:txBody>
                    <a:bodyPr/>
                    <a:lstStyle/>
                    <a:p>
                      <a:pPr>
                        <a:defRPr sz="3000" b="0">
                          <a:solidFill>
                            <a:srgbClr val="233C49"/>
                          </a:solidFill>
                          <a:latin typeface="Calibri"/>
                        </a:defRPr>
                      </a:pPr>
                      <a:r>
                        <a:t>2.6</a:t>
                      </a:r>
                    </a:p>
                  </a:txBody>
                  <a:tcPr marL="164592" marR="128016" marT="91440" anchor="ctr">
                    <a:solidFill>
                      <a:srgbClr val="EDF5F4"/>
                    </a:solidFill>
                  </a:tcPr>
                </a:tc>
                <a:tc>
                  <a:txBody>
                    <a:bodyPr/>
                    <a:lstStyle/>
                    <a:p>
                      <a:pPr>
                        <a:defRPr sz="3000" b="0">
                          <a:solidFill>
                            <a:srgbClr val="233C49"/>
                          </a:solidFill>
                          <a:latin typeface="Calibri"/>
                        </a:defRPr>
                      </a:pPr>
                      <a:r>
                        <a:t>0.65</a:t>
                      </a:r>
                    </a:p>
                  </a:txBody>
                  <a:tcPr marL="164592" marR="128016" marT="91440" anchor="ctr">
                    <a:solidFill>
                      <a:srgbClr val="EDF5F4"/>
                    </a:solidFill>
                  </a:tcPr>
                </a:tc>
                <a:extLst>
                  <a:ext uri="{0D108BD9-81ED-4DB2-BD59-A6C34878D82A}">
                    <a16:rowId xmlns:a16="http://schemas.microsoft.com/office/drawing/2014/main" val="10002"/>
                  </a:ext>
                </a:extLst>
              </a:tr>
              <a:tr h="822960">
                <a:tc>
                  <a:txBody>
                    <a:bodyPr/>
                    <a:lstStyle/>
                    <a:p>
                      <a:pPr>
                        <a:defRPr sz="3000" b="0">
                          <a:solidFill>
                            <a:srgbClr val="233C49"/>
                          </a:solidFill>
                          <a:latin typeface="Calibri"/>
                        </a:defRPr>
                      </a:pPr>
                      <a:r>
                        <a:t>10⁻³</a:t>
                      </a:r>
                    </a:p>
                  </a:txBody>
                  <a:tcPr marL="164592" marR="128016" marT="91440" anchor="ctr">
                    <a:solidFill>
                      <a:srgbClr val="FFFFFF"/>
                    </a:solidFill>
                  </a:tcPr>
                </a:tc>
                <a:tc>
                  <a:txBody>
                    <a:bodyPr/>
                    <a:lstStyle/>
                    <a:p>
                      <a:pPr>
                        <a:defRPr sz="3000" b="0">
                          <a:solidFill>
                            <a:srgbClr val="233C49"/>
                          </a:solidFill>
                          <a:latin typeface="Calibri"/>
                        </a:defRPr>
                      </a:pPr>
                      <a:r>
                        <a:t>2.5 × 10⁻⁴</a:t>
                      </a:r>
                    </a:p>
                  </a:txBody>
                  <a:tcPr marL="164592" marR="128016" marT="91440" anchor="ctr">
                    <a:solidFill>
                      <a:srgbClr val="FFFFFF"/>
                    </a:solidFill>
                  </a:tcPr>
                </a:tc>
                <a:extLst>
                  <a:ext uri="{0D108BD9-81ED-4DB2-BD59-A6C34878D82A}">
                    <a16:rowId xmlns:a16="http://schemas.microsoft.com/office/drawing/2014/main" val="10003"/>
                  </a:ext>
                </a:extLst>
              </a:tr>
              <a:tr h="822960">
                <a:tc>
                  <a:txBody>
                    <a:bodyPr/>
                    <a:lstStyle/>
                    <a:p>
                      <a:pPr>
                        <a:defRPr sz="3000" b="0">
                          <a:solidFill>
                            <a:srgbClr val="233C49"/>
                          </a:solidFill>
                          <a:latin typeface="Calibri"/>
                        </a:defRPr>
                      </a:pPr>
                      <a:r>
                        <a:t>10⁻¹²</a:t>
                      </a:r>
                    </a:p>
                  </a:txBody>
                  <a:tcPr marL="164592" marR="128016" marT="91440" anchor="ctr">
                    <a:solidFill>
                      <a:srgbClr val="EDF5F4"/>
                    </a:solidFill>
                  </a:tcPr>
                </a:tc>
                <a:tc>
                  <a:txBody>
                    <a:bodyPr/>
                    <a:lstStyle/>
                    <a:p>
                      <a:pPr>
                        <a:defRPr sz="3000" b="0">
                          <a:solidFill>
                            <a:srgbClr val="233C49"/>
                          </a:solidFill>
                          <a:latin typeface="Calibri"/>
                        </a:defRPr>
                      </a:pPr>
                      <a:r>
                        <a:t>10⁻¹² (floor)</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8686800" y="6601968"/>
            <a:ext cx="8321040" cy="640080"/>
          </a:xfrm>
          <a:prstGeom prst="rect">
            <a:avLst/>
          </a:prstGeom>
          <a:noFill/>
        </p:spPr>
        <p:txBody>
          <a:bodyPr wrap="square" lIns="0" tIns="0" rIns="0" bIns="0">
            <a:spAutoFit/>
          </a:bodyPr>
          <a:lstStyle/>
          <a:p>
            <a:pPr>
              <a:spcBef>
                <a:spcPts val="0"/>
              </a:spcBef>
              <a:spcAft>
                <a:spcPts val="600"/>
              </a:spcAft>
              <a:defRPr sz="3200" b="1">
                <a:solidFill>
                  <a:srgbClr val="237B83"/>
                </a:solidFill>
                <a:latin typeface="Calibri"/>
              </a:defRPr>
            </a:pPr>
            <a:r>
              <a:t>Near the origin:  f ≈ 4s</a:t>
            </a:r>
          </a:p>
        </p:txBody>
      </p:sp>
      <p:pic>
        <p:nvPicPr>
          <p:cNvPr id="17" name="local_scale" descr="s=\sqrt{(x_1^2+x_2^2)/2}"/>
          <p:cNvPicPr>
            <a:picLocks noChangeAspect="1"/>
          </p:cNvPicPr>
          <p:nvPr/>
        </p:nvPicPr>
        <p:blipFill>
          <a:blip r:embed="rId3"/>
          <a:stretch>
            <a:fillRect/>
          </a:stretch>
        </p:blipFill>
        <p:spPr>
          <a:xfrm>
            <a:off x="10954120" y="7315200"/>
            <a:ext cx="3237759" cy="777240"/>
          </a:xfrm>
          <a:prstGeom prst="rect">
            <a:avLst/>
          </a:prstGeom>
        </p:spPr>
      </p:pic>
      <p:sp>
        <p:nvSpPr>
          <p:cNvPr id="18" name="Rounded Rectangle 17"/>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f/4 estimates a local coordinate scale for Ackley; it is not the exact distance to the answer.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Keep the </a:t>
            </a:r>
            <a:r>
              <a:rPr lang="en-US" dirty="0"/>
              <a:t>B</a:t>
            </a:r>
            <a:r>
              <a:rPr dirty="0"/>
              <a:t>est. Limit </a:t>
            </a:r>
            <a:r>
              <a:rPr lang="en-US" dirty="0"/>
              <a:t>E</a:t>
            </a:r>
            <a:r>
              <a:rPr dirty="0"/>
              <a:t>xact </a:t>
            </a:r>
            <a:r>
              <a:rPr lang="en-US" dirty="0"/>
              <a:t>C</a:t>
            </a:r>
            <a:r>
              <a:rPr dirty="0"/>
              <a:t>opies.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13 / 18</a:t>
            </a:r>
          </a:p>
        </p:txBody>
      </p:sp>
      <p:sp>
        <p:nvSpPr>
          <p:cNvPr id="9" name="Rounded Rectangle 8"/>
          <p:cNvSpPr/>
          <p:nvPr/>
        </p:nvSpPr>
        <p:spPr>
          <a:xfrm>
            <a:off x="914400" y="2286000"/>
            <a:ext cx="50292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2423160"/>
            <a:ext cx="45720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a:t>
            </a:r>
          </a:p>
        </p:txBody>
      </p:sp>
      <p:sp>
        <p:nvSpPr>
          <p:cNvPr id="11" name="TextBox 10"/>
          <p:cNvSpPr txBox="1"/>
          <p:nvPr/>
        </p:nvSpPr>
        <p:spPr>
          <a:xfrm>
            <a:off x="1143000" y="3182112"/>
            <a:ext cx="45720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parents</a:t>
            </a:r>
          </a:p>
        </p:txBody>
      </p:sp>
      <p:sp>
        <p:nvSpPr>
          <p:cNvPr id="12" name="TextBox 11"/>
          <p:cNvSpPr txBox="1"/>
          <p:nvPr/>
        </p:nvSpPr>
        <p:spPr>
          <a:xfrm>
            <a:off x="6153912" y="2587752"/>
            <a:ext cx="914400" cy="822960"/>
          </a:xfrm>
          <a:prstGeom prst="rect">
            <a:avLst/>
          </a:prstGeom>
          <a:noFill/>
        </p:spPr>
        <p:txBody>
          <a:bodyPr wrap="square" lIns="0" tIns="0" rIns="0" bIns="0">
            <a:spAutoFit/>
          </a:bodyPr>
          <a:lstStyle/>
          <a:p>
            <a:pPr>
              <a:spcBef>
                <a:spcPts val="0"/>
              </a:spcBef>
              <a:spcAft>
                <a:spcPts val="600"/>
              </a:spcAft>
              <a:defRPr sz="4600" b="1">
                <a:solidFill>
                  <a:srgbClr val="237B83"/>
                </a:solidFill>
                <a:latin typeface="Calibri"/>
              </a:defRPr>
            </a:pPr>
            <a:r>
              <a:t>+</a:t>
            </a:r>
          </a:p>
        </p:txBody>
      </p:sp>
      <p:sp>
        <p:nvSpPr>
          <p:cNvPr id="13" name="Rounded Rectangle 12"/>
          <p:cNvSpPr/>
          <p:nvPr/>
        </p:nvSpPr>
        <p:spPr>
          <a:xfrm>
            <a:off x="7315200" y="2286000"/>
            <a:ext cx="50292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43800" y="2423160"/>
            <a:ext cx="45720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a:t>
            </a:r>
          </a:p>
        </p:txBody>
      </p:sp>
      <p:sp>
        <p:nvSpPr>
          <p:cNvPr id="15" name="TextBox 14"/>
          <p:cNvSpPr txBox="1"/>
          <p:nvPr/>
        </p:nvSpPr>
        <p:spPr>
          <a:xfrm>
            <a:off x="7543800" y="3182112"/>
            <a:ext cx="45720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children</a:t>
            </a:r>
          </a:p>
        </p:txBody>
      </p:sp>
      <p:sp>
        <p:nvSpPr>
          <p:cNvPr id="16" name="TextBox 15"/>
          <p:cNvSpPr txBox="1"/>
          <p:nvPr/>
        </p:nvSpPr>
        <p:spPr>
          <a:xfrm>
            <a:off x="12573000" y="2587752"/>
            <a:ext cx="914400" cy="822960"/>
          </a:xfrm>
          <a:prstGeom prst="rect">
            <a:avLst/>
          </a:prstGeom>
          <a:noFill/>
        </p:spPr>
        <p:txBody>
          <a:bodyPr wrap="square" lIns="0" tIns="0" rIns="0" bIns="0">
            <a:spAutoFit/>
          </a:bodyPr>
          <a:lstStyle/>
          <a:p>
            <a:pPr>
              <a:spcBef>
                <a:spcPts val="0"/>
              </a:spcBef>
              <a:spcAft>
                <a:spcPts val="600"/>
              </a:spcAft>
              <a:defRPr sz="4600" b="1">
                <a:solidFill>
                  <a:srgbClr val="237B83"/>
                </a:solidFill>
                <a:latin typeface="Calibri"/>
              </a:defRPr>
            </a:pPr>
            <a:r>
              <a:t>=</a:t>
            </a:r>
          </a:p>
        </p:txBody>
      </p:sp>
      <p:sp>
        <p:nvSpPr>
          <p:cNvPr id="17" name="Rounded Rectangle 16"/>
          <p:cNvSpPr/>
          <p:nvPr/>
        </p:nvSpPr>
        <p:spPr>
          <a:xfrm>
            <a:off x="13716000" y="2286000"/>
            <a:ext cx="36576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944600" y="2423160"/>
            <a:ext cx="32004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100</a:t>
            </a:r>
          </a:p>
        </p:txBody>
      </p:sp>
      <p:sp>
        <p:nvSpPr>
          <p:cNvPr id="19" name="TextBox 18"/>
          <p:cNvSpPr txBox="1"/>
          <p:nvPr/>
        </p:nvSpPr>
        <p:spPr>
          <a:xfrm>
            <a:off x="13944600" y="3182112"/>
            <a:ext cx="32004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candidates</a:t>
            </a:r>
          </a:p>
        </p:txBody>
      </p:sp>
      <p:sp>
        <p:nvSpPr>
          <p:cNvPr id="20" name="Reveal_1"/>
          <p:cNvSpPr/>
          <p:nvPr/>
        </p:nvSpPr>
        <p:spPr>
          <a:xfrm>
            <a:off x="914400" y="4343400"/>
            <a:ext cx="5486400" cy="3310128"/>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1_text"/>
          <p:cNvSpPr txBox="1"/>
          <p:nvPr/>
        </p:nvSpPr>
        <p:spPr>
          <a:xfrm>
            <a:off x="1234440" y="4599432"/>
            <a:ext cx="4846320" cy="1024128"/>
          </a:xfrm>
          <a:prstGeom prst="rect">
            <a:avLst/>
          </a:prstGeom>
          <a:noFill/>
        </p:spPr>
        <p:txBody>
          <a:bodyPr wrap="square" lIns="0" tIns="0" rIns="0" bIns="0">
            <a:spAutoFit/>
          </a:bodyPr>
          <a:lstStyle/>
          <a:p>
            <a:pPr>
              <a:spcBef>
                <a:spcPts val="0"/>
              </a:spcBef>
              <a:spcAft>
                <a:spcPts val="600"/>
              </a:spcAft>
              <a:defRPr sz="6800" b="1">
                <a:solidFill>
                  <a:srgbClr val="FFFFFF"/>
                </a:solidFill>
                <a:latin typeface="Calibri"/>
              </a:defRPr>
            </a:pPr>
            <a:r>
              <a:t>1</a:t>
            </a:r>
          </a:p>
        </p:txBody>
      </p:sp>
      <p:sp>
        <p:nvSpPr>
          <p:cNvPr id="22" name="Reveal_1_title"/>
          <p:cNvSpPr txBox="1"/>
          <p:nvPr/>
        </p:nvSpPr>
        <p:spPr>
          <a:xfrm>
            <a:off x="1234440" y="5925312"/>
            <a:ext cx="4846320" cy="548640"/>
          </a:xfrm>
          <a:prstGeom prst="rect">
            <a:avLst/>
          </a:prstGeom>
          <a:noFill/>
        </p:spPr>
        <p:txBody>
          <a:bodyPr wrap="square" lIns="0" tIns="0" rIns="0" bIns="0">
            <a:spAutoFit/>
          </a:bodyPr>
          <a:lstStyle/>
          <a:p>
            <a:pPr>
              <a:spcBef>
                <a:spcPts val="0"/>
              </a:spcBef>
              <a:spcAft>
                <a:spcPts val="600"/>
              </a:spcAft>
              <a:defRPr sz="3100" b="1">
                <a:solidFill>
                  <a:srgbClr val="FFFFFF"/>
                </a:solidFill>
                <a:latin typeface="Calibri"/>
              </a:defRPr>
            </a:pPr>
            <a:r>
              <a:t>Keep the elite</a:t>
            </a:r>
          </a:p>
        </p:txBody>
      </p:sp>
      <p:sp>
        <p:nvSpPr>
          <p:cNvPr id="23" name="Reveal_1_body"/>
          <p:cNvSpPr txBox="1"/>
          <p:nvPr/>
        </p:nvSpPr>
        <p:spPr>
          <a:xfrm>
            <a:off x="1234440" y="6656832"/>
            <a:ext cx="4846320" cy="457200"/>
          </a:xfrm>
          <a:prstGeom prst="rect">
            <a:avLst/>
          </a:prstGeom>
          <a:noFill/>
        </p:spPr>
        <p:txBody>
          <a:bodyPr wrap="square" lIns="0" tIns="0" rIns="0" bIns="0">
            <a:spAutoFit/>
          </a:bodyPr>
          <a:lstStyle/>
          <a:p>
            <a:pPr>
              <a:spcBef>
                <a:spcPts val="0"/>
              </a:spcBef>
              <a:spcAft>
                <a:spcPts val="600"/>
              </a:spcAft>
              <a:defRPr sz="2400" b="0">
                <a:solidFill>
                  <a:srgbClr val="CCE5E5"/>
                </a:solidFill>
                <a:latin typeface="Calibri"/>
              </a:defRPr>
            </a:pPr>
            <a:r>
              <a:t>Best parent is protected.</a:t>
            </a:r>
          </a:p>
        </p:txBody>
      </p:sp>
      <p:sp>
        <p:nvSpPr>
          <p:cNvPr id="24" name="Reveal_2"/>
          <p:cNvSpPr/>
          <p:nvPr/>
        </p:nvSpPr>
        <p:spPr>
          <a:xfrm>
            <a:off x="6949440" y="4343400"/>
            <a:ext cx="10424160" cy="33101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2_title"/>
          <p:cNvSpPr txBox="1"/>
          <p:nvPr/>
        </p:nvSpPr>
        <p:spPr>
          <a:xfrm>
            <a:off x="7315200" y="4727448"/>
            <a:ext cx="9692640" cy="685800"/>
          </a:xfrm>
          <a:prstGeom prst="rect">
            <a:avLst/>
          </a:prstGeom>
          <a:noFill/>
        </p:spPr>
        <p:txBody>
          <a:bodyPr wrap="square" lIns="0" tIns="0" rIns="0" bIns="0">
            <a:spAutoFit/>
          </a:bodyPr>
          <a:lstStyle/>
          <a:p>
            <a:pPr>
              <a:spcBef>
                <a:spcPts val="0"/>
              </a:spcBef>
              <a:spcAft>
                <a:spcPts val="600"/>
              </a:spcAft>
              <a:defRPr sz="3900" b="1">
                <a:solidFill>
                  <a:srgbClr val="237B83"/>
                </a:solidFill>
                <a:latin typeface="Calibri"/>
              </a:defRPr>
            </a:pPr>
            <a:r>
              <a:t>49 more seats</a:t>
            </a:r>
          </a:p>
        </p:txBody>
      </p:sp>
      <p:sp>
        <p:nvSpPr>
          <p:cNvPr id="26" name="Reveal_2_body"/>
          <p:cNvSpPr txBox="1"/>
          <p:nvPr/>
        </p:nvSpPr>
        <p:spPr>
          <a:xfrm>
            <a:off x="7315200" y="5815584"/>
            <a:ext cx="9646920" cy="1234440"/>
          </a:xfrm>
          <a:prstGeom prst="rect">
            <a:avLst/>
          </a:prstGeom>
          <a:noFill/>
        </p:spPr>
        <p:txBody>
          <a:bodyPr wrap="square" lIns="0" tIns="0" rIns="0" bIns="0">
            <a:spAutoFit/>
          </a:bodyPr>
          <a:lstStyle/>
          <a:p>
            <a:pPr>
              <a:spcBef>
                <a:spcPts val="0"/>
              </a:spcBef>
              <a:spcAft>
                <a:spcPts val="600"/>
              </a:spcAft>
              <a:defRPr sz="2900" b="0">
                <a:solidFill>
                  <a:srgbClr val="233C49"/>
                </a:solidFill>
                <a:latin typeface="Calibri"/>
              </a:defRPr>
            </a:pPr>
            <a:r>
              <a:t>Best remaining candidates, with ≤15 exact copies.</a:t>
            </a:r>
          </a:p>
          <a:p>
            <a:pPr>
              <a:spcBef>
                <a:spcPts val="0"/>
              </a:spcBef>
              <a:spcAft>
                <a:spcPts val="600"/>
              </a:spcAft>
              <a:defRPr sz="2900" b="0">
                <a:solidFill>
                  <a:srgbClr val="233C49"/>
                </a:solidFill>
                <a:latin typeface="Calibri"/>
              </a:defRPr>
            </a:pPr>
            <a:r>
              <a:t>If needed, fill empty seats with fresh random points.</a:t>
            </a:r>
          </a:p>
        </p:txBody>
      </p:sp>
      <p:sp>
        <p:nvSpPr>
          <p:cNvPr id="27" name="Rounded Rectangle 26"/>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Elitism protects the best-so-far value. The copy limit keeps more distinct candidates.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199"/>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199"/>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1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p:bldP spid="23" grpId="0"/>
      <p:bldP spid="24" grpId="0" animBg="1"/>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Stop after 100 </a:t>
            </a:r>
            <a:r>
              <a:rPr lang="en-US" dirty="0"/>
              <a:t>R</a:t>
            </a:r>
            <a:r>
              <a:rPr dirty="0"/>
              <a:t>ounds</a:t>
            </a:r>
            <a:r>
              <a:rPr lang="en-US" dirty="0"/>
              <a:t>; </a:t>
            </a:r>
            <a:r>
              <a:rPr dirty="0"/>
              <a:t>or </a:t>
            </a:r>
            <a:r>
              <a:rPr lang="en-US" dirty="0"/>
              <a:t>L</a:t>
            </a:r>
            <a:r>
              <a:rPr dirty="0"/>
              <a:t>ittle </a:t>
            </a:r>
            <a:r>
              <a:rPr lang="en-US" dirty="0"/>
              <a:t>P</a:t>
            </a:r>
            <a:r>
              <a:rPr dirty="0"/>
              <a:t>rogress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14 / 18</a:t>
            </a:r>
          </a:p>
        </p:txBody>
      </p:sp>
      <p:sp>
        <p:nvSpPr>
          <p:cNvPr id="9" name="Rounded Rectangle 8"/>
          <p:cNvSpPr/>
          <p:nvPr/>
        </p:nvSpPr>
        <p:spPr>
          <a:xfrm>
            <a:off x="822960" y="2103120"/>
            <a:ext cx="790956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13432"/>
            <a:ext cx="7315200" cy="640080"/>
          </a:xfrm>
          <a:prstGeom prst="rect">
            <a:avLst/>
          </a:prstGeom>
          <a:noFill/>
        </p:spPr>
        <p:txBody>
          <a:bodyPr wrap="square" lIns="0" tIns="0" rIns="0" bIns="0">
            <a:spAutoFit/>
          </a:bodyPr>
          <a:lstStyle/>
          <a:p>
            <a:pPr>
              <a:spcBef>
                <a:spcPts val="0"/>
              </a:spcBef>
              <a:spcAft>
                <a:spcPts val="600"/>
              </a:spcAft>
              <a:defRPr sz="3900" b="1">
                <a:solidFill>
                  <a:srgbClr val="B82E37"/>
                </a:solidFill>
                <a:latin typeface="Calibri"/>
              </a:defRPr>
            </a:pPr>
            <a:r>
              <a:t>100 generations</a:t>
            </a:r>
          </a:p>
        </p:txBody>
      </p:sp>
      <p:sp>
        <p:nvSpPr>
          <p:cNvPr id="11" name="TextBox 10"/>
          <p:cNvSpPr txBox="1"/>
          <p:nvPr/>
        </p:nvSpPr>
        <p:spPr>
          <a:xfrm>
            <a:off x="1097280" y="3017520"/>
            <a:ext cx="7315200" cy="393192"/>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maximum number of rounds</a:t>
            </a:r>
          </a:p>
        </p:txBody>
      </p:sp>
      <p:sp>
        <p:nvSpPr>
          <p:cNvPr id="12" name="TextBox 11"/>
          <p:cNvSpPr txBox="1"/>
          <p:nvPr/>
        </p:nvSpPr>
        <p:spPr>
          <a:xfrm>
            <a:off x="8823960" y="2587752"/>
            <a:ext cx="1005840" cy="548640"/>
          </a:xfrm>
          <a:prstGeom prst="rect">
            <a:avLst/>
          </a:prstGeom>
          <a:noFill/>
        </p:spPr>
        <p:txBody>
          <a:bodyPr wrap="square" lIns="0" tIns="0" rIns="0" bIns="0">
            <a:spAutoFit/>
          </a:bodyPr>
          <a:lstStyle/>
          <a:p>
            <a:pPr algn="ctr">
              <a:spcBef>
                <a:spcPts val="0"/>
              </a:spcBef>
              <a:spcAft>
                <a:spcPts val="600"/>
              </a:spcAft>
              <a:defRPr sz="2700" b="1">
                <a:solidFill>
                  <a:srgbClr val="237B83"/>
                </a:solidFill>
                <a:latin typeface="Calibri"/>
              </a:defRPr>
            </a:pPr>
            <a:r>
              <a:t>OR</a:t>
            </a:r>
          </a:p>
        </p:txBody>
      </p:sp>
      <p:sp>
        <p:nvSpPr>
          <p:cNvPr id="13" name="Rounded Rectangle 12"/>
          <p:cNvSpPr/>
          <p:nvPr/>
        </p:nvSpPr>
        <p:spPr>
          <a:xfrm>
            <a:off x="9875520" y="2103120"/>
            <a:ext cx="758952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31552" y="2340864"/>
            <a:ext cx="7132320" cy="548640"/>
          </a:xfrm>
          <a:prstGeom prst="rect">
            <a:avLst/>
          </a:prstGeom>
          <a:noFill/>
        </p:spPr>
        <p:txBody>
          <a:bodyPr wrap="square" lIns="0" tIns="0" rIns="0" bIns="0">
            <a:spAutoFit/>
          </a:bodyPr>
          <a:lstStyle/>
          <a:p>
            <a:pPr>
              <a:spcBef>
                <a:spcPts val="0"/>
              </a:spcBef>
              <a:spcAft>
                <a:spcPts val="600"/>
              </a:spcAft>
              <a:defRPr sz="2800" b="1">
                <a:solidFill>
                  <a:srgbClr val="163D50"/>
                </a:solidFill>
                <a:latin typeface="Calibri"/>
              </a:defRPr>
            </a:pPr>
            <a:r>
              <a:t>20 small improvements in a row</a:t>
            </a:r>
          </a:p>
        </p:txBody>
      </p:sp>
      <p:sp>
        <p:nvSpPr>
          <p:cNvPr id="15" name="TextBox 14"/>
          <p:cNvSpPr txBox="1"/>
          <p:nvPr/>
        </p:nvSpPr>
        <p:spPr>
          <a:xfrm>
            <a:off x="10131552" y="3026664"/>
            <a:ext cx="7132320" cy="393192"/>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each improvement &lt; 10⁻¹⁰</a:t>
            </a:r>
          </a:p>
        </p:txBody>
      </p:sp>
      <p:sp>
        <p:nvSpPr>
          <p:cNvPr id="16" name="Rounded Rectangle 15"/>
          <p:cNvSpPr/>
          <p:nvPr/>
        </p:nvSpPr>
        <p:spPr>
          <a:xfrm>
            <a:off x="822960" y="4005072"/>
            <a:ext cx="16642080" cy="45079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05_convergence_and_diversity.png" descr="05_convergence_and_diversity.png"/>
          <p:cNvPicPr>
            <a:picLocks noChangeAspect="1"/>
          </p:cNvPicPr>
          <p:nvPr/>
        </p:nvPicPr>
        <p:blipFill>
          <a:blip r:embed="rId3"/>
          <a:stretch>
            <a:fillRect/>
          </a:stretch>
        </p:blipFill>
        <p:spPr>
          <a:xfrm>
            <a:off x="3186221" y="4142232"/>
            <a:ext cx="11924701" cy="4151376"/>
          </a:xfrm>
          <a:prstGeom prst="rect">
            <a:avLst/>
          </a:prstGeom>
        </p:spPr>
      </p:pic>
      <p:sp>
        <p:nvSpPr>
          <p:cNvPr id="18" name="TextBox 17"/>
          <p:cNvSpPr txBox="1"/>
          <p:nvPr/>
        </p:nvSpPr>
        <p:spPr>
          <a:xfrm>
            <a:off x="1078992" y="8385048"/>
            <a:ext cx="16093440" cy="320040"/>
          </a:xfrm>
          <a:prstGeom prst="rect">
            <a:avLst/>
          </a:prstGeom>
          <a:noFill/>
        </p:spPr>
        <p:txBody>
          <a:bodyPr wrap="square" lIns="0" tIns="0" rIns="0" bIns="0">
            <a:spAutoFit/>
          </a:bodyPr>
          <a:lstStyle/>
          <a:p>
            <a:pPr>
              <a:spcBef>
                <a:spcPts val="0"/>
              </a:spcBef>
              <a:spcAft>
                <a:spcPts val="600"/>
              </a:spcAft>
              <a:defRPr sz="1800" b="0">
                <a:solidFill>
                  <a:srgbClr val="5B747D"/>
                </a:solidFill>
                <a:latin typeface="Calibri"/>
              </a:defRPr>
            </a:pPr>
            <a:r>
              <a:t>Note: the plotted σ label is shorthand; the code clips σ to [10⁻¹², 2].</a:t>
            </a:r>
          </a:p>
        </p:txBody>
      </p:sp>
      <p:sp>
        <p:nvSpPr>
          <p:cNvPr id="19" name="Rounded Rectangle 18"/>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Seed 7: f ≈ 0.00587 at generation 20; the best result arrives at generation 100.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Our result is </a:t>
            </a:r>
            <a:r>
              <a:rPr lang="en-US" dirty="0"/>
              <a:t>V</a:t>
            </a:r>
            <a:r>
              <a:rPr dirty="0"/>
              <a:t>ery </a:t>
            </a:r>
            <a:r>
              <a:rPr lang="en-US" dirty="0"/>
              <a:t>C</a:t>
            </a:r>
            <a:r>
              <a:rPr dirty="0"/>
              <a:t>lose to (0, 0)</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15 / 18</a:t>
            </a:r>
          </a:p>
        </p:txBody>
      </p:sp>
      <p:sp>
        <p:nvSpPr>
          <p:cNvPr id="9" name="Rounded Rectangle 8"/>
          <p:cNvSpPr/>
          <p:nvPr/>
        </p:nvSpPr>
        <p:spPr>
          <a:xfrm>
            <a:off x="82296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1.088 × 10⁻¹²</a:t>
            </a:r>
          </a:p>
        </p:txBody>
      </p:sp>
      <p:sp>
        <p:nvSpPr>
          <p:cNvPr id="11" name="TextBox 10"/>
          <p:cNvSpPr txBox="1"/>
          <p:nvPr/>
        </p:nvSpPr>
        <p:spPr>
          <a:xfrm>
            <a:off x="105156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final objective value · seed 7</a:t>
            </a:r>
          </a:p>
        </p:txBody>
      </p:sp>
      <p:sp>
        <p:nvSpPr>
          <p:cNvPr id="12" name="Rounded Rectangle 11"/>
          <p:cNvSpPr/>
          <p:nvPr/>
        </p:nvSpPr>
        <p:spPr>
          <a:xfrm>
            <a:off x="6400800" y="2011680"/>
            <a:ext cx="539496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148840"/>
            <a:ext cx="493776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100</a:t>
            </a:r>
          </a:p>
        </p:txBody>
      </p:sp>
      <p:sp>
        <p:nvSpPr>
          <p:cNvPr id="14" name="TextBox 13"/>
          <p:cNvSpPr txBox="1"/>
          <p:nvPr/>
        </p:nvSpPr>
        <p:spPr>
          <a:xfrm>
            <a:off x="6629400" y="2907792"/>
            <a:ext cx="493776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generation of the best result</a:t>
            </a:r>
          </a:p>
        </p:txBody>
      </p:sp>
      <p:sp>
        <p:nvSpPr>
          <p:cNvPr id="15" name="Rounded Rectangle 14"/>
          <p:cNvSpPr/>
          <p:nvPr/>
        </p:nvSpPr>
        <p:spPr>
          <a:xfrm>
            <a:off x="11887200" y="201168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115800" y="2148840"/>
            <a:ext cx="512064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5,050</a:t>
            </a:r>
          </a:p>
        </p:txBody>
      </p:sp>
      <p:sp>
        <p:nvSpPr>
          <p:cNvPr id="17" name="TextBox 16"/>
          <p:cNvSpPr txBox="1"/>
          <p:nvPr/>
        </p:nvSpPr>
        <p:spPr>
          <a:xfrm>
            <a:off x="12115800" y="2907792"/>
            <a:ext cx="512064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function evaluations</a:t>
            </a:r>
          </a:p>
        </p:txBody>
      </p:sp>
      <p:sp>
        <p:nvSpPr>
          <p:cNvPr id="18" name="TextBox 17"/>
          <p:cNvSpPr txBox="1"/>
          <p:nvPr/>
        </p:nvSpPr>
        <p:spPr>
          <a:xfrm>
            <a:off x="914400" y="3730752"/>
            <a:ext cx="16459200" cy="548640"/>
          </a:xfrm>
          <a:prstGeom prst="rect">
            <a:avLst/>
          </a:prstGeom>
          <a:noFill/>
        </p:spPr>
        <p:txBody>
          <a:bodyPr wrap="square" lIns="0" tIns="0" rIns="0" bIns="0">
            <a:spAutoFit/>
          </a:bodyPr>
          <a:lstStyle/>
          <a:p>
            <a:pPr>
              <a:spcBef>
                <a:spcPts val="0"/>
              </a:spcBef>
              <a:spcAft>
                <a:spcPts val="600"/>
              </a:spcAft>
              <a:defRPr sz="2900" b="1">
                <a:solidFill>
                  <a:srgbClr val="237B83"/>
                </a:solidFill>
                <a:latin typeface="Calibri"/>
              </a:defRPr>
            </a:pPr>
            <a:r>
              <a:t>x₁ = −3.436 × 10⁻¹³     x₂ = −1.730 × 10⁻¹³     distance = 3.847 × 10⁻¹³</a:t>
            </a:r>
          </a:p>
        </p:txBody>
      </p:sp>
      <p:sp>
        <p:nvSpPr>
          <p:cNvPr id="19" name="Rounded Rectangle 18"/>
          <p:cNvSpPr/>
          <p:nvPr/>
        </p:nvSpPr>
        <p:spPr>
          <a:xfrm>
            <a:off x="822960" y="4498848"/>
            <a:ext cx="16642080" cy="374903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06_best_solution_path.png" descr="06_best_solution_path.png"/>
          <p:cNvPicPr>
            <a:picLocks noChangeAspect="1"/>
          </p:cNvPicPr>
          <p:nvPr/>
        </p:nvPicPr>
        <p:blipFill>
          <a:blip r:embed="rId3"/>
          <a:stretch>
            <a:fillRect/>
          </a:stretch>
        </p:blipFill>
        <p:spPr>
          <a:xfrm>
            <a:off x="4948762" y="4562856"/>
            <a:ext cx="8390475" cy="3584448"/>
          </a:xfrm>
          <a:prstGeom prst="rect">
            <a:avLst/>
          </a:prstGeom>
        </p:spPr>
      </p:pic>
      <p:sp>
        <p:nvSpPr>
          <p:cNvPr id="21" name="TextBox 20"/>
          <p:cNvSpPr txBox="1"/>
          <p:nvPr/>
        </p:nvSpPr>
        <p:spPr>
          <a:xfrm>
            <a:off x="1051560" y="8394192"/>
            <a:ext cx="16184880" cy="365760"/>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Both coordinates have absolute error &lt; 10⁻¹². The result is approximate.</a:t>
            </a:r>
          </a:p>
        </p:txBody>
      </p:sp>
      <p:sp>
        <p:nvSpPr>
          <p:cNvPr id="22" name="Rounded Rectangle 21"/>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Random search with the same seed and 5,050 evaluations: f = 0.7693. This is one comparison.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Two </a:t>
            </a:r>
            <a:r>
              <a:rPr lang="en-US" dirty="0"/>
              <a:t>C</a:t>
            </a:r>
            <a:r>
              <a:rPr dirty="0"/>
              <a:t>hanges</a:t>
            </a:r>
            <a:r>
              <a:rPr lang="en-US" dirty="0"/>
              <a:t> S</a:t>
            </a:r>
            <a:r>
              <a:rPr dirty="0"/>
              <a:t>olve </a:t>
            </a:r>
            <a:r>
              <a:rPr lang="en-US" dirty="0"/>
              <a:t>D</a:t>
            </a:r>
            <a:r>
              <a:rPr dirty="0"/>
              <a:t>ifferent </a:t>
            </a:r>
            <a:r>
              <a:rPr lang="en-US" dirty="0"/>
              <a:t>P</a:t>
            </a:r>
            <a:r>
              <a:rPr dirty="0"/>
              <a:t>roblems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16 / 18</a:t>
            </a:r>
          </a:p>
        </p:txBody>
      </p:sp>
      <p:sp>
        <p:nvSpPr>
          <p:cNvPr id="9" name="TextBox 8"/>
          <p:cNvSpPr txBox="1"/>
          <p:nvPr/>
        </p:nvSpPr>
        <p:spPr>
          <a:xfrm>
            <a:off x="914400" y="2011680"/>
            <a:ext cx="16459200" cy="502920"/>
          </a:xfrm>
          <a:prstGeom prst="rect">
            <a:avLst/>
          </a:prstGeom>
          <a:noFill/>
        </p:spPr>
        <p:txBody>
          <a:bodyPr wrap="square" lIns="0" tIns="0" rIns="0" bIns="0">
            <a:spAutoFit/>
          </a:bodyPr>
          <a:lstStyle/>
          <a:p>
            <a:pPr>
              <a:spcBef>
                <a:spcPts val="0"/>
              </a:spcBef>
              <a:spcAft>
                <a:spcPts val="600"/>
              </a:spcAft>
              <a:defRPr sz="2900" b="0">
                <a:solidFill>
                  <a:srgbClr val="5B747D"/>
                </a:solidFill>
                <a:latin typeface="Calibri"/>
              </a:defRPr>
            </a:pPr>
            <a:r>
              <a:t>Same 40 seeds in every row</a:t>
            </a:r>
          </a:p>
        </p:txBody>
      </p:sp>
      <p:graphicFrame>
        <p:nvGraphicFramePr>
          <p:cNvPr id="10" name="Table 9"/>
          <p:cNvGraphicFramePr>
            <a:graphicFrameLocks noGrp="1"/>
          </p:cNvGraphicFramePr>
          <p:nvPr/>
        </p:nvGraphicFramePr>
        <p:xfrm>
          <a:off x="822960" y="2788920"/>
          <a:ext cx="16642080" cy="41605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tblGrid>
              <a:tr h="832104">
                <a:tc>
                  <a:txBody>
                    <a:bodyPr/>
                    <a:lstStyle/>
                    <a:p>
                      <a:pPr>
                        <a:defRPr sz="2600" b="1">
                          <a:solidFill>
                            <a:srgbClr val="FFFFFF"/>
                          </a:solidFill>
                          <a:latin typeface="Calibri"/>
                        </a:defRPr>
                      </a:pPr>
                      <a:r>
                        <a:t>Step rule</a:t>
                      </a:r>
                    </a:p>
                  </a:txBody>
                  <a:tcPr marL="164592" marR="128016" marT="91440" anchor="ctr">
                    <a:solidFill>
                      <a:srgbClr val="163D50"/>
                    </a:solidFill>
                  </a:tcPr>
                </a:tc>
                <a:tc>
                  <a:txBody>
                    <a:bodyPr/>
                    <a:lstStyle/>
                    <a:p>
                      <a:pPr>
                        <a:defRPr sz="2600" b="1">
                          <a:solidFill>
                            <a:srgbClr val="FFFFFF"/>
                          </a:solidFill>
                          <a:latin typeface="Calibri"/>
                        </a:defRPr>
                      </a:pPr>
                      <a:r>
                        <a:t>Copy cap</a:t>
                      </a:r>
                    </a:p>
                  </a:txBody>
                  <a:tcPr marL="164592" marR="128016" marT="91440" anchor="ctr">
                    <a:solidFill>
                      <a:srgbClr val="163D50"/>
                    </a:solidFill>
                  </a:tcPr>
                </a:tc>
                <a:tc>
                  <a:txBody>
                    <a:bodyPr/>
                    <a:lstStyle/>
                    <a:p>
                      <a:pPr>
                        <a:defRPr sz="2600" b="1">
                          <a:solidFill>
                            <a:srgbClr val="FFFFFF"/>
                          </a:solidFill>
                          <a:latin typeface="Calibri"/>
                        </a:defRPr>
                      </a:pPr>
                      <a:r>
                        <a:t>Median f</a:t>
                      </a:r>
                    </a:p>
                  </a:txBody>
                  <a:tcPr marL="164592" marR="128016" marT="91440" anchor="ctr">
                    <a:solidFill>
                      <a:srgbClr val="163D50"/>
                    </a:solidFill>
                  </a:tcPr>
                </a:tc>
                <a:tc>
                  <a:txBody>
                    <a:bodyPr/>
                    <a:lstStyle/>
                    <a:p>
                      <a:pPr>
                        <a:defRPr sz="2600" b="1">
                          <a:solidFill>
                            <a:srgbClr val="FFFFFF"/>
                          </a:solidFill>
                          <a:latin typeface="Calibri"/>
                        </a:defRPr>
                      </a:pPr>
                      <a:r>
                        <a:t>Worst f</a:t>
                      </a:r>
                    </a:p>
                  </a:txBody>
                  <a:tcPr marL="164592" marR="128016" marT="91440" anchor="ctr">
                    <a:solidFill>
                      <a:srgbClr val="163D50"/>
                    </a:solidFill>
                  </a:tcPr>
                </a:tc>
                <a:tc>
                  <a:txBody>
                    <a:bodyPr/>
                    <a:lstStyle/>
                    <a:p>
                      <a:pPr>
                        <a:defRPr sz="2600" b="1">
                          <a:solidFill>
                            <a:srgbClr val="FFFFFF"/>
                          </a:solidFill>
                          <a:latin typeface="Calibri"/>
                        </a:defRPr>
                      </a:pPr>
                      <a:r>
                        <a:t>In valley</a:t>
                      </a:r>
                    </a:p>
                  </a:txBody>
                  <a:tcPr marL="164592" marR="128016" marT="91440" anchor="ctr">
                    <a:solidFill>
                      <a:srgbClr val="163D50"/>
                    </a:solidFill>
                  </a:tcPr>
                </a:tc>
                <a:tc>
                  <a:txBody>
                    <a:bodyPr/>
                    <a:lstStyle/>
                    <a:p>
                      <a:pPr>
                        <a:defRPr sz="2600" b="1">
                          <a:solidFill>
                            <a:srgbClr val="FFFFFF"/>
                          </a:solidFill>
                          <a:latin typeface="Calibri"/>
                        </a:defRPr>
                      </a:pPr>
                      <a:r>
                        <a:t>Distinct</a:t>
                      </a:r>
                    </a:p>
                  </a:txBody>
                  <a:tcPr marL="164592" marR="128016" marT="91440" anchor="ctr">
                    <a:solidFill>
                      <a:srgbClr val="163D50"/>
                    </a:solidFill>
                  </a:tcPr>
                </a:tc>
                <a:extLst>
                  <a:ext uri="{0D108BD9-81ED-4DB2-BD59-A6C34878D82A}">
                    <a16:rowId xmlns:a16="http://schemas.microsoft.com/office/drawing/2014/main" val="10000"/>
                  </a:ext>
                </a:extLst>
              </a:tr>
              <a:tr h="832104">
                <a:tc>
                  <a:txBody>
                    <a:bodyPr/>
                    <a:lstStyle/>
                    <a:p>
                      <a:pPr>
                        <a:defRPr sz="2600" b="0">
                          <a:solidFill>
                            <a:srgbClr val="233C49"/>
                          </a:solidFill>
                          <a:latin typeface="Calibri"/>
                        </a:defRPr>
                      </a:pPr>
                      <a:r>
                        <a:t>Timed</a:t>
                      </a:r>
                    </a:p>
                  </a:txBody>
                  <a:tcPr marL="164592" marR="128016" marT="91440" anchor="ctr">
                    <a:solidFill>
                      <a:srgbClr val="FFFFFF"/>
                    </a:solidFill>
                  </a:tcPr>
                </a:tc>
                <a:tc>
                  <a:txBody>
                    <a:bodyPr/>
                    <a:lstStyle/>
                    <a:p>
                      <a:pPr>
                        <a:defRPr sz="2600" b="0">
                          <a:solidFill>
                            <a:srgbClr val="233C49"/>
                          </a:solidFill>
                          <a:latin typeface="Calibri"/>
                        </a:defRPr>
                      </a:pPr>
                      <a:r>
                        <a:t>None</a:t>
                      </a:r>
                    </a:p>
                  </a:txBody>
                  <a:tcPr marL="164592" marR="128016" marT="91440" anchor="ctr">
                    <a:solidFill>
                      <a:srgbClr val="FFFFFF"/>
                    </a:solidFill>
                  </a:tcPr>
                </a:tc>
                <a:tc>
                  <a:txBody>
                    <a:bodyPr/>
                    <a:lstStyle/>
                    <a:p>
                      <a:pPr>
                        <a:defRPr sz="2600" b="0">
                          <a:solidFill>
                            <a:srgbClr val="233C49"/>
                          </a:solidFill>
                          <a:latin typeface="Calibri"/>
                        </a:defRPr>
                      </a:pPr>
                      <a:r>
                        <a:t>5.52 × 10⁻⁹</a:t>
                      </a:r>
                    </a:p>
                  </a:txBody>
                  <a:tcPr marL="164592" marR="128016" marT="91440" anchor="ctr">
                    <a:solidFill>
                      <a:srgbClr val="FFFFFF"/>
                    </a:solidFill>
                  </a:tcPr>
                </a:tc>
                <a:tc>
                  <a:txBody>
                    <a:bodyPr/>
                    <a:lstStyle/>
                    <a:p>
                      <a:pPr>
                        <a:defRPr sz="2600" b="1">
                          <a:solidFill>
                            <a:srgbClr val="B82E37"/>
                          </a:solidFill>
                          <a:latin typeface="Calibri"/>
                        </a:defRPr>
                      </a:pPr>
                      <a:r>
                        <a:t>2.58</a:t>
                      </a:r>
                    </a:p>
                  </a:txBody>
                  <a:tcPr marL="164592" marR="128016" marT="91440" anchor="ctr">
                    <a:solidFill>
                      <a:srgbClr val="FFFFFF"/>
                    </a:solidFill>
                  </a:tcPr>
                </a:tc>
                <a:tc>
                  <a:txBody>
                    <a:bodyPr/>
                    <a:lstStyle/>
                    <a:p>
                      <a:pPr>
                        <a:defRPr sz="2600" b="0">
                          <a:solidFill>
                            <a:srgbClr val="233C49"/>
                          </a:solidFill>
                          <a:latin typeface="Calibri"/>
                        </a:defRPr>
                      </a:pPr>
                      <a:r>
                        <a:t>39 / 40</a:t>
                      </a:r>
                    </a:p>
                  </a:txBody>
                  <a:tcPr marL="164592" marR="128016" marT="91440" anchor="ctr">
                    <a:solidFill>
                      <a:srgbClr val="FFFFFF"/>
                    </a:solidFill>
                  </a:tcPr>
                </a:tc>
                <a:tc>
                  <a:txBody>
                    <a:bodyPr/>
                    <a:lstStyle/>
                    <a:p>
                      <a:pPr>
                        <a:defRPr sz="2600" b="0">
                          <a:solidFill>
                            <a:srgbClr val="233C49"/>
                          </a:solidFill>
                          <a:latin typeface="Calibri"/>
                        </a:defRPr>
                      </a:pPr>
                      <a:r>
                        <a:t>3</a:t>
                      </a:r>
                    </a:p>
                  </a:txBody>
                  <a:tcPr marL="164592" marR="128016" marT="91440" anchor="ctr">
                    <a:solidFill>
                      <a:srgbClr val="FFFFFF"/>
                    </a:solidFill>
                  </a:tcPr>
                </a:tc>
                <a:extLst>
                  <a:ext uri="{0D108BD9-81ED-4DB2-BD59-A6C34878D82A}">
                    <a16:rowId xmlns:a16="http://schemas.microsoft.com/office/drawing/2014/main" val="10001"/>
                  </a:ext>
                </a:extLst>
              </a:tr>
              <a:tr h="832104">
                <a:tc>
                  <a:txBody>
                    <a:bodyPr/>
                    <a:lstStyle/>
                    <a:p>
                      <a:pPr>
                        <a:defRPr sz="2600" b="0">
                          <a:solidFill>
                            <a:srgbClr val="233C49"/>
                          </a:solidFill>
                          <a:latin typeface="Calibri"/>
                        </a:defRPr>
                      </a:pPr>
                      <a:r>
                        <a:t>Timed</a:t>
                      </a:r>
                    </a:p>
                  </a:txBody>
                  <a:tcPr marL="164592" marR="128016" marT="91440" anchor="ctr">
                    <a:solidFill>
                      <a:srgbClr val="EDF5F4"/>
                    </a:solidFill>
                  </a:tcPr>
                </a:tc>
                <a:tc>
                  <a:txBody>
                    <a:bodyPr/>
                    <a:lstStyle/>
                    <a:p>
                      <a:pPr>
                        <a:defRPr sz="2600" b="0">
                          <a:solidFill>
                            <a:srgbClr val="233C49"/>
                          </a:solidFill>
                          <a:latin typeface="Calibri"/>
                        </a:defRPr>
                      </a:pPr>
                      <a:r>
                        <a:t>15</a:t>
                      </a:r>
                    </a:p>
                  </a:txBody>
                  <a:tcPr marL="164592" marR="128016" marT="91440" anchor="ctr">
                    <a:solidFill>
                      <a:srgbClr val="EDF5F4"/>
                    </a:solidFill>
                  </a:tcPr>
                </a:tc>
                <a:tc>
                  <a:txBody>
                    <a:bodyPr/>
                    <a:lstStyle/>
                    <a:p>
                      <a:pPr>
                        <a:defRPr sz="2600" b="0">
                          <a:solidFill>
                            <a:srgbClr val="233C49"/>
                          </a:solidFill>
                          <a:latin typeface="Calibri"/>
                        </a:defRPr>
                      </a:pPr>
                      <a:r>
                        <a:t>6.76 × 10⁻⁹</a:t>
                      </a:r>
                    </a:p>
                  </a:txBody>
                  <a:tcPr marL="164592" marR="128016" marT="91440" anchor="ctr">
                    <a:solidFill>
                      <a:srgbClr val="EDF5F4"/>
                    </a:solidFill>
                  </a:tcPr>
                </a:tc>
                <a:tc>
                  <a:txBody>
                    <a:bodyPr/>
                    <a:lstStyle/>
                    <a:p>
                      <a:pPr>
                        <a:defRPr sz="2600" b="1">
                          <a:solidFill>
                            <a:srgbClr val="B82E37"/>
                          </a:solidFill>
                          <a:latin typeface="Calibri"/>
                        </a:defRPr>
                      </a:pPr>
                      <a:r>
                        <a:t>2.58</a:t>
                      </a:r>
                    </a:p>
                  </a:txBody>
                  <a:tcPr marL="164592" marR="128016" marT="91440" anchor="ctr">
                    <a:solidFill>
                      <a:srgbClr val="EDF5F4"/>
                    </a:solidFill>
                  </a:tcPr>
                </a:tc>
                <a:tc>
                  <a:txBody>
                    <a:bodyPr/>
                    <a:lstStyle/>
                    <a:p>
                      <a:pPr>
                        <a:defRPr sz="2600" b="0">
                          <a:solidFill>
                            <a:srgbClr val="233C49"/>
                          </a:solidFill>
                          <a:latin typeface="Calibri"/>
                        </a:defRPr>
                      </a:pPr>
                      <a:r>
                        <a:t>39 / 40</a:t>
                      </a:r>
                    </a:p>
                  </a:txBody>
                  <a:tcPr marL="164592" marR="128016" marT="91440" anchor="ctr">
                    <a:solidFill>
                      <a:srgbClr val="EDF5F4"/>
                    </a:solidFill>
                  </a:tcPr>
                </a:tc>
                <a:tc>
                  <a:txBody>
                    <a:bodyPr/>
                    <a:lstStyle/>
                    <a:p>
                      <a:pPr>
                        <a:defRPr sz="2600" b="0">
                          <a:solidFill>
                            <a:srgbClr val="233C49"/>
                          </a:solidFill>
                          <a:latin typeface="Calibri"/>
                        </a:defRPr>
                      </a:pPr>
                      <a:r>
                        <a:t>9</a:t>
                      </a:r>
                    </a:p>
                  </a:txBody>
                  <a:tcPr marL="164592" marR="128016" marT="91440" anchor="ctr">
                    <a:solidFill>
                      <a:srgbClr val="EDF5F4"/>
                    </a:solidFill>
                  </a:tcPr>
                </a:tc>
                <a:extLst>
                  <a:ext uri="{0D108BD9-81ED-4DB2-BD59-A6C34878D82A}">
                    <a16:rowId xmlns:a16="http://schemas.microsoft.com/office/drawing/2014/main" val="10002"/>
                  </a:ext>
                </a:extLst>
              </a:tr>
              <a:tr h="832104">
                <a:tc>
                  <a:txBody>
                    <a:bodyPr/>
                    <a:lstStyle/>
                    <a:p>
                      <a:pPr>
                        <a:defRPr sz="2600" b="0">
                          <a:solidFill>
                            <a:srgbClr val="233C49"/>
                          </a:solidFill>
                          <a:latin typeface="Calibri"/>
                        </a:defRPr>
                      </a:pPr>
                      <a:r>
                        <a:t>Adaptive</a:t>
                      </a:r>
                    </a:p>
                  </a:txBody>
                  <a:tcPr marL="164592" marR="128016" marT="91440" anchor="ctr">
                    <a:solidFill>
                      <a:srgbClr val="FFFFFF"/>
                    </a:solidFill>
                  </a:tcPr>
                </a:tc>
                <a:tc>
                  <a:txBody>
                    <a:bodyPr/>
                    <a:lstStyle/>
                    <a:p>
                      <a:pPr>
                        <a:defRPr sz="2600" b="0">
                          <a:solidFill>
                            <a:srgbClr val="233C49"/>
                          </a:solidFill>
                          <a:latin typeface="Calibri"/>
                        </a:defRPr>
                      </a:pPr>
                      <a:r>
                        <a:t>None</a:t>
                      </a:r>
                    </a:p>
                  </a:txBody>
                  <a:tcPr marL="164592" marR="128016" marT="91440" anchor="ctr">
                    <a:solidFill>
                      <a:srgbClr val="FFFFFF"/>
                    </a:solidFill>
                  </a:tcPr>
                </a:tc>
                <a:tc>
                  <a:txBody>
                    <a:bodyPr/>
                    <a:lstStyle/>
                    <a:p>
                      <a:pPr>
                        <a:defRPr sz="2600" b="0">
                          <a:solidFill>
                            <a:srgbClr val="233C49"/>
                          </a:solidFill>
                          <a:latin typeface="Calibri"/>
                        </a:defRPr>
                      </a:pPr>
                      <a:r>
                        <a:t>5.00 × 10⁻¹³</a:t>
                      </a:r>
                    </a:p>
                  </a:txBody>
                  <a:tcPr marL="164592" marR="128016" marT="91440" anchor="ctr">
                    <a:solidFill>
                      <a:srgbClr val="FFFFFF"/>
                    </a:solidFill>
                  </a:tcPr>
                </a:tc>
                <a:tc>
                  <a:txBody>
                    <a:bodyPr/>
                    <a:lstStyle/>
                    <a:p>
                      <a:pPr>
                        <a:defRPr sz="2600" b="0">
                          <a:solidFill>
                            <a:srgbClr val="233C49"/>
                          </a:solidFill>
                          <a:latin typeface="Calibri"/>
                        </a:defRPr>
                      </a:pPr>
                      <a:r>
                        <a:t>2.31 × 10⁻¹¹</a:t>
                      </a:r>
                    </a:p>
                  </a:txBody>
                  <a:tcPr marL="164592" marR="128016" marT="91440" anchor="ctr">
                    <a:solidFill>
                      <a:srgbClr val="FFFFFF"/>
                    </a:solidFill>
                  </a:tcPr>
                </a:tc>
                <a:tc>
                  <a:txBody>
                    <a:bodyPr/>
                    <a:lstStyle/>
                    <a:p>
                      <a:pPr>
                        <a:defRPr sz="2600" b="0">
                          <a:solidFill>
                            <a:srgbClr val="233C49"/>
                          </a:solidFill>
                          <a:latin typeface="Calibri"/>
                        </a:defRPr>
                      </a:pPr>
                      <a:r>
                        <a:t>40 / 40</a:t>
                      </a:r>
                    </a:p>
                  </a:txBody>
                  <a:tcPr marL="164592" marR="128016" marT="91440" anchor="ctr">
                    <a:solidFill>
                      <a:srgbClr val="FFFFFF"/>
                    </a:solidFill>
                  </a:tcPr>
                </a:tc>
                <a:tc>
                  <a:txBody>
                    <a:bodyPr/>
                    <a:lstStyle/>
                    <a:p>
                      <a:pPr>
                        <a:defRPr sz="2600" b="0">
                          <a:solidFill>
                            <a:srgbClr val="233C49"/>
                          </a:solidFill>
                          <a:latin typeface="Calibri"/>
                        </a:defRPr>
                      </a:pPr>
                      <a:r>
                        <a:t>8</a:t>
                      </a:r>
                    </a:p>
                  </a:txBody>
                  <a:tcPr marL="164592" marR="128016" marT="91440" anchor="ctr">
                    <a:solidFill>
                      <a:srgbClr val="FFFFFF"/>
                    </a:solidFill>
                  </a:tcPr>
                </a:tc>
                <a:extLst>
                  <a:ext uri="{0D108BD9-81ED-4DB2-BD59-A6C34878D82A}">
                    <a16:rowId xmlns:a16="http://schemas.microsoft.com/office/drawing/2014/main" val="10003"/>
                  </a:ext>
                </a:extLst>
              </a:tr>
              <a:tr h="832104">
                <a:tc>
                  <a:txBody>
                    <a:bodyPr/>
                    <a:lstStyle/>
                    <a:p>
                      <a:pPr>
                        <a:defRPr sz="2600" b="1">
                          <a:solidFill>
                            <a:srgbClr val="233C49"/>
                          </a:solidFill>
                          <a:latin typeface="Calibri"/>
                        </a:defRPr>
                      </a:pPr>
                      <a:r>
                        <a:t>Adaptive</a:t>
                      </a:r>
                    </a:p>
                  </a:txBody>
                  <a:tcPr marL="164592" marR="128016" marT="91440" anchor="ctr">
                    <a:solidFill>
                      <a:srgbClr val="E5F1F0"/>
                    </a:solidFill>
                  </a:tcPr>
                </a:tc>
                <a:tc>
                  <a:txBody>
                    <a:bodyPr/>
                    <a:lstStyle/>
                    <a:p>
                      <a:pPr>
                        <a:defRPr sz="2600" b="1">
                          <a:solidFill>
                            <a:srgbClr val="233C49"/>
                          </a:solidFill>
                          <a:latin typeface="Calibri"/>
                        </a:defRPr>
                      </a:pPr>
                      <a:r>
                        <a:t>15</a:t>
                      </a:r>
                    </a:p>
                  </a:txBody>
                  <a:tcPr marL="164592" marR="128016" marT="91440" anchor="ctr">
                    <a:solidFill>
                      <a:srgbClr val="E5F1F0"/>
                    </a:solidFill>
                  </a:tcPr>
                </a:tc>
                <a:tc>
                  <a:txBody>
                    <a:bodyPr/>
                    <a:lstStyle/>
                    <a:p>
                      <a:pPr>
                        <a:defRPr sz="2600" b="1">
                          <a:solidFill>
                            <a:srgbClr val="233C49"/>
                          </a:solidFill>
                          <a:latin typeface="Calibri"/>
                        </a:defRPr>
                      </a:pPr>
                      <a:r>
                        <a:t>1.64 × 10⁻¹²</a:t>
                      </a:r>
                    </a:p>
                  </a:txBody>
                  <a:tcPr marL="164592" marR="128016" marT="91440" anchor="ctr">
                    <a:solidFill>
                      <a:srgbClr val="E5F1F0"/>
                    </a:solidFill>
                  </a:tcPr>
                </a:tc>
                <a:tc>
                  <a:txBody>
                    <a:bodyPr/>
                    <a:lstStyle/>
                    <a:p>
                      <a:pPr>
                        <a:defRPr sz="2600" b="1">
                          <a:solidFill>
                            <a:srgbClr val="233C49"/>
                          </a:solidFill>
                          <a:latin typeface="Calibri"/>
                        </a:defRPr>
                      </a:pPr>
                      <a:r>
                        <a:t>3.14 × 10⁻¹¹</a:t>
                      </a:r>
                    </a:p>
                  </a:txBody>
                  <a:tcPr marL="164592" marR="128016" marT="91440" anchor="ctr">
                    <a:solidFill>
                      <a:srgbClr val="E5F1F0"/>
                    </a:solidFill>
                  </a:tcPr>
                </a:tc>
                <a:tc>
                  <a:txBody>
                    <a:bodyPr/>
                    <a:lstStyle/>
                    <a:p>
                      <a:pPr>
                        <a:defRPr sz="2600" b="1">
                          <a:solidFill>
                            <a:srgbClr val="233C49"/>
                          </a:solidFill>
                          <a:latin typeface="Calibri"/>
                        </a:defRPr>
                      </a:pPr>
                      <a:r>
                        <a:t>40 / 40</a:t>
                      </a:r>
                    </a:p>
                  </a:txBody>
                  <a:tcPr marL="164592" marR="128016" marT="91440" anchor="ctr">
                    <a:solidFill>
                      <a:srgbClr val="E5F1F0"/>
                    </a:solidFill>
                  </a:tcPr>
                </a:tc>
                <a:tc>
                  <a:txBody>
                    <a:bodyPr/>
                    <a:lstStyle/>
                    <a:p>
                      <a:pPr>
                        <a:defRPr sz="2600" b="1">
                          <a:solidFill>
                            <a:srgbClr val="233C49"/>
                          </a:solidFill>
                          <a:latin typeface="Calibri"/>
                        </a:defRPr>
                      </a:pPr>
                      <a:r>
                        <a:t>13</a:t>
                      </a:r>
                    </a:p>
                  </a:txBody>
                  <a:tcPr marL="164592" marR="128016" marT="91440" anchor="ctr">
                    <a:solidFill>
                      <a:srgbClr val="E5F1F0"/>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005840" y="7114032"/>
            <a:ext cx="16367759" cy="8229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In valley: distance to (0, 0) &lt; 0.5. Distinct: median number of unique chromosomes</a:t>
            </a:r>
          </a:p>
          <a:p>
            <a:pPr>
              <a:spcBef>
                <a:spcPts val="0"/>
              </a:spcBef>
              <a:spcAft>
                <a:spcPts val="600"/>
              </a:spcAft>
              <a:defRPr sz="2100" b="0">
                <a:solidFill>
                  <a:srgbClr val="5B747D"/>
                </a:solidFill>
                <a:latin typeface="Calibri"/>
              </a:defRPr>
            </a:pPr>
            <a:r>
              <a:t>over the second half of each run, then the median across runs.</a:t>
            </a:r>
          </a:p>
        </p:txBody>
      </p:sp>
      <p:sp>
        <p:nvSpPr>
          <p:cNvPr id="12" name="Rounded Rectangle 11"/>
          <p:cNvSpPr/>
          <p:nvPr/>
        </p:nvSpPr>
        <p:spPr>
          <a:xfrm>
            <a:off x="868680" y="8321040"/>
            <a:ext cx="8046720" cy="105156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8613648"/>
            <a:ext cx="7589520" cy="475488"/>
          </a:xfrm>
          <a:prstGeom prst="rect">
            <a:avLst/>
          </a:prstGeom>
          <a:noFill/>
        </p:spPr>
        <p:txBody>
          <a:bodyPr wrap="square" lIns="0" tIns="0" rIns="0" bIns="0">
            <a:spAutoFit/>
          </a:bodyPr>
          <a:lstStyle/>
          <a:p>
            <a:pPr>
              <a:spcBef>
                <a:spcPts val="0"/>
              </a:spcBef>
              <a:spcAft>
                <a:spcPts val="600"/>
              </a:spcAft>
              <a:defRPr sz="2800" b="1">
                <a:solidFill>
                  <a:srgbClr val="237B83"/>
                </a:solidFill>
                <a:latin typeface="Calibri"/>
              </a:defRPr>
            </a:pPr>
            <a:r>
              <a:t>Adaptive step → smaller errors</a:t>
            </a:r>
          </a:p>
        </p:txBody>
      </p:sp>
      <p:sp>
        <p:nvSpPr>
          <p:cNvPr id="14" name="Rounded Rectangle 13"/>
          <p:cNvSpPr/>
          <p:nvPr/>
        </p:nvSpPr>
        <p:spPr>
          <a:xfrm>
            <a:off x="9281160" y="8321040"/>
            <a:ext cx="8092440" cy="1051560"/>
          </a:xfrm>
          <a:prstGeom prst="roundRect">
            <a:avLst>
              <a:gd name="adj" fmla="val 8000"/>
            </a:avLst>
          </a:prstGeom>
          <a:solidFill>
            <a:srgbClr val="FA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0" y="8613648"/>
            <a:ext cx="7589520" cy="475488"/>
          </a:xfrm>
          <a:prstGeom prst="rect">
            <a:avLst/>
          </a:prstGeom>
          <a:noFill/>
        </p:spPr>
        <p:txBody>
          <a:bodyPr wrap="square" lIns="0" tIns="0" rIns="0" bIns="0">
            <a:spAutoFit/>
          </a:bodyPr>
          <a:lstStyle/>
          <a:p>
            <a:pPr>
              <a:spcBef>
                <a:spcPts val="0"/>
              </a:spcBef>
              <a:spcAft>
                <a:spcPts val="600"/>
              </a:spcAft>
              <a:defRPr sz="2800" b="1">
                <a:solidFill>
                  <a:srgbClr val="B82E37"/>
                </a:solidFill>
                <a:latin typeface="Calibri"/>
              </a:defRPr>
            </a:pPr>
            <a:r>
              <a:t>Copy limit → more distinct points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All 40 runs </a:t>
            </a:r>
            <a:r>
              <a:rPr lang="en-US" dirty="0"/>
              <a:t>M</a:t>
            </a:r>
            <a:r>
              <a:rPr dirty="0"/>
              <a:t>et the </a:t>
            </a:r>
            <a:r>
              <a:rPr lang="en-US" dirty="0"/>
              <a:t>A</a:t>
            </a:r>
            <a:r>
              <a:rPr dirty="0"/>
              <a:t>ccuracy </a:t>
            </a:r>
            <a:r>
              <a:rPr lang="en-US" dirty="0"/>
              <a:t>T</a:t>
            </a:r>
            <a:r>
              <a:rPr dirty="0"/>
              <a:t>arget</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17 / 18</a:t>
            </a:r>
          </a:p>
        </p:txBody>
      </p:sp>
      <p:sp>
        <p:nvSpPr>
          <p:cNvPr id="9" name="Rounded Rectangle 8"/>
          <p:cNvSpPr/>
          <p:nvPr/>
        </p:nvSpPr>
        <p:spPr>
          <a:xfrm>
            <a:off x="82296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40 / 40</a:t>
            </a:r>
          </a:p>
        </p:txBody>
      </p:sp>
      <p:sp>
        <p:nvSpPr>
          <p:cNvPr id="11" name="TextBox 10"/>
          <p:cNvSpPr txBox="1"/>
          <p:nvPr/>
        </p:nvSpPr>
        <p:spPr>
          <a:xfrm>
            <a:off x="105156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passed f &lt; 10⁻⁶ · seeds 0–39</a:t>
            </a:r>
          </a:p>
        </p:txBody>
      </p:sp>
      <p:sp>
        <p:nvSpPr>
          <p:cNvPr id="12" name="Rounded Rectangle 11"/>
          <p:cNvSpPr/>
          <p:nvPr/>
        </p:nvSpPr>
        <p:spPr>
          <a:xfrm>
            <a:off x="640080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1.636 × 10⁻¹²</a:t>
            </a:r>
          </a:p>
        </p:txBody>
      </p:sp>
      <p:sp>
        <p:nvSpPr>
          <p:cNvPr id="14" name="TextBox 13"/>
          <p:cNvSpPr txBox="1"/>
          <p:nvPr/>
        </p:nvSpPr>
        <p:spPr>
          <a:xfrm>
            <a:off x="662940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median final value</a:t>
            </a:r>
          </a:p>
        </p:txBody>
      </p:sp>
      <p:sp>
        <p:nvSpPr>
          <p:cNvPr id="15" name="Rounded Rectangle 14"/>
          <p:cNvSpPr/>
          <p:nvPr/>
        </p:nvSpPr>
        <p:spPr>
          <a:xfrm>
            <a:off x="1197864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20724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3.137 × 10⁻¹¹</a:t>
            </a:r>
          </a:p>
        </p:txBody>
      </p:sp>
      <p:sp>
        <p:nvSpPr>
          <p:cNvPr id="17" name="TextBox 16"/>
          <p:cNvSpPr txBox="1"/>
          <p:nvPr/>
        </p:nvSpPr>
        <p:spPr>
          <a:xfrm>
            <a:off x="1220724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worst final value</a:t>
            </a:r>
          </a:p>
        </p:txBody>
      </p:sp>
      <p:sp>
        <p:nvSpPr>
          <p:cNvPr id="18" name="Rounded Rectangle 17"/>
          <p:cNvSpPr/>
          <p:nvPr/>
        </p:nvSpPr>
        <p:spPr>
          <a:xfrm>
            <a:off x="822960" y="3867912"/>
            <a:ext cx="16642080" cy="45902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09_reliability_40_runs.png" descr="09_reliability_40_runs.png"/>
          <p:cNvPicPr>
            <a:picLocks noChangeAspect="1"/>
          </p:cNvPicPr>
          <p:nvPr/>
        </p:nvPicPr>
        <p:blipFill>
          <a:blip r:embed="rId3"/>
          <a:stretch>
            <a:fillRect/>
          </a:stretch>
        </p:blipFill>
        <p:spPr>
          <a:xfrm>
            <a:off x="3061635" y="4023360"/>
            <a:ext cx="12164729" cy="4306824"/>
          </a:xfrm>
          <a:prstGeom prst="rect">
            <a:avLst/>
          </a:prstGeom>
        </p:spPr>
      </p:pic>
      <p:sp>
        <p:nvSpPr>
          <p:cNvPr id="20" name="TextBox 19"/>
          <p:cNvSpPr txBox="1"/>
          <p:nvPr/>
        </p:nvSpPr>
        <p:spPr>
          <a:xfrm>
            <a:off x="1051560" y="8430768"/>
            <a:ext cx="16276320" cy="347472"/>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Best f = 1.106 × 10⁻¹³. Points visually overlap the optimum; they are approximate.</a:t>
            </a:r>
          </a:p>
        </p:txBody>
      </p:sp>
      <p:sp>
        <p:nvSpPr>
          <p:cNvPr id="21" name="Rounded Rectangle 20"/>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All tested seeds met the target. This is evidence of reliability, not a guarantee for every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05 · CONCLUSION</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What </a:t>
            </a:r>
            <a:r>
              <a:rPr lang="en-US" dirty="0"/>
              <a:t>W</a:t>
            </a:r>
            <a:r>
              <a:rPr dirty="0"/>
              <a:t>e </a:t>
            </a:r>
            <a:r>
              <a:rPr lang="en-US" dirty="0"/>
              <a:t>L</a:t>
            </a:r>
            <a:r>
              <a:rPr dirty="0"/>
              <a:t>earned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18 / 18</a:t>
            </a:r>
          </a:p>
        </p:txBody>
      </p:sp>
      <p:sp>
        <p:nvSpPr>
          <p:cNvPr id="9" name="Original template DNA illustration"/>
          <p:cNvSpPr/>
          <p:nvPr/>
        </p:nvSpPr>
        <p:spPr>
          <a:xfrm>
            <a:off x="15773400" y="2514600"/>
            <a:ext cx="1280160" cy="5349240"/>
          </a:xfrm>
          <a:custGeom>
            <a:avLst/>
            <a:gdLst/>
            <a:ahLst/>
            <a:cxnLst/>
            <a:rect l="l" t="t" r="r" b="b"/>
            <a:pathLst>
              <a:path w="3133285" h="10907004">
                <a:moveTo>
                  <a:pt x="0" y="0"/>
                </a:moveTo>
                <a:lnTo>
                  <a:pt x="3133284" y="0"/>
                </a:lnTo>
                <a:lnTo>
                  <a:pt x="3133284" y="10907004"/>
                </a:lnTo>
                <a:lnTo>
                  <a:pt x="0" y="109070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9"/>
          <p:cNvSpPr txBox="1"/>
          <p:nvPr/>
        </p:nvSpPr>
        <p:spPr>
          <a:xfrm>
            <a:off x="914400" y="2148840"/>
            <a:ext cx="14173200" cy="707886"/>
          </a:xfrm>
          <a:prstGeom prst="rect">
            <a:avLst/>
          </a:prstGeom>
          <a:noFill/>
        </p:spPr>
        <p:txBody>
          <a:bodyPr wrap="square" lIns="0" tIns="0" rIns="0" bIns="0">
            <a:spAutoFit/>
          </a:bodyPr>
          <a:lstStyle/>
          <a:p>
            <a:pPr>
              <a:spcBef>
                <a:spcPts val="0"/>
              </a:spcBef>
              <a:spcAft>
                <a:spcPts val="600"/>
              </a:spcAft>
              <a:defRPr sz="4600" b="1">
                <a:solidFill>
                  <a:srgbClr val="B82E37"/>
                </a:solidFill>
                <a:latin typeface="Arial"/>
              </a:defRPr>
            </a:pPr>
            <a:r>
              <a:rPr dirty="0"/>
              <a:t>A good result needs</a:t>
            </a:r>
            <a:r>
              <a:rPr lang="en-US" dirty="0"/>
              <a:t> </a:t>
            </a:r>
            <a:r>
              <a:rPr dirty="0"/>
              <a:t>a well-tested search.</a:t>
            </a:r>
          </a:p>
        </p:txBody>
      </p:sp>
      <p:sp>
        <p:nvSpPr>
          <p:cNvPr id="11" name="Rectangle 10"/>
          <p:cNvSpPr/>
          <p:nvPr/>
        </p:nvSpPr>
        <p:spPr>
          <a:xfrm>
            <a:off x="914400" y="43616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434340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Select + mix</a:t>
            </a:r>
          </a:p>
        </p:txBody>
      </p:sp>
      <p:sp>
        <p:nvSpPr>
          <p:cNvPr id="13" name="TextBox 12"/>
          <p:cNvSpPr txBox="1"/>
          <p:nvPr/>
        </p:nvSpPr>
        <p:spPr>
          <a:xfrm>
            <a:off x="1170432" y="486460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Better parents; useful coordinate combinations.</a:t>
            </a:r>
          </a:p>
        </p:txBody>
      </p:sp>
      <p:sp>
        <p:nvSpPr>
          <p:cNvPr id="14" name="Rectangle 13"/>
          <p:cNvSpPr/>
          <p:nvPr/>
        </p:nvSpPr>
        <p:spPr>
          <a:xfrm>
            <a:off x="8046720" y="43616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434340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Mutate + adapt</a:t>
            </a:r>
          </a:p>
        </p:txBody>
      </p:sp>
      <p:sp>
        <p:nvSpPr>
          <p:cNvPr id="16" name="TextBox 15"/>
          <p:cNvSpPr txBox="1"/>
          <p:nvPr/>
        </p:nvSpPr>
        <p:spPr>
          <a:xfrm>
            <a:off x="8302752" y="486460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New values; steps that shrink with progress.</a:t>
            </a:r>
          </a:p>
        </p:txBody>
      </p:sp>
      <p:sp>
        <p:nvSpPr>
          <p:cNvPr id="17" name="Rectangle 16"/>
          <p:cNvSpPr/>
          <p:nvPr/>
        </p:nvSpPr>
        <p:spPr>
          <a:xfrm>
            <a:off x="914400" y="60990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70432" y="608076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Preserve + diversify</a:t>
            </a:r>
          </a:p>
        </p:txBody>
      </p:sp>
      <p:sp>
        <p:nvSpPr>
          <p:cNvPr id="19" name="TextBox 18"/>
          <p:cNvSpPr txBox="1"/>
          <p:nvPr/>
        </p:nvSpPr>
        <p:spPr>
          <a:xfrm>
            <a:off x="1170432" y="660196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Keep the best; limit exact copies.</a:t>
            </a:r>
          </a:p>
        </p:txBody>
      </p:sp>
      <p:sp>
        <p:nvSpPr>
          <p:cNvPr id="20" name="Rectangle 19"/>
          <p:cNvSpPr/>
          <p:nvPr/>
        </p:nvSpPr>
        <p:spPr>
          <a:xfrm>
            <a:off x="8046720" y="60990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608076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Check many seeds</a:t>
            </a:r>
          </a:p>
        </p:txBody>
      </p:sp>
      <p:sp>
        <p:nvSpPr>
          <p:cNvPr id="22" name="TextBox 21"/>
          <p:cNvSpPr txBox="1"/>
          <p:nvPr/>
        </p:nvSpPr>
        <p:spPr>
          <a:xfrm>
            <a:off x="8302752" y="660196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40/40 below the target in our tests.</a:t>
            </a:r>
          </a:p>
        </p:txBody>
      </p:sp>
      <p:sp>
        <p:nvSpPr>
          <p:cNvPr id="23" name="TextBox 22"/>
          <p:cNvSpPr txBox="1"/>
          <p:nvPr/>
        </p:nvSpPr>
        <p:spPr>
          <a:xfrm>
            <a:off x="914400" y="8275320"/>
            <a:ext cx="14173200" cy="822960"/>
          </a:xfrm>
          <a:prstGeom prst="rect">
            <a:avLst/>
          </a:prstGeom>
          <a:noFill/>
        </p:spPr>
        <p:txBody>
          <a:bodyPr wrap="square" lIns="0" tIns="0" rIns="0" bIns="0">
            <a:spAutoFit/>
          </a:bodyPr>
          <a:lstStyle/>
          <a:p>
            <a:pPr>
              <a:spcBef>
                <a:spcPts val="0"/>
              </a:spcBef>
              <a:spcAft>
                <a:spcPts val="600"/>
              </a:spcAft>
              <a:defRPr sz="4200" b="1">
                <a:solidFill>
                  <a:srgbClr val="163D50"/>
                </a:solidFill>
                <a:latin typeface="Calibri"/>
              </a:defRPr>
            </a:pPr>
            <a: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4289</Words>
  <Application>Microsoft Office PowerPoint</Application>
  <PresentationFormat>Custom</PresentationFormat>
  <Paragraphs>503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the Global Minimum of the 2-D Ackley Function using a Genetic Algorithm</dc:title>
  <dc:subject>CSE 4111 — Machine Learning | 14 September 2026</dc:subject>
  <dc:creator>2107001, 2107004, 2107009, 2107015, 2107024, 2107047</dc:creator>
  <cp:keywords>Ackley, genetic algorithm, roulette selection, KUET</cp:keywords>
  <dc:description>Content checked against the notebook and independently reproduced. Original template illustrations retained.</dc:description>
  <cp:lastModifiedBy>Tawhidul Hasan</cp:lastModifiedBy>
  <cp:revision>14</cp:revision>
  <dcterms:created xsi:type="dcterms:W3CDTF">2006-08-16T00:00:00Z</dcterms:created>
  <dcterms:modified xsi:type="dcterms:W3CDTF">2026-09-13T16:13:35Z</dcterms:modified>
  <dc:identifier>DAHVFiKUorI</dc:identifier>
</cp:coreProperties>
</file>